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handoutMasterIdLst>
    <p:handoutMasterId r:id="rId25"/>
  </p:handoutMasterIdLst>
  <p:sldIdLst>
    <p:sldId id="260" r:id="rId2"/>
    <p:sldId id="263" r:id="rId3"/>
    <p:sldId id="264" r:id="rId4"/>
    <p:sldId id="265" r:id="rId5"/>
    <p:sldId id="266" r:id="rId6"/>
    <p:sldId id="270" r:id="rId7"/>
    <p:sldId id="271" r:id="rId8"/>
    <p:sldId id="272" r:id="rId9"/>
    <p:sldId id="273" r:id="rId10"/>
    <p:sldId id="267" r:id="rId11"/>
    <p:sldId id="274" r:id="rId12"/>
    <p:sldId id="275" r:id="rId13"/>
    <p:sldId id="278" r:id="rId14"/>
    <p:sldId id="279" r:id="rId15"/>
    <p:sldId id="280" r:id="rId16"/>
    <p:sldId id="281" r:id="rId17"/>
    <p:sldId id="276" r:id="rId18"/>
    <p:sldId id="277" r:id="rId19"/>
    <p:sldId id="268" r:id="rId20"/>
    <p:sldId id="282" r:id="rId21"/>
    <p:sldId id="269" r:id="rId22"/>
    <p:sldId id="283" r:id="rId23"/>
    <p:sldId id="262" r:id="rId24"/>
  </p:sldIdLst>
  <p:sldSz cx="9144000" cy="5143500" type="screen16x9"/>
  <p:notesSz cx="10021888" cy="688975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24" autoAdjust="0"/>
    <p:restoredTop sz="94674"/>
  </p:normalViewPr>
  <p:slideViewPr>
    <p:cSldViewPr snapToGrid="0" snapToObjects="1">
      <p:cViewPr varScale="1">
        <p:scale>
          <a:sx n="84" d="100"/>
          <a:sy n="84" d="100"/>
        </p:scale>
        <p:origin x="88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28" d="100"/>
          <a:sy n="128" d="100"/>
        </p:scale>
        <p:origin x="2368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F7127C-2A27-6448-90D2-A50DC5168D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3400" cy="3460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B84FDA-BEA8-134C-9E49-B4496CA2B09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76900" y="0"/>
            <a:ext cx="4343400" cy="3460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7A38F3-753D-B542-BAE6-8851A12BE623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B3151F-D4FA-6143-8BA9-52E0826F11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43675"/>
            <a:ext cx="4343400" cy="3460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1DC88D-1EF0-C843-A1CA-006FF6EDCC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76900" y="6543675"/>
            <a:ext cx="4343400" cy="3460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D05EC0-CD0E-4A4B-95A7-8FA57452BE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8484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70F39-98EB-CD28-3442-A75724251A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07864" y="2108565"/>
            <a:ext cx="5586046" cy="4663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lang="en-US" sz="2400" b="1" i="0" dirty="0" smtClean="0">
                <a:solidFill>
                  <a:schemeClr val="bg2">
                    <a:lumMod val="10000"/>
                  </a:schemeClr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Presenter’s Name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A046C0-F2CF-94BE-ECC4-BE84EF40B5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07864" y="2571750"/>
            <a:ext cx="5586046" cy="367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Presenter’s Title</a:t>
            </a:r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8B35A8F-0E11-89A2-8440-424A52AE37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6005" y="217917"/>
            <a:ext cx="1583598" cy="331320"/>
          </a:xfrm>
          <a:prstGeom prst="rect">
            <a:avLst/>
          </a:prstGeom>
        </p:spPr>
      </p:pic>
      <p:pic>
        <p:nvPicPr>
          <p:cNvPr id="5" name="Picture 4" descr="A red and white sign&#10;&#10;Description automatically generated with low confidence">
            <a:extLst>
              <a:ext uri="{FF2B5EF4-FFF2-40B4-BE49-F238E27FC236}">
                <a16:creationId xmlns:a16="http://schemas.microsoft.com/office/drawing/2014/main" id="{5FE2429E-46D3-94C0-CB73-7056A758DE8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6821" y="159010"/>
            <a:ext cx="1671173" cy="455251"/>
          </a:xfrm>
          <a:prstGeom prst="rect">
            <a:avLst/>
          </a:prstGeom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AB5FF9A9-A33E-D86C-6F61-34B9AC68A2C8}"/>
              </a:ext>
            </a:extLst>
          </p:cNvPr>
          <p:cNvSpPr/>
          <p:nvPr userDrawn="1"/>
        </p:nvSpPr>
        <p:spPr>
          <a:xfrm rot="16200000" flipV="1">
            <a:off x="-718812" y="2168525"/>
            <a:ext cx="2244068" cy="806451"/>
          </a:xfrm>
          <a:prstGeom prst="triangle">
            <a:avLst>
              <a:gd name="adj" fmla="val 51446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5E82A2D7-2917-9CB2-FD76-1551728FD3ED}"/>
              </a:ext>
            </a:extLst>
          </p:cNvPr>
          <p:cNvSpPr/>
          <p:nvPr userDrawn="1"/>
        </p:nvSpPr>
        <p:spPr>
          <a:xfrm rot="16200000" flipV="1">
            <a:off x="-590807" y="2240332"/>
            <a:ext cx="1844446" cy="662837"/>
          </a:xfrm>
          <a:prstGeom prst="triangle">
            <a:avLst>
              <a:gd name="adj" fmla="val 51446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737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43BF89A-CFD2-9A3E-BCD1-0EB56B74E5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07864" y="2199098"/>
            <a:ext cx="4728308" cy="64931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400" b="1">
                <a:solidFill>
                  <a:schemeClr val="bg2">
                    <a:lumMod val="1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Title Here</a:t>
            </a: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2A7E101-79AE-A761-7815-8F7BBEF686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6005" y="217917"/>
            <a:ext cx="1583598" cy="331320"/>
          </a:xfrm>
          <a:prstGeom prst="rect">
            <a:avLst/>
          </a:prstGeom>
        </p:spPr>
      </p:pic>
      <p:pic>
        <p:nvPicPr>
          <p:cNvPr id="8" name="Picture 7" descr="A red and white sign&#10;&#10;Description automatically generated with low confidence">
            <a:extLst>
              <a:ext uri="{FF2B5EF4-FFF2-40B4-BE49-F238E27FC236}">
                <a16:creationId xmlns:a16="http://schemas.microsoft.com/office/drawing/2014/main" id="{507CDEEA-CC7A-6614-0058-16E01AFEBB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6821" y="159010"/>
            <a:ext cx="1671173" cy="455251"/>
          </a:xfrm>
          <a:prstGeom prst="rect">
            <a:avLst/>
          </a:prstGeom>
        </p:spPr>
      </p:pic>
      <p:sp>
        <p:nvSpPr>
          <p:cNvPr id="15" name="Triangle 14">
            <a:extLst>
              <a:ext uri="{FF2B5EF4-FFF2-40B4-BE49-F238E27FC236}">
                <a16:creationId xmlns:a16="http://schemas.microsoft.com/office/drawing/2014/main" id="{1D8166D5-4184-4297-1962-FB4401DD9BD9}"/>
              </a:ext>
            </a:extLst>
          </p:cNvPr>
          <p:cNvSpPr/>
          <p:nvPr userDrawn="1"/>
        </p:nvSpPr>
        <p:spPr>
          <a:xfrm rot="16200000" flipV="1">
            <a:off x="-718812" y="2168525"/>
            <a:ext cx="2244068" cy="806451"/>
          </a:xfrm>
          <a:prstGeom prst="triangle">
            <a:avLst>
              <a:gd name="adj" fmla="val 51446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4739B1D8-36C8-073E-9BA1-0B9F16385A72}"/>
              </a:ext>
            </a:extLst>
          </p:cNvPr>
          <p:cNvSpPr/>
          <p:nvPr userDrawn="1"/>
        </p:nvSpPr>
        <p:spPr>
          <a:xfrm rot="16200000" flipV="1">
            <a:off x="-590807" y="2240332"/>
            <a:ext cx="1844446" cy="662837"/>
          </a:xfrm>
          <a:prstGeom prst="triangle">
            <a:avLst>
              <a:gd name="adj" fmla="val 51446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573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8194431" y="4827151"/>
            <a:ext cx="784799" cy="27384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fld id="{C8EB3119-3BB2-5640-A3A8-BB555D041172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AB64F9-AB0D-6D30-17CC-FE6510B1FAFA}"/>
              </a:ext>
            </a:extLst>
          </p:cNvPr>
          <p:cNvSpPr/>
          <p:nvPr userDrawn="1"/>
        </p:nvSpPr>
        <p:spPr>
          <a:xfrm>
            <a:off x="0" y="104336"/>
            <a:ext cx="188912" cy="6858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ticSans-201Book"/>
            </a:endParaRPr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EE816B7-942F-3F68-4D5F-F3D9A63D5A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912" y="4786016"/>
            <a:ext cx="991292" cy="207398"/>
          </a:xfrm>
          <a:prstGeom prst="rect">
            <a:avLst/>
          </a:prstGeom>
        </p:spPr>
      </p:pic>
      <p:pic>
        <p:nvPicPr>
          <p:cNvPr id="9" name="Picture 8" descr="A red and white sign&#10;&#10;Description automatically generated with low confidence">
            <a:extLst>
              <a:ext uri="{FF2B5EF4-FFF2-40B4-BE49-F238E27FC236}">
                <a16:creationId xmlns:a16="http://schemas.microsoft.com/office/drawing/2014/main" id="{70DE3CE8-2284-7985-7BC5-42C6C84926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56220" y="159011"/>
            <a:ext cx="1051774" cy="286518"/>
          </a:xfrm>
          <a:prstGeom prst="rect">
            <a:avLst/>
          </a:prstGeom>
        </p:spPr>
      </p:pic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AE57EC66-8C55-BC85-9399-153B12461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912" y="104336"/>
            <a:ext cx="7452353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BBEF5AF-CC26-68FD-EE8F-D74085DF7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912" y="945327"/>
            <a:ext cx="8662011" cy="4093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3810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8194431" y="4827151"/>
            <a:ext cx="784799" cy="27384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fld id="{C8EB3119-3BB2-5640-A3A8-BB555D041172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AB64F9-AB0D-6D30-17CC-FE6510B1FAFA}"/>
              </a:ext>
            </a:extLst>
          </p:cNvPr>
          <p:cNvSpPr/>
          <p:nvPr userDrawn="1"/>
        </p:nvSpPr>
        <p:spPr>
          <a:xfrm>
            <a:off x="0" y="104336"/>
            <a:ext cx="188912" cy="6858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ticSans-201Book"/>
            </a:endParaRPr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EE816B7-942F-3F68-4D5F-F3D9A63D5A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912" y="4786016"/>
            <a:ext cx="991292" cy="207398"/>
          </a:xfrm>
          <a:prstGeom prst="rect">
            <a:avLst/>
          </a:prstGeom>
        </p:spPr>
      </p:pic>
      <p:pic>
        <p:nvPicPr>
          <p:cNvPr id="9" name="Picture 8" descr="A red and white sign&#10;&#10;Description automatically generated with low confidence">
            <a:extLst>
              <a:ext uri="{FF2B5EF4-FFF2-40B4-BE49-F238E27FC236}">
                <a16:creationId xmlns:a16="http://schemas.microsoft.com/office/drawing/2014/main" id="{70DE3CE8-2284-7985-7BC5-42C6C84926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56220" y="159011"/>
            <a:ext cx="1051774" cy="286518"/>
          </a:xfrm>
          <a:prstGeom prst="rect">
            <a:avLst/>
          </a:prstGeom>
        </p:spPr>
      </p:pic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AE57EC66-8C55-BC85-9399-153B12461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912" y="104336"/>
            <a:ext cx="7452353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BBEF5AF-CC26-68FD-EE8F-D74085DF7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912" y="945327"/>
            <a:ext cx="8662011" cy="4093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9236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8194431" y="4827151"/>
            <a:ext cx="784799" cy="27384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fld id="{C8EB3119-3BB2-5640-A3A8-BB555D041172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AB64F9-AB0D-6D30-17CC-FE6510B1FAFA}"/>
              </a:ext>
            </a:extLst>
          </p:cNvPr>
          <p:cNvSpPr/>
          <p:nvPr userDrawn="1"/>
        </p:nvSpPr>
        <p:spPr>
          <a:xfrm>
            <a:off x="0" y="104336"/>
            <a:ext cx="188912" cy="6858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ticSans-201Book"/>
            </a:endParaRPr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EE816B7-942F-3F68-4D5F-F3D9A63D5A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912" y="4786016"/>
            <a:ext cx="991292" cy="207398"/>
          </a:xfrm>
          <a:prstGeom prst="rect">
            <a:avLst/>
          </a:prstGeom>
        </p:spPr>
      </p:pic>
      <p:pic>
        <p:nvPicPr>
          <p:cNvPr id="9" name="Picture 8" descr="A red and white sign&#10;&#10;Description automatically generated with low confidence">
            <a:extLst>
              <a:ext uri="{FF2B5EF4-FFF2-40B4-BE49-F238E27FC236}">
                <a16:creationId xmlns:a16="http://schemas.microsoft.com/office/drawing/2014/main" id="{70DE3CE8-2284-7985-7BC5-42C6C84926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56220" y="159011"/>
            <a:ext cx="1051774" cy="286518"/>
          </a:xfrm>
          <a:prstGeom prst="rect">
            <a:avLst/>
          </a:prstGeom>
        </p:spPr>
      </p:pic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AE57EC66-8C55-BC85-9399-153B12461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912" y="104336"/>
            <a:ext cx="7452353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5414E-82DA-EBB8-A8ED-BCD206A92A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8912" y="928077"/>
            <a:ext cx="4306888" cy="33940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3BBD6E-1C08-8418-3DD0-247F93ED3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928077"/>
            <a:ext cx="4202722" cy="33940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79FC96-E5D5-3E47-5CEA-50B2722B40F3}"/>
              </a:ext>
            </a:extLst>
          </p:cNvPr>
          <p:cNvSpPr txBox="1"/>
          <p:nvPr userDrawn="1"/>
        </p:nvSpPr>
        <p:spPr>
          <a:xfrm>
            <a:off x="8187765" y="-7769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23340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8194431" y="4827151"/>
            <a:ext cx="784799" cy="27384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fld id="{C8EB3119-3BB2-5640-A3A8-BB555D041172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AB64F9-AB0D-6D30-17CC-FE6510B1FAFA}"/>
              </a:ext>
            </a:extLst>
          </p:cNvPr>
          <p:cNvSpPr/>
          <p:nvPr userDrawn="1"/>
        </p:nvSpPr>
        <p:spPr>
          <a:xfrm>
            <a:off x="0" y="104336"/>
            <a:ext cx="188912" cy="6858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ticSans-201Book"/>
            </a:endParaRPr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EE816B7-942F-3F68-4D5F-F3D9A63D5A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912" y="4786016"/>
            <a:ext cx="991292" cy="207398"/>
          </a:xfrm>
          <a:prstGeom prst="rect">
            <a:avLst/>
          </a:prstGeom>
        </p:spPr>
      </p:pic>
      <p:pic>
        <p:nvPicPr>
          <p:cNvPr id="9" name="Picture 8" descr="A red and white sign&#10;&#10;Description automatically generated with low confidence">
            <a:extLst>
              <a:ext uri="{FF2B5EF4-FFF2-40B4-BE49-F238E27FC236}">
                <a16:creationId xmlns:a16="http://schemas.microsoft.com/office/drawing/2014/main" id="{70DE3CE8-2284-7985-7BC5-42C6C84926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56220" y="159011"/>
            <a:ext cx="1051774" cy="286518"/>
          </a:xfrm>
          <a:prstGeom prst="rect">
            <a:avLst/>
          </a:prstGeom>
        </p:spPr>
      </p:pic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AE57EC66-8C55-BC85-9399-153B12461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912" y="104336"/>
            <a:ext cx="7452353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79FC96-E5D5-3E47-5CEA-50B2722B40F3}"/>
              </a:ext>
            </a:extLst>
          </p:cNvPr>
          <p:cNvSpPr txBox="1"/>
          <p:nvPr userDrawn="1"/>
        </p:nvSpPr>
        <p:spPr>
          <a:xfrm>
            <a:off x="8187765" y="-7769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en-US" sz="1400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CDB7F25-BD51-E680-26BC-0477C8590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8912" y="928077"/>
            <a:ext cx="4308476" cy="4810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CD849B32-244E-DD23-6557-1D763B7FB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8912" y="1418858"/>
            <a:ext cx="4308476" cy="2962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9CDB82BA-43B5-06F6-1B24-18A7824ED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5025" y="928077"/>
            <a:ext cx="4205897" cy="4810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24D22EE8-186E-99A0-C519-477EF14C84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5025" y="1418858"/>
            <a:ext cx="4205897" cy="2962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0601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3"/>
          </p:nvPr>
        </p:nvSpPr>
        <p:spPr>
          <a:xfrm>
            <a:off x="8194431" y="4827151"/>
            <a:ext cx="784799" cy="27384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fld id="{C8EB3119-3BB2-5640-A3A8-BB555D041172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AB64F9-AB0D-6D30-17CC-FE6510B1FAFA}"/>
              </a:ext>
            </a:extLst>
          </p:cNvPr>
          <p:cNvSpPr/>
          <p:nvPr userDrawn="1"/>
        </p:nvSpPr>
        <p:spPr>
          <a:xfrm>
            <a:off x="0" y="104336"/>
            <a:ext cx="188912" cy="685800"/>
          </a:xfrm>
          <a:prstGeom prst="rect">
            <a:avLst/>
          </a:prstGeom>
          <a:solidFill>
            <a:srgbClr val="CF0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OpticSans-201Book"/>
            </a:endParaRPr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EE816B7-942F-3F68-4D5F-F3D9A63D5A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912" y="4786016"/>
            <a:ext cx="991292" cy="207398"/>
          </a:xfrm>
          <a:prstGeom prst="rect">
            <a:avLst/>
          </a:prstGeom>
        </p:spPr>
      </p:pic>
      <p:pic>
        <p:nvPicPr>
          <p:cNvPr id="9" name="Picture 8" descr="A red and white sign&#10;&#10;Description automatically generated with low confidence">
            <a:extLst>
              <a:ext uri="{FF2B5EF4-FFF2-40B4-BE49-F238E27FC236}">
                <a16:creationId xmlns:a16="http://schemas.microsoft.com/office/drawing/2014/main" id="{70DE3CE8-2284-7985-7BC5-42C6C84926F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56220" y="159011"/>
            <a:ext cx="1051774" cy="286518"/>
          </a:xfrm>
          <a:prstGeom prst="rect">
            <a:avLst/>
          </a:prstGeom>
        </p:spPr>
      </p:pic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AE57EC66-8C55-BC85-9399-153B12461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912" y="104336"/>
            <a:ext cx="7452353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79FC96-E5D5-3E47-5CEA-50B2722B40F3}"/>
              </a:ext>
            </a:extLst>
          </p:cNvPr>
          <p:cNvSpPr txBox="1"/>
          <p:nvPr userDrawn="1"/>
        </p:nvSpPr>
        <p:spPr>
          <a:xfrm>
            <a:off x="8187765" y="-7769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00334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8550F1-2FDA-A4EA-B952-87BEE620EDEF}"/>
              </a:ext>
            </a:extLst>
          </p:cNvPr>
          <p:cNvSpPr txBox="1"/>
          <p:nvPr userDrawn="1"/>
        </p:nvSpPr>
        <p:spPr>
          <a:xfrm>
            <a:off x="39758" y="4889715"/>
            <a:ext cx="35896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b="0" i="0" dirty="0">
                <a:solidFill>
                  <a:schemeClr val="bg2">
                    <a:lumMod val="10000"/>
                  </a:schemeClr>
                </a:solidFill>
                <a:latin typeface="Arial"/>
                <a:cs typeface="Arial"/>
              </a:rPr>
              <a:t>© 2023 Canon U.S.A., Inc. All rights reserved.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D045B80-7DC6-864F-C89C-A7BF95C3C375}"/>
              </a:ext>
            </a:extLst>
          </p:cNvPr>
          <p:cNvSpPr txBox="1">
            <a:spLocks/>
          </p:cNvSpPr>
          <p:nvPr userDrawn="1"/>
        </p:nvSpPr>
        <p:spPr>
          <a:xfrm>
            <a:off x="1731880" y="2246482"/>
            <a:ext cx="5680240" cy="650535"/>
          </a:xfrm>
          <a:prstGeom prst="rect">
            <a:avLst/>
          </a:prstGeom>
        </p:spPr>
        <p:txBody>
          <a:bodyPr anchor="ctr"/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i="0" kern="1200" baseline="0">
                <a:solidFill>
                  <a:schemeClr val="bg1"/>
                </a:solidFill>
                <a:latin typeface="Helvetica"/>
                <a:ea typeface="+mj-ea"/>
                <a:cs typeface="Helvetica"/>
              </a:defRPr>
            </a:lvl1pPr>
          </a:lstStyle>
          <a:p>
            <a:pPr algn="ctr"/>
            <a:r>
              <a:rPr lang="en-US" sz="6000" b="0" i="0" dirty="0">
                <a:solidFill>
                  <a:srgbClr val="C00000"/>
                </a:solidFill>
                <a:latin typeface="Arial"/>
                <a:cs typeface="Arial"/>
              </a:rPr>
              <a:t>THANK</a:t>
            </a:r>
            <a:r>
              <a:rPr lang="en-US" sz="6000" b="1" i="0" dirty="0">
                <a:solidFill>
                  <a:srgbClr val="C00000"/>
                </a:solidFill>
                <a:latin typeface="Arial"/>
                <a:cs typeface="Arial"/>
              </a:rPr>
              <a:t> YOU!</a:t>
            </a:r>
          </a:p>
        </p:txBody>
      </p:sp>
      <p:pic>
        <p:nvPicPr>
          <p:cNvPr id="4" name="Picture 3" descr="A red and white sign&#10;&#10;Description automatically generated with low confidence">
            <a:extLst>
              <a:ext uri="{FF2B5EF4-FFF2-40B4-BE49-F238E27FC236}">
                <a16:creationId xmlns:a16="http://schemas.microsoft.com/office/drawing/2014/main" id="{FD4AF574-CE73-CD90-D77D-1300653CB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6821" y="159010"/>
            <a:ext cx="1671173" cy="455251"/>
          </a:xfrm>
          <a:prstGeom prst="rect">
            <a:avLst/>
          </a:prstGeom>
        </p:spPr>
      </p:pic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7278C12-7C61-A6EB-FE26-A75E2CE69DE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6005" y="217917"/>
            <a:ext cx="1583598" cy="33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021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48" name="Rectangle 224" hidden="1"/>
          <p:cNvGraphicFramePr>
            <a:graphicFrameLocks/>
          </p:cNvGraphicFramePr>
          <p:nvPr>
            <p:custDataLst>
              <p:tags r:id="rId10"/>
            </p:custDataLst>
          </p:nvPr>
        </p:nvGraphicFramePr>
        <p:xfrm>
          <a:off x="2" y="1"/>
          <a:ext cx="158751" cy="11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0" imgH="0" progId="">
                  <p:embed/>
                </p:oleObj>
              </mc:Choice>
              <mc:Fallback>
                <p:oleObj name="think-cell Slide" r:id="rId11" imgW="0" imgH="0" progId="">
                  <p:embed/>
                  <p:pic>
                    <p:nvPicPr>
                      <p:cNvPr id="1248" name="Rectangle 224" hidden="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1"/>
                        <a:ext cx="158751" cy="119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D6125AB2-9604-7F44-AF3B-F213817FD747}"/>
              </a:ext>
            </a:extLst>
          </p:cNvPr>
          <p:cNvSpPr txBox="1"/>
          <p:nvPr userDrawn="1"/>
        </p:nvSpPr>
        <p:spPr>
          <a:xfrm>
            <a:off x="10551695" y="4355432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en-US" sz="105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0D9BF5-25C3-7C06-678F-93AAC9AE0F24}"/>
              </a:ext>
            </a:extLst>
          </p:cNvPr>
          <p:cNvSpPr/>
          <p:nvPr userDrawn="1"/>
        </p:nvSpPr>
        <p:spPr>
          <a:xfrm>
            <a:off x="3704095" y="4889715"/>
            <a:ext cx="1735810" cy="25378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519402E2-626C-3E98-CCE5-4235FE574ADC}"/>
              </a:ext>
            </a:extLst>
          </p:cNvPr>
          <p:cNvSpPr txBox="1"/>
          <p:nvPr userDrawn="1"/>
        </p:nvSpPr>
        <p:spPr>
          <a:xfrm>
            <a:off x="3788840" y="4881890"/>
            <a:ext cx="15764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 dirty="0">
                <a:solidFill>
                  <a:schemeClr val="bg1"/>
                </a:solidFill>
              </a:rPr>
              <a:t>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4961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00" r:id="rId3"/>
    <p:sldLayoutId id="2147483825" r:id="rId4"/>
    <p:sldLayoutId id="2147483826" r:id="rId5"/>
    <p:sldLayoutId id="2147483827" r:id="rId6"/>
    <p:sldLayoutId id="2147483828" r:id="rId7"/>
    <p:sldLayoutId id="2147483829" r:id="rId8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>
          <a:solidFill>
            <a:schemeClr val="bg2">
              <a:lumMod val="10000"/>
            </a:schemeClr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 Unicode MS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 Unicode MS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 Unicode MS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 Unicode MS" pitchFamily="34" charset="-128"/>
        </a:defRPr>
      </a:lvl5pPr>
      <a:lvl6pPr marL="192877" algn="l" rtl="0" eaLnBrk="1" fontAlgn="base" hangingPunct="1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 Unicode MS" pitchFamily="34" charset="-128"/>
        </a:defRPr>
      </a:lvl6pPr>
      <a:lvl7pPr marL="385753" algn="l" rtl="0" eaLnBrk="1" fontAlgn="base" hangingPunct="1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 Unicode MS" pitchFamily="34" charset="-128"/>
        </a:defRPr>
      </a:lvl7pPr>
      <a:lvl8pPr marL="578630" algn="l" rtl="0" eaLnBrk="1" fontAlgn="base" hangingPunct="1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 Unicode MS" pitchFamily="34" charset="-128"/>
        </a:defRPr>
      </a:lvl8pPr>
      <a:lvl9pPr marL="771506" algn="l" rtl="0" eaLnBrk="1" fontAlgn="base" hangingPunct="1">
        <a:spcBef>
          <a:spcPct val="0"/>
        </a:spcBef>
        <a:spcAft>
          <a:spcPct val="0"/>
        </a:spcAft>
        <a:defRPr>
          <a:solidFill>
            <a:schemeClr val="accent1"/>
          </a:solidFill>
          <a:latin typeface="Arial" charset="0"/>
          <a:ea typeface="Arial Unicode MS" pitchFamily="34" charset="-128"/>
          <a:cs typeface="Arial Unicode MS" pitchFamily="34" charset="-128"/>
        </a:defRPr>
      </a:lvl9pPr>
    </p:titleStyle>
    <p:bodyStyle>
      <a:lvl1pPr marL="214313" indent="-214313" algn="l" rtl="0" eaLnBrk="1" fontAlgn="base" hangingPunct="1">
        <a:spcBef>
          <a:spcPct val="30000"/>
        </a:spcBef>
        <a:spcAft>
          <a:spcPct val="10000"/>
        </a:spcAft>
        <a:buClrTx/>
        <a:buFont typeface="Arial" panose="020B0604020202020204" pitchFamily="34" charset="0"/>
        <a:buChar char="•"/>
        <a:defRPr sz="135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1pPr>
      <a:lvl2pPr marL="309412" indent="-214313" algn="l" rtl="0" eaLnBrk="1" fontAlgn="base" hangingPunct="1">
        <a:spcBef>
          <a:spcPts val="182"/>
        </a:spcBef>
        <a:spcAft>
          <a:spcPct val="10000"/>
        </a:spcAft>
        <a:buClrTx/>
        <a:buFont typeface="Arial" panose="020B0604020202020204" pitchFamily="34" charset="0"/>
        <a:buChar char="•"/>
        <a:defRPr sz="12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2pPr>
      <a:lvl3pPr marL="409868" indent="-214313" algn="l" rtl="0" eaLnBrk="1" fontAlgn="base" hangingPunct="1">
        <a:spcBef>
          <a:spcPct val="30000"/>
        </a:spcBef>
        <a:spcAft>
          <a:spcPct val="10000"/>
        </a:spcAft>
        <a:buClrTx/>
        <a:buFont typeface="Arial" panose="020B0604020202020204" pitchFamily="34" charset="0"/>
        <a:buChar char="•"/>
        <a:defRPr sz="105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3pPr>
      <a:lvl4pPr marL="419242" indent="-128588" algn="l" rtl="0" eaLnBrk="1" fontAlgn="base" hangingPunct="1">
        <a:spcBef>
          <a:spcPct val="30000"/>
        </a:spcBef>
        <a:spcAft>
          <a:spcPct val="10000"/>
        </a:spcAft>
        <a:buClrTx/>
        <a:buFont typeface="Arial" panose="020B0604020202020204" pitchFamily="34" charset="0"/>
        <a:buChar char="•"/>
        <a:defRPr sz="900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4pPr>
      <a:lvl5pPr marL="513002" indent="-128588" algn="l" rtl="0" eaLnBrk="1" fontAlgn="base" hangingPunct="1">
        <a:spcBef>
          <a:spcPct val="30000"/>
        </a:spcBef>
        <a:spcAft>
          <a:spcPct val="10000"/>
        </a:spcAft>
        <a:buClrTx/>
        <a:buFont typeface="Arial" panose="020B0604020202020204" pitchFamily="34" charset="0"/>
        <a:buChar char="•"/>
        <a:defRPr sz="825">
          <a:solidFill>
            <a:schemeClr val="bg2">
              <a:lumMod val="10000"/>
            </a:schemeClr>
          </a:solidFill>
          <a:latin typeface="+mn-lt"/>
          <a:ea typeface="+mn-ea"/>
          <a:cs typeface="+mn-cs"/>
        </a:defRPr>
      </a:lvl5pPr>
      <a:lvl6pPr marL="845844" indent="-72999" algn="l" rtl="0" eaLnBrk="1" fontAlgn="base" hangingPunct="1">
        <a:spcBef>
          <a:spcPct val="30000"/>
        </a:spcBef>
        <a:spcAft>
          <a:spcPct val="10000"/>
        </a:spcAft>
        <a:buClr>
          <a:schemeClr val="tx1"/>
        </a:buClr>
        <a:buFont typeface="Times" pitchFamily="26" charset="0"/>
        <a:buChar char="•"/>
        <a:defRPr sz="506">
          <a:solidFill>
            <a:schemeClr val="tx1"/>
          </a:solidFill>
          <a:latin typeface="+mn-lt"/>
          <a:ea typeface="+mn-ea"/>
          <a:cs typeface="+mn-cs"/>
        </a:defRPr>
      </a:lvl6pPr>
      <a:lvl7pPr marL="1038721" indent="-72999" algn="l" rtl="0" eaLnBrk="1" fontAlgn="base" hangingPunct="1">
        <a:spcBef>
          <a:spcPct val="30000"/>
        </a:spcBef>
        <a:spcAft>
          <a:spcPct val="10000"/>
        </a:spcAft>
        <a:buClr>
          <a:schemeClr val="tx1"/>
        </a:buClr>
        <a:buFont typeface="Times" pitchFamily="26" charset="0"/>
        <a:buChar char="•"/>
        <a:defRPr sz="506">
          <a:solidFill>
            <a:schemeClr val="tx1"/>
          </a:solidFill>
          <a:latin typeface="+mn-lt"/>
          <a:ea typeface="+mn-ea"/>
          <a:cs typeface="+mn-cs"/>
        </a:defRPr>
      </a:lvl7pPr>
      <a:lvl8pPr marL="1231597" indent="-72999" algn="l" rtl="0" eaLnBrk="1" fontAlgn="base" hangingPunct="1">
        <a:spcBef>
          <a:spcPct val="30000"/>
        </a:spcBef>
        <a:spcAft>
          <a:spcPct val="10000"/>
        </a:spcAft>
        <a:buClr>
          <a:schemeClr val="tx1"/>
        </a:buClr>
        <a:buFont typeface="Times" pitchFamily="26" charset="0"/>
        <a:buChar char="•"/>
        <a:defRPr sz="506">
          <a:solidFill>
            <a:schemeClr val="tx1"/>
          </a:solidFill>
          <a:latin typeface="+mn-lt"/>
          <a:ea typeface="+mn-ea"/>
          <a:cs typeface="+mn-cs"/>
        </a:defRPr>
      </a:lvl8pPr>
      <a:lvl9pPr marL="1424474" indent="-72999" algn="l" rtl="0" eaLnBrk="1" fontAlgn="base" hangingPunct="1">
        <a:spcBef>
          <a:spcPct val="30000"/>
        </a:spcBef>
        <a:spcAft>
          <a:spcPct val="10000"/>
        </a:spcAft>
        <a:buClr>
          <a:schemeClr val="tx1"/>
        </a:buClr>
        <a:buFont typeface="Times" pitchFamily="26" charset="0"/>
        <a:buChar char="•"/>
        <a:defRPr sz="506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575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77" algn="l" defTabSz="38575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53" algn="l" defTabSz="38575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30" algn="l" defTabSz="38575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06" algn="l" defTabSz="38575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382" algn="l" defTabSz="38575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58" algn="l" defTabSz="38575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35" algn="l" defTabSz="38575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12" algn="l" defTabSz="38575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finprd.cusa.canon.com:8040/OA_HTML/RF.jsp?function_id=28636&amp;resp_id=-1&amp;resp_appl_id=-1&amp;security_group_id=0&amp;lang_code=ESA&amp;oas=MkzrvcazlUzoQdH0D8r5xA..&amp;params=X2UQpEe8ifBXd4zHGqnaQw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finprd.cusa.canon.com:8040/OA_HTML/RF.jsp?function_id=28636&amp;resp_id=-1&amp;resp_appl_id=-1&amp;security_group_id=0&amp;lang_code=ESA&amp;oas=MkzrvcazlUzoQdH0D8r5xA..&amp;params=X2UQpEe8ifBXd4zHGqnaQw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finprd.cusa.canon.com:8040/OA_HTML/RF.jsp?function_id=28636&amp;resp_id=-1&amp;resp_appl_id=-1&amp;security_group_id=0&amp;lang_code=ESA&amp;oas=MkzrvcazlUzoQdH0D8r5xA..&amp;params=X2UQpEe8ifBXd4zHGqnaQw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5" Type="http://schemas.openxmlformats.org/officeDocument/2006/relationships/hyperlink" Target="http://finprd.cusa.canon.com:8040/OA_HTML/RF.jsp?function_id=28636&amp;resp_id=-1&amp;resp_appl_id=-1&amp;security_group_id=0&amp;lang_code=ESA&amp;oas=MkzrvcazlUzoQdH0D8r5xA..&amp;params=X2UQpEe8ifBXd4zHGqnaQw" TargetMode="Externa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finprd.cusa.canon.com:8040/OA_HTML/RF.jsp?function_id=28636&amp;resp_id=-1&amp;resp_appl_id=-1&amp;security_group_id=0&amp;lang_code=ESA&amp;oas=MkzrvcazlUzoQdH0D8r5xA..&amp;params=X2UQpEe8ifBXd4zHGqnaQw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D4144-8B31-DBD3-E5DC-5F142DF4BA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Manual </a:t>
            </a:r>
            <a:r>
              <a:rPr lang="en-US" dirty="0" err="1"/>
              <a:t>Requisiciones</a:t>
            </a:r>
            <a:r>
              <a:rPr lang="en-US" dirty="0"/>
              <a:t> de </a:t>
            </a:r>
            <a:r>
              <a:rPr lang="en-US" dirty="0" err="1"/>
              <a:t>Compras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6C12EA-1C09-D6CA-4177-912D1365A1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Procurement – Ene-2024</a:t>
            </a:r>
          </a:p>
        </p:txBody>
      </p:sp>
    </p:spTree>
    <p:extLst>
      <p:ext uri="{BB962C8B-B14F-4D97-AF65-F5344CB8AC3E}">
        <p14:creationId xmlns:p14="http://schemas.microsoft.com/office/powerpoint/2010/main" val="3654293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42E76-91CE-3CFD-874B-DE18F0BCA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7864" y="2199098"/>
            <a:ext cx="7504616" cy="64931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Sección</a:t>
            </a:r>
            <a:r>
              <a:rPr lang="en-US" dirty="0"/>
              <a:t> 1 – </a:t>
            </a:r>
            <a:r>
              <a:rPr lang="en-US" dirty="0" err="1"/>
              <a:t>Proceso</a:t>
            </a:r>
            <a:r>
              <a:rPr lang="en-US" dirty="0"/>
              <a:t> de </a:t>
            </a:r>
            <a:r>
              <a:rPr lang="en-US" dirty="0" err="1"/>
              <a:t>Elaboración</a:t>
            </a:r>
            <a:r>
              <a:rPr lang="en-US" dirty="0"/>
              <a:t> de </a:t>
            </a:r>
            <a:r>
              <a:rPr lang="en-US" dirty="0" err="1"/>
              <a:t>Requisiciones</a:t>
            </a:r>
            <a:r>
              <a:rPr lang="en-US" dirty="0"/>
              <a:t> de </a:t>
            </a:r>
            <a:r>
              <a:rPr lang="en-US" dirty="0" err="1"/>
              <a:t>Compras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ARCS/Oracle</a:t>
            </a:r>
          </a:p>
        </p:txBody>
      </p:sp>
    </p:spTree>
    <p:extLst>
      <p:ext uri="{BB962C8B-B14F-4D97-AF65-F5344CB8AC3E}">
        <p14:creationId xmlns:p14="http://schemas.microsoft.com/office/powerpoint/2010/main" val="3247995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A23DB-321D-F741-052F-025966D388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8EB3119-3BB2-5640-A3A8-BB555D04117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3C7A5F-4CE2-C289-DC2A-7FD2FBC22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Requisiciones</a:t>
            </a:r>
            <a:r>
              <a:rPr lang="en-US" dirty="0"/>
              <a:t> de </a:t>
            </a:r>
            <a:r>
              <a:rPr lang="en-US" dirty="0" err="1"/>
              <a:t>Compras</a:t>
            </a:r>
            <a:endParaRPr lang="en-US" dirty="0"/>
          </a:p>
        </p:txBody>
      </p:sp>
      <p:sp>
        <p:nvSpPr>
          <p:cNvPr id="5" name="Subtitle 7">
            <a:extLst>
              <a:ext uri="{FF2B5EF4-FFF2-40B4-BE49-F238E27FC236}">
                <a16:creationId xmlns:a16="http://schemas.microsoft.com/office/drawing/2014/main" id="{5341ACA6-61C0-8B98-9334-04DEA6B42559}"/>
              </a:ext>
            </a:extLst>
          </p:cNvPr>
          <p:cNvSpPr txBox="1">
            <a:spLocks/>
          </p:cNvSpPr>
          <p:nvPr/>
        </p:nvSpPr>
        <p:spPr>
          <a:xfrm>
            <a:off x="346454" y="798399"/>
            <a:ext cx="8360818" cy="685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spcBef>
                <a:spcPct val="20000"/>
              </a:spcBef>
            </a:pPr>
            <a:r>
              <a:rPr lang="es-MX" sz="1600" b="1" dirty="0"/>
              <a:t>Liga de acceso a Oracle</a:t>
            </a:r>
            <a:endParaRPr lang="es-MX" sz="1600" dirty="0"/>
          </a:p>
          <a:p>
            <a:pPr marL="342900" lvl="0" indent="-342900" algn="just" defTabSz="457200">
              <a:spcBef>
                <a:spcPct val="20000"/>
              </a:spcBef>
            </a:pPr>
            <a:r>
              <a:rPr lang="es-MX" sz="1400" dirty="0">
                <a:solidFill>
                  <a:prstClr val="black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http://finprd.cusa.canon.com:8040/OA_HTML/</a:t>
            </a:r>
            <a:r>
              <a:rPr lang="es-MX" sz="1400" dirty="0" err="1">
                <a:solidFill>
                  <a:prstClr val="black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RF.jsp?function_id</a:t>
            </a:r>
            <a:r>
              <a:rPr lang="es-MX" sz="1400" dirty="0">
                <a:solidFill>
                  <a:prstClr val="black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=28636&amp;resp_id=-1&amp;resp_appl_id=-1&amp;security_group_id=0&amp;lang_code=</a:t>
            </a:r>
            <a:r>
              <a:rPr lang="es-MX" sz="1400" dirty="0" err="1">
                <a:solidFill>
                  <a:prstClr val="black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ESA&amp;oas</a:t>
            </a:r>
            <a:r>
              <a:rPr lang="es-MX" sz="1400" dirty="0">
                <a:solidFill>
                  <a:prstClr val="black"/>
                </a:solidFill>
                <a:latin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=MkzrvcazlUzoQdH0D8r5xA..&amp;params=X2UQpEe8ifBXd4zHGqnaQw</a:t>
            </a:r>
            <a:endParaRPr lang="es-MX" sz="1400" dirty="0">
              <a:hlinkClick r:id="rId2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8F82044-1EAA-1B29-0C5C-2E98CA651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748386"/>
            <a:ext cx="8360818" cy="2814578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0DCCEB1-27CF-CB9E-64DF-F7D96341A5D3}"/>
              </a:ext>
            </a:extLst>
          </p:cNvPr>
          <p:cNvSpPr txBox="1"/>
          <p:nvPr/>
        </p:nvSpPr>
        <p:spPr>
          <a:xfrm>
            <a:off x="5935980" y="2571750"/>
            <a:ext cx="3154680" cy="8267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s-MX" sz="1100" b="1" dirty="0">
                <a:solidFill>
                  <a:srgbClr val="0070C0"/>
                </a:solidFill>
              </a:rPr>
              <a:t>Capturar </a:t>
            </a:r>
          </a:p>
          <a:p>
            <a:r>
              <a:rPr lang="es-ES" sz="1100" b="1" dirty="0">
                <a:solidFill>
                  <a:srgbClr val="0070C0"/>
                </a:solidFill>
              </a:rPr>
              <a:t>Nombre de Usuario: </a:t>
            </a:r>
          </a:p>
          <a:p>
            <a:r>
              <a:rPr lang="es-ES" sz="1100" b="1" dirty="0">
                <a:solidFill>
                  <a:srgbClr val="0070C0"/>
                </a:solidFill>
              </a:rPr>
              <a:t>Compuesto por J + 0 + </a:t>
            </a:r>
            <a:r>
              <a:rPr lang="es-ES" sz="1100" b="1" dirty="0" err="1">
                <a:solidFill>
                  <a:srgbClr val="0070C0"/>
                </a:solidFill>
              </a:rPr>
              <a:t>N°</a:t>
            </a:r>
            <a:r>
              <a:rPr lang="es-ES" sz="1100" b="1" dirty="0">
                <a:solidFill>
                  <a:srgbClr val="0070C0"/>
                </a:solidFill>
              </a:rPr>
              <a:t> de Empleado</a:t>
            </a:r>
          </a:p>
          <a:p>
            <a:r>
              <a:rPr lang="es-ES" sz="1100" b="1" dirty="0">
                <a:solidFill>
                  <a:srgbClr val="0070C0"/>
                </a:solidFill>
              </a:rPr>
              <a:t>Contraseña: Designada por usuario</a:t>
            </a:r>
          </a:p>
        </p:txBody>
      </p:sp>
      <p:sp>
        <p:nvSpPr>
          <p:cNvPr id="10" name="Flecha: hacia la izquierda 9">
            <a:extLst>
              <a:ext uri="{FF2B5EF4-FFF2-40B4-BE49-F238E27FC236}">
                <a16:creationId xmlns:a16="http://schemas.microsoft.com/office/drawing/2014/main" id="{4DFAC1C2-F08A-0B2C-83A6-455495307C36}"/>
              </a:ext>
            </a:extLst>
          </p:cNvPr>
          <p:cNvSpPr/>
          <p:nvPr/>
        </p:nvSpPr>
        <p:spPr bwMode="auto">
          <a:xfrm>
            <a:off x="5379720" y="2773680"/>
            <a:ext cx="426720" cy="243840"/>
          </a:xfrm>
          <a:prstGeom prst="leftArrow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1164236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A23DB-321D-F741-052F-025966D388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8EB3119-3BB2-5640-A3A8-BB555D04117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Subtitle 7">
            <a:extLst>
              <a:ext uri="{FF2B5EF4-FFF2-40B4-BE49-F238E27FC236}">
                <a16:creationId xmlns:a16="http://schemas.microsoft.com/office/drawing/2014/main" id="{0A462CDB-F29A-96B2-6E26-E1DACA05D6A0}"/>
              </a:ext>
            </a:extLst>
          </p:cNvPr>
          <p:cNvSpPr txBox="1">
            <a:spLocks/>
          </p:cNvSpPr>
          <p:nvPr/>
        </p:nvSpPr>
        <p:spPr>
          <a:xfrm>
            <a:off x="236778" y="104336"/>
            <a:ext cx="4135273" cy="35427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spcBef>
                <a:spcPct val="20000"/>
              </a:spcBef>
            </a:pPr>
            <a:r>
              <a:rPr lang="es-MX" sz="1800" b="1" u="sng" dirty="0"/>
              <a:t>CMX_PO_RSP_POSTAFF2</a:t>
            </a:r>
            <a:endParaRPr lang="es-MX" sz="1800" b="1" u="sng" dirty="0">
              <a:solidFill>
                <a:schemeClr val="tx1">
                  <a:tint val="75000"/>
                </a:schemeClr>
              </a:solidFill>
              <a:hlinkClick r:id="rId2"/>
            </a:endParaRPr>
          </a:p>
          <a:p>
            <a:pPr>
              <a:spcBef>
                <a:spcPct val="20000"/>
              </a:spcBef>
            </a:pPr>
            <a:endParaRPr lang="es-MX" sz="1100" b="1" u="sng" dirty="0">
              <a:hlinkClick r:id="rId2"/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D50ACED-3ADB-B2B0-B44E-9EB5287E4E91}"/>
              </a:ext>
            </a:extLst>
          </p:cNvPr>
          <p:cNvSpPr txBox="1">
            <a:spLocks/>
          </p:cNvSpPr>
          <p:nvPr/>
        </p:nvSpPr>
        <p:spPr>
          <a:xfrm>
            <a:off x="669896" y="420210"/>
            <a:ext cx="8352928" cy="83290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spcBef>
                <a:spcPct val="20000"/>
              </a:spcBef>
            </a:pPr>
            <a:r>
              <a:rPr lang="es-MX" dirty="0"/>
              <a:t>Menú Principal</a:t>
            </a:r>
          </a:p>
          <a:p>
            <a:pPr>
              <a:spcBef>
                <a:spcPct val="20000"/>
              </a:spcBef>
            </a:pPr>
            <a:r>
              <a:rPr lang="es-MX" dirty="0"/>
              <a:t>	   Seleccionar carpeta CMX_PO_RSP_POSTAFF2</a:t>
            </a:r>
          </a:p>
          <a:p>
            <a:pPr>
              <a:spcBef>
                <a:spcPct val="20000"/>
              </a:spcBef>
            </a:pPr>
            <a:r>
              <a:rPr lang="es-MX" dirty="0"/>
              <a:t>	         </a:t>
            </a:r>
            <a:r>
              <a:rPr lang="es-MX" dirty="0">
                <a:sym typeface="Wingdings" panose="05000000000000000000" pitchFamily="2" charset="2"/>
              </a:rPr>
              <a:t></a:t>
            </a:r>
            <a:r>
              <a:rPr lang="es-MX" dirty="0"/>
              <a:t> Solicitudes Internas</a:t>
            </a:r>
          </a:p>
          <a:p>
            <a:pPr>
              <a:spcBef>
                <a:spcPct val="20000"/>
              </a:spcBef>
            </a:pPr>
            <a:r>
              <a:rPr lang="es-MX" dirty="0"/>
              <a:t>		 </a:t>
            </a:r>
            <a:r>
              <a:rPr lang="es-MX" dirty="0">
                <a:sym typeface="Wingdings" panose="05000000000000000000" pitchFamily="2" charset="2"/>
              </a:rPr>
              <a:t></a:t>
            </a:r>
            <a:r>
              <a:rPr lang="es-MX" dirty="0"/>
              <a:t>  Solicitudes Internas</a:t>
            </a:r>
          </a:p>
          <a:p>
            <a:pPr>
              <a:spcBef>
                <a:spcPct val="20000"/>
              </a:spcBef>
            </a:pPr>
            <a:endParaRPr lang="es-MX" dirty="0"/>
          </a:p>
          <a:p>
            <a:pPr>
              <a:spcBef>
                <a:spcPct val="20000"/>
              </a:spcBef>
            </a:pPr>
            <a:endParaRPr lang="es-MX" sz="2400" dirty="0">
              <a:solidFill>
                <a:schemeClr val="tx1">
                  <a:tint val="75000"/>
                </a:schemeClr>
              </a:solidFill>
              <a:hlinkClick r:id="rId2"/>
            </a:endParaRPr>
          </a:p>
          <a:p>
            <a:pPr>
              <a:spcBef>
                <a:spcPct val="20000"/>
              </a:spcBef>
            </a:pPr>
            <a:endParaRPr lang="es-MX" sz="1400" dirty="0">
              <a:hlinkClick r:id="rId2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C4A1B7AA-AFE9-5D75-7D8C-074527C5C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208" y="1315296"/>
            <a:ext cx="6175686" cy="382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19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A23DB-321D-F741-052F-025966D388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8EB3119-3BB2-5640-A3A8-BB555D041172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7DE9594-1790-E22A-A928-0557CD67A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38" y="281472"/>
            <a:ext cx="6435839" cy="3872412"/>
          </a:xfrm>
          <a:prstGeom prst="rect">
            <a:avLst/>
          </a:prstGeom>
        </p:spPr>
      </p:pic>
      <p:sp>
        <p:nvSpPr>
          <p:cNvPr id="11" name="Subtitle 7">
            <a:extLst>
              <a:ext uri="{FF2B5EF4-FFF2-40B4-BE49-F238E27FC236}">
                <a16:creationId xmlns:a16="http://schemas.microsoft.com/office/drawing/2014/main" id="{C7BB3B77-850E-7816-08B3-2063BF07A42E}"/>
              </a:ext>
            </a:extLst>
          </p:cNvPr>
          <p:cNvSpPr txBox="1">
            <a:spLocks/>
          </p:cNvSpPr>
          <p:nvPr/>
        </p:nvSpPr>
        <p:spPr>
          <a:xfrm>
            <a:off x="183438" y="104336"/>
            <a:ext cx="7925512" cy="35427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spcBef>
                <a:spcPct val="20000"/>
              </a:spcBef>
            </a:pPr>
            <a:r>
              <a:rPr lang="es-MX" sz="1800" b="1" u="sng" dirty="0"/>
              <a:t>Abre pantalla gris en JAVA           </a:t>
            </a:r>
            <a:r>
              <a:rPr lang="es-MX" sz="1800" b="1" u="sng" dirty="0">
                <a:hlinkClick r:id="rId3"/>
              </a:rPr>
              <a:t>–</a:t>
            </a:r>
            <a:r>
              <a:rPr lang="es-MX" sz="1800" b="1" u="sng" dirty="0"/>
              <a:t> Solicitudes Internas </a:t>
            </a:r>
            <a:r>
              <a:rPr lang="es-MX" sz="1800" b="1" u="sng" dirty="0">
                <a:hlinkClick r:id="rId3"/>
              </a:rPr>
              <a:t>–</a:t>
            </a:r>
            <a:r>
              <a:rPr lang="es-MX" sz="1800" b="1" u="sng" dirty="0"/>
              <a:t> [Nuevo]</a:t>
            </a:r>
            <a:endParaRPr lang="es-MX" sz="1800" b="1" u="sng" dirty="0">
              <a:solidFill>
                <a:schemeClr val="tx1">
                  <a:tint val="75000"/>
                </a:schemeClr>
              </a:solidFill>
              <a:hlinkClick r:id="rId3"/>
            </a:endParaRPr>
          </a:p>
          <a:p>
            <a:pPr>
              <a:spcBef>
                <a:spcPct val="20000"/>
              </a:spcBef>
            </a:pPr>
            <a:endParaRPr lang="es-MX" sz="1100" b="1" u="sng" dirty="0">
              <a:hlinkClick r:id="rId3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F269784-3F15-16B2-0303-BB43C93EE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352" y="4296528"/>
            <a:ext cx="6136958" cy="846972"/>
          </a:xfrm>
          <a:prstGeom prst="rect">
            <a:avLst/>
          </a:prstGeom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D43F1172-A2C4-EC5E-48A3-89EC33EB9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41328" y="42830"/>
            <a:ext cx="551551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92416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A23DB-321D-F741-052F-025966D388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8EB3119-3BB2-5640-A3A8-BB555D04117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B216069-4348-7ADF-80C0-A77832794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960" y="1538083"/>
            <a:ext cx="4863860" cy="360541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01BE710-BF9F-9DA4-2E15-0FCD2EEC7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19" y="101884"/>
            <a:ext cx="6108593" cy="122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883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A23DB-321D-F741-052F-025966D388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8EB3119-3BB2-5640-A3A8-BB555D04117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A38A9F2-C768-6045-95B3-A917D7846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95" y="129540"/>
            <a:ext cx="6101145" cy="95529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5CC66D0-B150-F6EA-7844-71CF13905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99" y="1150359"/>
            <a:ext cx="7040880" cy="395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168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A23DB-321D-F741-052F-025966D388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8EB3119-3BB2-5640-A3A8-BB555D041172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A0626B1-3C82-88D6-5498-016AE0A4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8206"/>
            <a:ext cx="6560820" cy="107419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3905D6A-7ED2-ECED-8450-DB5D7BF70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" y="1243787"/>
            <a:ext cx="7002780" cy="389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996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A23DB-321D-F741-052F-025966D388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8EB3119-3BB2-5640-A3A8-BB555D041172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E0419C7-7C7F-8641-56FB-D2708DA5A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96631"/>
            <a:ext cx="6610350" cy="835791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36A7EAF-743C-C915-AA2A-84BFDA94345C}"/>
              </a:ext>
            </a:extLst>
          </p:cNvPr>
          <p:cNvSpPr/>
          <p:nvPr/>
        </p:nvSpPr>
        <p:spPr bwMode="auto">
          <a:xfrm>
            <a:off x="6940550" y="196631"/>
            <a:ext cx="304800" cy="539969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s-MX" sz="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F332F83-91D2-E3AE-51F4-5227E5E9D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731" y="1147369"/>
            <a:ext cx="5344519" cy="399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137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A23DB-321D-F741-052F-025966D388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8EB3119-3BB2-5640-A3A8-BB555D041172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E4CBA3C-AD78-5DE4-9565-E6BF1DC45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139122"/>
            <a:ext cx="5410200" cy="819728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496C73E-8AF3-3D7A-D980-C67833E5951D}"/>
              </a:ext>
            </a:extLst>
          </p:cNvPr>
          <p:cNvSpPr/>
          <p:nvPr/>
        </p:nvSpPr>
        <p:spPr bwMode="auto">
          <a:xfrm>
            <a:off x="5511800" y="142367"/>
            <a:ext cx="685800" cy="406619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s-MX" sz="8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5A67ED1-83A7-E0FA-7692-11D127806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707" y="1010767"/>
            <a:ext cx="6609843" cy="404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093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A23DB-321D-F741-052F-025966D388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8EB3119-3BB2-5640-A3A8-BB555D041172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100F915-A74B-98F0-72B7-2E1D6AB39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59383"/>
            <a:ext cx="6178550" cy="87458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0EF2DEF-BDD9-6916-A62C-F0EE9E1CC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1119833"/>
            <a:ext cx="7496864" cy="402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229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A23DB-321D-F741-052F-025966D388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8EB3119-3BB2-5640-A3A8-BB555D041172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099D9E1-B650-A94E-D53F-EE338B6AA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50" y="58805"/>
            <a:ext cx="6750050" cy="92568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63D344A-013B-824C-F681-CBAE7D34DC9E}"/>
              </a:ext>
            </a:extLst>
          </p:cNvPr>
          <p:cNvSpPr/>
          <p:nvPr/>
        </p:nvSpPr>
        <p:spPr bwMode="auto">
          <a:xfrm>
            <a:off x="6534150" y="142367"/>
            <a:ext cx="685800" cy="406619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s-MX" sz="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581CD6E-D648-4503-F68C-34F3EAB09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50" y="1068055"/>
            <a:ext cx="8719458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943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A23DB-321D-F741-052F-025966D388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8EB3119-3BB2-5640-A3A8-BB555D04117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0B095E4-28C2-0BFA-34A3-5324569C73BC}"/>
              </a:ext>
            </a:extLst>
          </p:cNvPr>
          <p:cNvSpPr txBox="1"/>
          <p:nvPr/>
        </p:nvSpPr>
        <p:spPr>
          <a:xfrm>
            <a:off x="222250" y="807041"/>
            <a:ext cx="8921750" cy="49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s-MX" sz="1200" dirty="0"/>
              <a:t> Cuenta Cargo – para </a:t>
            </a:r>
            <a:r>
              <a:rPr lang="es-MX" sz="1200" b="1" dirty="0">
                <a:solidFill>
                  <a:srgbClr val="0070C0"/>
                </a:solidFill>
              </a:rPr>
              <a:t>División ITCG</a:t>
            </a:r>
            <a:r>
              <a:rPr lang="es-MX" sz="1200" dirty="0"/>
              <a:t>, la cadena contable es:  </a:t>
            </a:r>
            <a:r>
              <a:rPr lang="es-MX" sz="1200" b="1" dirty="0">
                <a:solidFill>
                  <a:srgbClr val="0070C0"/>
                </a:solidFill>
              </a:rPr>
              <a:t>ACU-041-999999-11991001-ZZ-999-000-0000-000</a:t>
            </a:r>
          </a:p>
          <a:p>
            <a:pPr>
              <a:spcBef>
                <a:spcPct val="20000"/>
              </a:spcBef>
            </a:pPr>
            <a:r>
              <a:rPr lang="es-MX" sz="1200" dirty="0"/>
              <a:t> Cuenta Cargo – para </a:t>
            </a:r>
            <a:r>
              <a:rPr lang="es-MX" sz="1200" b="1" dirty="0">
                <a:solidFill>
                  <a:srgbClr val="00B050"/>
                </a:solidFill>
              </a:rPr>
              <a:t>División BICG</a:t>
            </a:r>
            <a:r>
              <a:rPr lang="es-MX" sz="1200" dirty="0"/>
              <a:t>, la cadena contable es:  </a:t>
            </a:r>
            <a:r>
              <a:rPr lang="pl-PL" sz="1200" b="1" dirty="0">
                <a:solidFill>
                  <a:srgbClr val="00B050"/>
                </a:solidFill>
              </a:rPr>
              <a:t>ACU</a:t>
            </a:r>
            <a:r>
              <a:rPr lang="es-ES" sz="1200" b="1" dirty="0">
                <a:solidFill>
                  <a:srgbClr val="00B050"/>
                </a:solidFill>
              </a:rPr>
              <a:t>-</a:t>
            </a:r>
            <a:r>
              <a:rPr lang="pl-PL" sz="1200" b="1" dirty="0">
                <a:solidFill>
                  <a:srgbClr val="00B050"/>
                </a:solidFill>
              </a:rPr>
              <a:t>041</a:t>
            </a:r>
            <a:r>
              <a:rPr lang="es-ES" sz="1200" b="1" dirty="0">
                <a:solidFill>
                  <a:srgbClr val="00B050"/>
                </a:solidFill>
              </a:rPr>
              <a:t>-</a:t>
            </a:r>
            <a:r>
              <a:rPr lang="pl-PL" sz="1200" b="1" dirty="0">
                <a:solidFill>
                  <a:srgbClr val="00B050"/>
                </a:solidFill>
              </a:rPr>
              <a:t>999999</a:t>
            </a:r>
            <a:r>
              <a:rPr lang="es-ES" sz="1200" b="1" dirty="0">
                <a:solidFill>
                  <a:srgbClr val="00B050"/>
                </a:solidFill>
              </a:rPr>
              <a:t>-</a:t>
            </a:r>
            <a:r>
              <a:rPr lang="pl-PL" sz="1200" b="1" dirty="0">
                <a:solidFill>
                  <a:srgbClr val="00B050"/>
                </a:solidFill>
              </a:rPr>
              <a:t>11991001</a:t>
            </a:r>
            <a:r>
              <a:rPr lang="es-ES" sz="1200" b="1" dirty="0">
                <a:solidFill>
                  <a:srgbClr val="00B050"/>
                </a:solidFill>
              </a:rPr>
              <a:t>-</a:t>
            </a:r>
            <a:r>
              <a:rPr lang="pl-PL" sz="1200" b="1" dirty="0">
                <a:solidFill>
                  <a:srgbClr val="00B050"/>
                </a:solidFill>
              </a:rPr>
              <a:t>ZZ</a:t>
            </a:r>
            <a:r>
              <a:rPr lang="es-ES" sz="1200" b="1" dirty="0">
                <a:solidFill>
                  <a:srgbClr val="00B050"/>
                </a:solidFill>
              </a:rPr>
              <a:t>-</a:t>
            </a:r>
            <a:r>
              <a:rPr lang="pl-PL" sz="1200" b="1" dirty="0">
                <a:solidFill>
                  <a:srgbClr val="00B050"/>
                </a:solidFill>
              </a:rPr>
              <a:t>999</a:t>
            </a:r>
            <a:r>
              <a:rPr lang="es-ES" sz="1200" b="1" dirty="0">
                <a:solidFill>
                  <a:srgbClr val="00B050"/>
                </a:solidFill>
              </a:rPr>
              <a:t>-</a:t>
            </a:r>
            <a:r>
              <a:rPr lang="pl-PL" sz="1200" b="1" dirty="0">
                <a:solidFill>
                  <a:srgbClr val="00B050"/>
                </a:solidFill>
              </a:rPr>
              <a:t>000</a:t>
            </a:r>
            <a:r>
              <a:rPr lang="es-ES" sz="1200" b="1" dirty="0">
                <a:solidFill>
                  <a:srgbClr val="00B050"/>
                </a:solidFill>
              </a:rPr>
              <a:t>-</a:t>
            </a:r>
            <a:r>
              <a:rPr lang="pl-PL" sz="1200" b="1" dirty="0">
                <a:solidFill>
                  <a:srgbClr val="00B050"/>
                </a:solidFill>
              </a:rPr>
              <a:t>0000</a:t>
            </a:r>
            <a:r>
              <a:rPr lang="es-ES" sz="1200" b="1" dirty="0">
                <a:solidFill>
                  <a:srgbClr val="00B050"/>
                </a:solidFill>
              </a:rPr>
              <a:t>-</a:t>
            </a:r>
            <a:r>
              <a:rPr lang="pl-PL" sz="1200" b="1" dirty="0">
                <a:solidFill>
                  <a:srgbClr val="00B050"/>
                </a:solidFill>
              </a:rPr>
              <a:t>000</a:t>
            </a:r>
            <a:endParaRPr lang="es-MX" sz="1200" b="1" dirty="0">
              <a:solidFill>
                <a:srgbClr val="00B050"/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8BD2395-186D-000F-8931-927602EF4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508785"/>
            <a:ext cx="7829550" cy="43928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92191C5-A910-7CDA-1F2C-881CD972C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830" y="1948067"/>
            <a:ext cx="4355295" cy="216036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C261609-22FF-AAB9-AA01-A4E1C7363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150" y="3278313"/>
            <a:ext cx="4404812" cy="1822681"/>
          </a:xfrm>
          <a:prstGeom prst="rect">
            <a:avLst/>
          </a:prstGeom>
        </p:spPr>
      </p:pic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5D685598-188F-F0B9-16DE-1278DCA5EBCB}"/>
              </a:ext>
            </a:extLst>
          </p:cNvPr>
          <p:cNvCxnSpPr/>
          <p:nvPr/>
        </p:nvCxnSpPr>
        <p:spPr bwMode="auto">
          <a:xfrm>
            <a:off x="2616200" y="2882900"/>
            <a:ext cx="2000250" cy="749300"/>
          </a:xfrm>
          <a:prstGeom prst="straightConnector1">
            <a:avLst/>
          </a:prstGeom>
          <a:solidFill>
            <a:srgbClr val="00529B"/>
          </a:solidFill>
          <a:ln w="19050" cap="flat" cmpd="sng" algn="ctr">
            <a:solidFill>
              <a:srgbClr val="FFC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Subtitle 7">
            <a:extLst>
              <a:ext uri="{FF2B5EF4-FFF2-40B4-BE49-F238E27FC236}">
                <a16:creationId xmlns:a16="http://schemas.microsoft.com/office/drawing/2014/main" id="{A3992CF6-92A9-2D73-FBCF-8F0B2C61225A}"/>
              </a:ext>
            </a:extLst>
          </p:cNvPr>
          <p:cNvSpPr txBox="1">
            <a:spLocks/>
          </p:cNvSpPr>
          <p:nvPr/>
        </p:nvSpPr>
        <p:spPr>
          <a:xfrm>
            <a:off x="183438" y="179948"/>
            <a:ext cx="7169862" cy="35427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spcBef>
                <a:spcPct val="20000"/>
              </a:spcBef>
            </a:pPr>
            <a:r>
              <a:rPr lang="es-MX" sz="1800" b="1" dirty="0"/>
              <a:t>Para cambiar la cuenta de cargo:</a:t>
            </a:r>
            <a:endParaRPr lang="es-MX" sz="1800" b="1" dirty="0">
              <a:solidFill>
                <a:schemeClr val="tx1">
                  <a:tint val="75000"/>
                </a:schemeClr>
              </a:solidFill>
              <a:hlinkClick r:id="rId5"/>
            </a:endParaRPr>
          </a:p>
          <a:p>
            <a:pPr>
              <a:spcBef>
                <a:spcPct val="20000"/>
              </a:spcBef>
            </a:pPr>
            <a:endParaRPr lang="es-MX" sz="1100" b="1" dirty="0">
              <a:hlinkClick r:id="rId5"/>
            </a:endParaRPr>
          </a:p>
        </p:txBody>
      </p:sp>
    </p:spTree>
    <p:extLst>
      <p:ext uri="{BB962C8B-B14F-4D97-AF65-F5344CB8AC3E}">
        <p14:creationId xmlns:p14="http://schemas.microsoft.com/office/powerpoint/2010/main" val="1098899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A23DB-321D-F741-052F-025966D388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8EB3119-3BB2-5640-A3A8-BB555D041172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F486E44-75F3-C8FC-1301-0F0B58C53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485" y="119458"/>
            <a:ext cx="6223000" cy="95244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7726E6A-4454-C7CA-CF9E-49839D8B4BDE}"/>
              </a:ext>
            </a:extLst>
          </p:cNvPr>
          <p:cNvSpPr/>
          <p:nvPr/>
        </p:nvSpPr>
        <p:spPr bwMode="auto">
          <a:xfrm>
            <a:off x="8243930" y="119459"/>
            <a:ext cx="685800" cy="504754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s-MX" sz="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222E673-20DA-4BBE-0C25-60E2DD5E0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950" y="1270000"/>
            <a:ext cx="5360648" cy="38735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D533F5A-AD91-0E8B-5FE6-BA64B17E2DCB}"/>
              </a:ext>
            </a:extLst>
          </p:cNvPr>
          <p:cNvSpPr txBox="1"/>
          <p:nvPr/>
        </p:nvSpPr>
        <p:spPr>
          <a:xfrm>
            <a:off x="361950" y="119458"/>
            <a:ext cx="2051050" cy="84574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s-MX" sz="2400" b="1" dirty="0">
                <a:solidFill>
                  <a:srgbClr val="FF0000"/>
                </a:solidFill>
              </a:rPr>
              <a:t>Carga de Anexos:</a:t>
            </a:r>
          </a:p>
        </p:txBody>
      </p:sp>
    </p:spTree>
    <p:extLst>
      <p:ext uri="{BB962C8B-B14F-4D97-AF65-F5344CB8AC3E}">
        <p14:creationId xmlns:p14="http://schemas.microsoft.com/office/powerpoint/2010/main" val="1275684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A23DB-321D-F741-052F-025966D388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8EB3119-3BB2-5640-A3A8-BB555D041172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D53C025-6DEE-25FC-A38F-B77298C37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" y="0"/>
            <a:ext cx="8604250" cy="458536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CC0EB0F-2A28-939D-D0AB-D0C476C2B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426" y="2762249"/>
            <a:ext cx="366025" cy="29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177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A23DB-321D-F741-052F-025966D388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8EB3119-3BB2-5640-A3A8-BB555D041172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F2F7AC6-DDEE-23AA-D714-112F11C70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962" y="1571625"/>
            <a:ext cx="3876675" cy="2000250"/>
          </a:xfrm>
          <a:prstGeom prst="rect">
            <a:avLst/>
          </a:prstGeom>
        </p:spPr>
      </p:pic>
      <p:sp>
        <p:nvSpPr>
          <p:cNvPr id="5" name="Subtitle 7">
            <a:extLst>
              <a:ext uri="{FF2B5EF4-FFF2-40B4-BE49-F238E27FC236}">
                <a16:creationId xmlns:a16="http://schemas.microsoft.com/office/drawing/2014/main" id="{2107CB39-BF24-DE56-892A-9D52B2514FA5}"/>
              </a:ext>
            </a:extLst>
          </p:cNvPr>
          <p:cNvSpPr txBox="1">
            <a:spLocks/>
          </p:cNvSpPr>
          <p:nvPr/>
        </p:nvSpPr>
        <p:spPr>
          <a:xfrm>
            <a:off x="669896" y="636110"/>
            <a:ext cx="7686704" cy="83290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>
              <a:spcBef>
                <a:spcPct val="20000"/>
              </a:spcBef>
            </a:pPr>
            <a:r>
              <a:rPr lang="es-MX" dirty="0"/>
              <a:t>Al aparecer este recuadro en la pantalla de Java, no contestar la pregunta, si no ir a la pantalla de carga del explorador Edge y cargar el archivo.</a:t>
            </a:r>
          </a:p>
          <a:p>
            <a:pPr>
              <a:spcBef>
                <a:spcPct val="20000"/>
              </a:spcBef>
            </a:pPr>
            <a:r>
              <a:rPr lang="es-MX" dirty="0"/>
              <a:t>   </a:t>
            </a:r>
            <a:r>
              <a:rPr lang="es-MX" dirty="0">
                <a:sym typeface="Wingdings" panose="05000000000000000000" pitchFamily="2" charset="2"/>
              </a:rPr>
              <a:t> ir a Java y al final (cuando ya aparezca el nombre del archivo en el recuadro de Java), contestar con sí.</a:t>
            </a:r>
            <a:endParaRPr lang="es-MX" dirty="0"/>
          </a:p>
          <a:p>
            <a:pPr>
              <a:spcBef>
                <a:spcPct val="20000"/>
              </a:spcBef>
            </a:pPr>
            <a:endParaRPr lang="es-MX" dirty="0"/>
          </a:p>
          <a:p>
            <a:pPr>
              <a:spcBef>
                <a:spcPct val="20000"/>
              </a:spcBef>
            </a:pPr>
            <a:endParaRPr lang="es-MX" sz="2400" dirty="0">
              <a:solidFill>
                <a:schemeClr val="tx1">
                  <a:tint val="75000"/>
                </a:schemeClr>
              </a:solidFill>
              <a:hlinkClick r:id="rId3"/>
            </a:endParaRPr>
          </a:p>
          <a:p>
            <a:pPr>
              <a:spcBef>
                <a:spcPct val="20000"/>
              </a:spcBef>
            </a:pPr>
            <a:endParaRPr lang="es-MX" sz="1400" dirty="0"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1547231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A23DB-321D-F741-052F-025966D388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8EB3119-3BB2-5640-A3A8-BB555D041172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27711E9-0F21-823A-0AE9-F66B12F482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519"/>
          <a:stretch/>
        </p:blipFill>
        <p:spPr>
          <a:xfrm>
            <a:off x="327463" y="121801"/>
            <a:ext cx="8057273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712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A23DB-321D-F741-052F-025966D388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8EB3119-3BB2-5640-A3A8-BB555D041172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35AFDC3-8A6B-0E21-8B4C-EE47B1B30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118744"/>
            <a:ext cx="6826250" cy="93197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E624621-7641-CC67-BEEF-80440A81E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9046" y="970114"/>
            <a:ext cx="5583009" cy="4092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637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A23DB-321D-F741-052F-025966D388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8EB3119-3BB2-5640-A3A8-BB555D041172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75BBDC4-F887-5173-6004-68DD81F78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38" y="236621"/>
            <a:ext cx="3689197" cy="98892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DC70504-9591-CE6F-89DF-277DE1367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891" y="1181100"/>
            <a:ext cx="5503001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769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A23DB-321D-F741-052F-025966D388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8EB3119-3BB2-5640-A3A8-BB555D04117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136A9FB-A1F5-8B91-032B-620499B9F2F9}"/>
              </a:ext>
            </a:extLst>
          </p:cNvPr>
          <p:cNvSpPr txBox="1"/>
          <p:nvPr/>
        </p:nvSpPr>
        <p:spPr>
          <a:xfrm>
            <a:off x="209550" y="422946"/>
            <a:ext cx="3939461" cy="941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s-MX" sz="1200" dirty="0"/>
              <a:t>1. Ir al Menú Principal</a:t>
            </a:r>
          </a:p>
          <a:p>
            <a:pPr>
              <a:spcBef>
                <a:spcPct val="20000"/>
              </a:spcBef>
            </a:pPr>
            <a:r>
              <a:rPr lang="es-MX" sz="1200" dirty="0">
                <a:sym typeface="Wingdings" panose="05000000000000000000" pitchFamily="2" charset="2"/>
              </a:rPr>
              <a:t>  </a:t>
            </a:r>
            <a:r>
              <a:rPr lang="es-MX" sz="1200" dirty="0"/>
              <a:t>   Seleccionar carpeta </a:t>
            </a:r>
            <a:r>
              <a:rPr lang="es-MX" sz="1200" dirty="0">
                <a:solidFill>
                  <a:srgbClr val="FF0000"/>
                </a:solidFill>
              </a:rPr>
              <a:t>CMX_PO_RSP_POSTAFF2</a:t>
            </a:r>
          </a:p>
          <a:p>
            <a:pPr>
              <a:spcBef>
                <a:spcPct val="20000"/>
              </a:spcBef>
            </a:pPr>
            <a:r>
              <a:rPr lang="es-MX" sz="1200" dirty="0"/>
              <a:t>        </a:t>
            </a:r>
            <a:r>
              <a:rPr lang="es-MX" sz="1200" dirty="0">
                <a:sym typeface="Wingdings" panose="05000000000000000000" pitchFamily="2" charset="2"/>
              </a:rPr>
              <a:t></a:t>
            </a:r>
            <a:r>
              <a:rPr lang="es-MX" sz="1200" dirty="0"/>
              <a:t>  Solicitudes Internas</a:t>
            </a:r>
          </a:p>
          <a:p>
            <a:pPr>
              <a:spcBef>
                <a:spcPct val="20000"/>
              </a:spcBef>
            </a:pPr>
            <a:r>
              <a:rPr lang="es-MX" sz="1200" dirty="0"/>
              <a:t>	</a:t>
            </a:r>
            <a:r>
              <a:rPr lang="es-MX" sz="1200" dirty="0">
                <a:sym typeface="Wingdings" panose="05000000000000000000" pitchFamily="2" charset="2"/>
              </a:rPr>
              <a:t></a:t>
            </a:r>
            <a:r>
              <a:rPr lang="es-MX" sz="1200" dirty="0"/>
              <a:t>   Resumen de Solicitud Interna</a:t>
            </a:r>
          </a:p>
        </p:txBody>
      </p:sp>
      <p:sp>
        <p:nvSpPr>
          <p:cNvPr id="5" name="Subtitle 7">
            <a:extLst>
              <a:ext uri="{FF2B5EF4-FFF2-40B4-BE49-F238E27FC236}">
                <a16:creationId xmlns:a16="http://schemas.microsoft.com/office/drawing/2014/main" id="{31424FC5-B91C-E0AC-B7F3-B0DD1AD877E0}"/>
              </a:ext>
            </a:extLst>
          </p:cNvPr>
          <p:cNvSpPr txBox="1">
            <a:spLocks/>
          </p:cNvSpPr>
          <p:nvPr/>
        </p:nvSpPr>
        <p:spPr>
          <a:xfrm>
            <a:off x="197467" y="5833"/>
            <a:ext cx="8794133" cy="47589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20000"/>
              </a:spcBef>
            </a:pPr>
            <a:r>
              <a:rPr lang="es-MX" sz="1800" b="1" dirty="0"/>
              <a:t>Seguimiento del usuario al flujo de autorizaciones de una Requisición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4E09272-1DB3-DC8E-4E24-38B527127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70" y="1463278"/>
            <a:ext cx="2159946" cy="350079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A8D6425-8A89-A6CD-C5E9-A150A1512366}"/>
              </a:ext>
            </a:extLst>
          </p:cNvPr>
          <p:cNvSpPr txBox="1"/>
          <p:nvPr/>
        </p:nvSpPr>
        <p:spPr>
          <a:xfrm>
            <a:off x="4218244" y="929238"/>
            <a:ext cx="4857750" cy="87100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es-MX" sz="1100" dirty="0">
                <a:latin typeface="Helvetica-Light (Cuerpo)"/>
              </a:rPr>
              <a:t>2. Se despliega pantalla “Encontrar Solicitudes Internas”  </a:t>
            </a:r>
          </a:p>
          <a:p>
            <a:pPr>
              <a:spcBef>
                <a:spcPct val="20000"/>
              </a:spcBef>
            </a:pPr>
            <a:r>
              <a:rPr lang="es-MX" sz="1100" dirty="0">
                <a:latin typeface="Helvetica-Light (Cuerpo)"/>
              </a:rPr>
              <a:t>     </a:t>
            </a:r>
            <a:r>
              <a:rPr lang="es-MX" sz="1100" dirty="0">
                <a:latin typeface="Helvetica-Light (Cuerpo)"/>
                <a:sym typeface="Wingdings" panose="05000000000000000000" pitchFamily="2" charset="2"/>
              </a:rPr>
              <a:t> en</a:t>
            </a:r>
            <a:r>
              <a:rPr lang="es-MX" sz="1100" dirty="0">
                <a:latin typeface="Helvetica-Light (Cuerpo)"/>
              </a:rPr>
              <a:t> Unidad Operativa poner </a:t>
            </a:r>
            <a:r>
              <a:rPr lang="es-419" sz="1100" dirty="0">
                <a:solidFill>
                  <a:srgbClr val="FF0000"/>
                </a:solidFill>
                <a:latin typeface="Helvetica-Light (Cuerpo)"/>
              </a:rPr>
              <a:t>CANON MEXICANA, S. DE R.L. DE C.V</a:t>
            </a:r>
            <a:r>
              <a:rPr lang="es-MX" sz="1100" dirty="0">
                <a:solidFill>
                  <a:srgbClr val="FF0000"/>
                </a:solidFill>
                <a:latin typeface="Helvetica-Light (Cuerpo)"/>
              </a:rPr>
              <a:t>. </a:t>
            </a:r>
          </a:p>
          <a:p>
            <a:pPr>
              <a:spcBef>
                <a:spcPct val="20000"/>
              </a:spcBef>
            </a:pPr>
            <a:r>
              <a:rPr lang="es-MX" sz="1100" dirty="0">
                <a:latin typeface="Helvetica-Light (Cuerpo)"/>
              </a:rPr>
              <a:t>        </a:t>
            </a:r>
            <a:r>
              <a:rPr lang="es-MX" sz="1100" dirty="0">
                <a:latin typeface="Helvetica-Light (Cuerpo)"/>
                <a:sym typeface="Wingdings" panose="05000000000000000000" pitchFamily="2" charset="2"/>
              </a:rPr>
              <a:t></a:t>
            </a:r>
            <a:r>
              <a:rPr lang="es-MX" sz="1100" dirty="0">
                <a:latin typeface="Helvetica-Light (Cuerpo)"/>
              </a:rPr>
              <a:t>	poner </a:t>
            </a:r>
            <a:r>
              <a:rPr lang="es-MX" sz="1100" dirty="0">
                <a:solidFill>
                  <a:srgbClr val="FF0000"/>
                </a:solidFill>
                <a:latin typeface="Helvetica-Light (Cuerpo)"/>
              </a:rPr>
              <a:t># Solicitud Interna </a:t>
            </a:r>
            <a:r>
              <a:rPr lang="es-MX" sz="1100" dirty="0">
                <a:latin typeface="Helvetica-Light (Cuerpo)"/>
              </a:rPr>
              <a:t>(Ej.: 14003491)</a:t>
            </a:r>
          </a:p>
          <a:p>
            <a:pPr>
              <a:spcBef>
                <a:spcPct val="20000"/>
              </a:spcBef>
            </a:pPr>
            <a:r>
              <a:rPr lang="es-MX" sz="1100" dirty="0">
                <a:latin typeface="Helvetica-Light (Cuerpo)"/>
              </a:rPr>
              <a:t>             </a:t>
            </a:r>
            <a:r>
              <a:rPr lang="es-MX" sz="1100" dirty="0">
                <a:latin typeface="Helvetica-Light (Cuerpo)"/>
                <a:sym typeface="Wingdings" panose="05000000000000000000" pitchFamily="2" charset="2"/>
              </a:rPr>
              <a:t> </a:t>
            </a:r>
            <a:r>
              <a:rPr lang="es-MX" sz="1100" dirty="0">
                <a:latin typeface="Helvetica-Light (Cuerpo)"/>
              </a:rPr>
              <a:t> Dar clic en </a:t>
            </a:r>
            <a:r>
              <a:rPr lang="es-MX" sz="1050" dirty="0">
                <a:solidFill>
                  <a:srgbClr val="FF0000"/>
                </a:solidFill>
                <a:latin typeface="Helvetica-Light (Cuerpo)"/>
              </a:rPr>
              <a:t>ENCONTRAR</a:t>
            </a:r>
            <a:endParaRPr lang="es-MX" sz="1100" dirty="0">
              <a:solidFill>
                <a:srgbClr val="FF0000"/>
              </a:solidFill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4B0DDA5-73F0-9D25-89E1-CF2AC10A8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011" y="1812254"/>
            <a:ext cx="4642985" cy="2908300"/>
          </a:xfrm>
          <a:prstGeom prst="rect">
            <a:avLst/>
          </a:prstGeom>
        </p:spPr>
      </p:pic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1DB22744-7D75-BD97-EFA4-C67FC99EBCDE}"/>
              </a:ext>
            </a:extLst>
          </p:cNvPr>
          <p:cNvSpPr/>
          <p:nvPr/>
        </p:nvSpPr>
        <p:spPr bwMode="auto">
          <a:xfrm>
            <a:off x="3670917" y="1307449"/>
            <a:ext cx="311150" cy="311658"/>
          </a:xfrm>
          <a:prstGeom prst="rightArrow">
            <a:avLst/>
          </a:prstGeom>
          <a:solidFill>
            <a:schemeClr val="tx1">
              <a:lumMod val="5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1419008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A23DB-321D-F741-052F-025966D388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8EB3119-3BB2-5640-A3A8-BB555D041172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644F0DC-4BEC-55E5-6585-157DF594E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55370"/>
            <a:ext cx="6324600" cy="961415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7B624890-364B-A6DA-D068-DEDE65107CC7}"/>
              </a:ext>
            </a:extLst>
          </p:cNvPr>
          <p:cNvSpPr/>
          <p:nvPr/>
        </p:nvSpPr>
        <p:spPr bwMode="auto">
          <a:xfrm>
            <a:off x="6337300" y="31323"/>
            <a:ext cx="685800" cy="504754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s-MX" sz="8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9B8E31F-E6AF-3730-91C7-F242E4394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673" y="1911201"/>
            <a:ext cx="4285557" cy="171008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474CE04-1267-299A-2210-EF072E471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3075215"/>
            <a:ext cx="4006151" cy="1092136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7651271C-4008-CD16-25FA-DF4CC84F9EF0}"/>
              </a:ext>
            </a:extLst>
          </p:cNvPr>
          <p:cNvSpPr txBox="1"/>
          <p:nvPr/>
        </p:nvSpPr>
        <p:spPr>
          <a:xfrm>
            <a:off x="247650" y="1369467"/>
            <a:ext cx="4133850" cy="260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s-MX" sz="1400" dirty="0"/>
              <a:t>Dos ejemplos: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EB77332-2613-6FE8-8805-65B930142B95}"/>
              </a:ext>
            </a:extLst>
          </p:cNvPr>
          <p:cNvSpPr txBox="1"/>
          <p:nvPr/>
        </p:nvSpPr>
        <p:spPr>
          <a:xfrm>
            <a:off x="153099" y="1944658"/>
            <a:ext cx="4133850" cy="260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s-MX" sz="1200" dirty="0"/>
              <a:t>En la 14005817 muestra quién tiene la requisición en ese momento y la debe de autorizar. El usuario puede dar seguimiento con este autorizador y una vez realizada la autorización, puede validar si en el flujo se agregó otro autorizador </a:t>
            </a:r>
            <a:r>
              <a:rPr lang="es-MX" sz="1200" dirty="0">
                <a:solidFill>
                  <a:srgbClr val="FFC000"/>
                </a:solidFill>
              </a:rPr>
              <a:t>(**)</a:t>
            </a:r>
            <a:r>
              <a:rPr lang="es-MX" sz="1200" dirty="0"/>
              <a:t>. 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440D03A-D935-AF7A-64F2-422AC1AD5D48}"/>
              </a:ext>
            </a:extLst>
          </p:cNvPr>
          <p:cNvSpPr txBox="1"/>
          <p:nvPr/>
        </p:nvSpPr>
        <p:spPr>
          <a:xfrm>
            <a:off x="4572000" y="1319322"/>
            <a:ext cx="4133850" cy="260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s-MX" sz="1200" dirty="0"/>
              <a:t>En la 14005744 Compras canceló la requisición porque tenía errores de captura de datos.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0725D80C-B93D-F3E2-0558-EE30EF660404}"/>
              </a:ext>
            </a:extLst>
          </p:cNvPr>
          <p:cNvSpPr/>
          <p:nvPr/>
        </p:nvSpPr>
        <p:spPr bwMode="auto">
          <a:xfrm>
            <a:off x="965200" y="3568199"/>
            <a:ext cx="2197100" cy="203701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s-MX" sz="800" dirty="0"/>
          </a:p>
        </p:txBody>
      </p:sp>
      <p:sp>
        <p:nvSpPr>
          <p:cNvPr id="18" name="Flecha: hacia abajo 17">
            <a:extLst>
              <a:ext uri="{FF2B5EF4-FFF2-40B4-BE49-F238E27FC236}">
                <a16:creationId xmlns:a16="http://schemas.microsoft.com/office/drawing/2014/main" id="{FA7416BE-EEAF-4FD9-E567-93F6AB683059}"/>
              </a:ext>
            </a:extLst>
          </p:cNvPr>
          <p:cNvSpPr/>
          <p:nvPr/>
        </p:nvSpPr>
        <p:spPr bwMode="auto">
          <a:xfrm>
            <a:off x="3962400" y="3276600"/>
            <a:ext cx="127000" cy="228600"/>
          </a:xfrm>
          <a:prstGeom prst="downArrow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s-MX" sz="8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7365D27-EC42-CABC-CF28-2232D8CCEEBC}"/>
              </a:ext>
            </a:extLst>
          </p:cNvPr>
          <p:cNvSpPr txBox="1"/>
          <p:nvPr/>
        </p:nvSpPr>
        <p:spPr>
          <a:xfrm>
            <a:off x="4737101" y="3952812"/>
            <a:ext cx="4224350" cy="84574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noAutofit/>
          </a:bodyPr>
          <a:lstStyle/>
          <a:p>
            <a:r>
              <a:rPr lang="es-MX" sz="1800" b="1" dirty="0">
                <a:solidFill>
                  <a:srgbClr val="FF0000"/>
                </a:solidFill>
              </a:rPr>
              <a:t>Compras no podrá generar la O.C., hasta no estar concluido el flujo de autorizaciones!</a:t>
            </a:r>
          </a:p>
        </p:txBody>
      </p:sp>
    </p:spTree>
    <p:extLst>
      <p:ext uri="{BB962C8B-B14F-4D97-AF65-F5344CB8AC3E}">
        <p14:creationId xmlns:p14="http://schemas.microsoft.com/office/powerpoint/2010/main" val="1093835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A23DB-321D-F741-052F-025966D3881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8EB3119-3BB2-5640-A3A8-BB555D041172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6F0BCDD-C3D0-176A-2F64-BF1823FB0D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60699" y="851119"/>
            <a:ext cx="4559300" cy="3308131"/>
          </a:xfrm>
          <a:prstGeom prst="rect">
            <a:avLst/>
          </a:prstGeom>
        </p:spPr>
      </p:pic>
      <p:sp>
        <p:nvSpPr>
          <p:cNvPr id="4" name="Subtitle 7">
            <a:extLst>
              <a:ext uri="{FF2B5EF4-FFF2-40B4-BE49-F238E27FC236}">
                <a16:creationId xmlns:a16="http://schemas.microsoft.com/office/drawing/2014/main" id="{EE6BDEFA-B2B3-9219-C82B-811DB7EF87B1}"/>
              </a:ext>
            </a:extLst>
          </p:cNvPr>
          <p:cNvSpPr txBox="1">
            <a:spLocks/>
          </p:cNvSpPr>
          <p:nvPr/>
        </p:nvSpPr>
        <p:spPr>
          <a:xfrm>
            <a:off x="299067" y="139183"/>
            <a:ext cx="8794133" cy="47589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ct val="20000"/>
              </a:spcBef>
            </a:pPr>
            <a:r>
              <a:rPr lang="es-MX" sz="1800" b="1" dirty="0"/>
              <a:t>Seguimiento del usuario al flujo de autorizaciones de una Requisición </a:t>
            </a:r>
            <a:r>
              <a:rPr lang="es-MX" sz="1800" dirty="0">
                <a:solidFill>
                  <a:srgbClr val="FFC000"/>
                </a:solidFill>
              </a:rPr>
              <a:t>(**)</a:t>
            </a:r>
            <a:r>
              <a:rPr lang="es-MX" sz="1800" b="1" dirty="0"/>
              <a:t>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43E0E54-7688-8540-3615-C6C436B6A4F5}"/>
              </a:ext>
            </a:extLst>
          </p:cNvPr>
          <p:cNvSpPr txBox="1"/>
          <p:nvPr/>
        </p:nvSpPr>
        <p:spPr>
          <a:xfrm>
            <a:off x="299066" y="1509822"/>
            <a:ext cx="2761633" cy="86507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s-MX" sz="1200" dirty="0">
                <a:solidFill>
                  <a:srgbClr val="FFC000"/>
                </a:solidFill>
              </a:rPr>
              <a:t>(**)</a:t>
            </a:r>
            <a:r>
              <a:rPr lang="es-MX" sz="1200" b="1" dirty="0"/>
              <a:t> </a:t>
            </a:r>
            <a:r>
              <a:rPr lang="es-MX" sz="1200" dirty="0"/>
              <a:t>El número de autorizadores de una requisición de compra es determinado por el monto de la requisición.</a:t>
            </a:r>
          </a:p>
        </p:txBody>
      </p:sp>
      <p:sp>
        <p:nvSpPr>
          <p:cNvPr id="6" name="Flecha: hacia abajo 5">
            <a:extLst>
              <a:ext uri="{FF2B5EF4-FFF2-40B4-BE49-F238E27FC236}">
                <a16:creationId xmlns:a16="http://schemas.microsoft.com/office/drawing/2014/main" id="{2DB8F20A-5AE0-0B2B-6CEB-A3452CF77225}"/>
              </a:ext>
            </a:extLst>
          </p:cNvPr>
          <p:cNvSpPr/>
          <p:nvPr/>
        </p:nvSpPr>
        <p:spPr bwMode="auto">
          <a:xfrm rot="16200000">
            <a:off x="3200030" y="1478441"/>
            <a:ext cx="324589" cy="603250"/>
          </a:xfrm>
          <a:prstGeom prst="downArrow">
            <a:avLst/>
          </a:prstGeom>
          <a:solidFill>
            <a:schemeClr val="bg1"/>
          </a:solidFill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s-MX" sz="800" dirty="0"/>
          </a:p>
        </p:txBody>
      </p:sp>
    </p:spTree>
    <p:extLst>
      <p:ext uri="{BB962C8B-B14F-4D97-AF65-F5344CB8AC3E}">
        <p14:creationId xmlns:p14="http://schemas.microsoft.com/office/powerpoint/2010/main" val="33071119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20055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gawa_Widescreenv2">
  <a:themeElements>
    <a:clrScheme name="CPD Colors">
      <a:dk1>
        <a:srgbClr val="6B5E5B"/>
      </a:dk1>
      <a:lt1>
        <a:sysClr val="window" lastClr="FFFFFF"/>
      </a:lt1>
      <a:dk2>
        <a:srgbClr val="857A78"/>
      </a:dk2>
      <a:lt2>
        <a:srgbClr val="EEECE1"/>
      </a:lt2>
      <a:accent1>
        <a:srgbClr val="4BACC6"/>
      </a:accent1>
      <a:accent2>
        <a:srgbClr val="92D050"/>
      </a:accent2>
      <a:accent3>
        <a:srgbClr val="F79646"/>
      </a:accent3>
      <a:accent4>
        <a:srgbClr val="8064A2"/>
      </a:accent4>
      <a:accent5>
        <a:srgbClr val="C0504D"/>
      </a:accent5>
      <a:accent6>
        <a:srgbClr val="0000FF"/>
      </a:accent6>
      <a:hlink>
        <a:srgbClr val="800080"/>
      </a:hlink>
      <a:folHlink>
        <a:srgbClr val="FFC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 sz="800" dirty="0"/>
        </a:defPPr>
      </a:lstStyle>
    </a:spDef>
    <a:lnDef>
      <a:spPr bwMode="auto">
        <a:solidFill>
          <a:srgbClr val="00529B"/>
        </a:solidFill>
        <a:ln w="19050" cap="flat" cmpd="sng" algn="ctr">
          <a:solidFill>
            <a:schemeClr val="accent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sz="1400" dirty="0" smtClean="0"/>
        </a:defPPr>
      </a:lstStyle>
    </a:tx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3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00529B"/>
        </a:accent1>
        <a:accent2>
          <a:srgbClr val="CCB899"/>
        </a:accent2>
        <a:accent3>
          <a:srgbClr val="FFFFFF"/>
        </a:accent3>
        <a:accent4>
          <a:srgbClr val="000000"/>
        </a:accent4>
        <a:accent5>
          <a:srgbClr val="AAB3CB"/>
        </a:accent5>
        <a:accent6>
          <a:srgbClr val="B9A68A"/>
        </a:accent6>
        <a:hlink>
          <a:srgbClr val="DAC0BA"/>
        </a:hlink>
        <a:folHlink>
          <a:srgbClr val="A4B96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14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00529B"/>
        </a:accent1>
        <a:accent2>
          <a:srgbClr val="E2A63A"/>
        </a:accent2>
        <a:accent3>
          <a:srgbClr val="FFFFFF"/>
        </a:accent3>
        <a:accent4>
          <a:srgbClr val="000000"/>
        </a:accent4>
        <a:accent5>
          <a:srgbClr val="AAB3CB"/>
        </a:accent5>
        <a:accent6>
          <a:srgbClr val="CD9634"/>
        </a:accent6>
        <a:hlink>
          <a:srgbClr val="B52525"/>
        </a:hlink>
        <a:folHlink>
          <a:srgbClr val="CCEF7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15">
        <a:dk1>
          <a:srgbClr val="000000"/>
        </a:dk1>
        <a:lt1>
          <a:srgbClr val="FFFFFF"/>
        </a:lt1>
        <a:dk2>
          <a:srgbClr val="FFFFFF"/>
        </a:dk2>
        <a:lt2>
          <a:srgbClr val="715977"/>
        </a:lt2>
        <a:accent1>
          <a:srgbClr val="00529B"/>
        </a:accent1>
        <a:accent2>
          <a:srgbClr val="E2A63A"/>
        </a:accent2>
        <a:accent3>
          <a:srgbClr val="FFFFFF"/>
        </a:accent3>
        <a:accent4>
          <a:srgbClr val="000000"/>
        </a:accent4>
        <a:accent5>
          <a:srgbClr val="AAB3CB"/>
        </a:accent5>
        <a:accent6>
          <a:srgbClr val="CD9634"/>
        </a:accent6>
        <a:hlink>
          <a:srgbClr val="B52525"/>
        </a:hlink>
        <a:folHlink>
          <a:srgbClr val="CCEF7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16">
        <a:dk1>
          <a:srgbClr val="000000"/>
        </a:dk1>
        <a:lt1>
          <a:srgbClr val="FFFFFF"/>
        </a:lt1>
        <a:dk2>
          <a:srgbClr val="000000"/>
        </a:dk2>
        <a:lt2>
          <a:srgbClr val="715977"/>
        </a:lt2>
        <a:accent1>
          <a:srgbClr val="00529B"/>
        </a:accent1>
        <a:accent2>
          <a:srgbClr val="6E96D5"/>
        </a:accent2>
        <a:accent3>
          <a:srgbClr val="FFFFFF"/>
        </a:accent3>
        <a:accent4>
          <a:srgbClr val="000000"/>
        </a:accent4>
        <a:accent5>
          <a:srgbClr val="AAB3CB"/>
        </a:accent5>
        <a:accent6>
          <a:srgbClr val="6387C1"/>
        </a:accent6>
        <a:hlink>
          <a:srgbClr val="5B97AB"/>
        </a:hlink>
        <a:folHlink>
          <a:srgbClr val="85B0C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gawa_Widescreenv2" id="{F53B29AB-5968-40B1-AB65-3C3538317E0C}" vid="{4EC0B47F-A7A3-4252-893E-FA630AE659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Ogawa_Widescreenv2</Template>
  <TotalTime>1322</TotalTime>
  <Words>480</Words>
  <Application>Microsoft Office PowerPoint</Application>
  <PresentationFormat>Presentación en pantalla (16:9)</PresentationFormat>
  <Paragraphs>59</Paragraphs>
  <Slides>23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0" baseType="lpstr">
      <vt:lpstr>Arial</vt:lpstr>
      <vt:lpstr>Calibri</vt:lpstr>
      <vt:lpstr>Helvetica-Light (Cuerpo)</vt:lpstr>
      <vt:lpstr>OpticSans-201Book</vt:lpstr>
      <vt:lpstr>Times</vt:lpstr>
      <vt:lpstr>Ogawa_Widescreenv2</vt:lpstr>
      <vt:lpstr>think-cell Slide</vt:lpstr>
      <vt:lpstr>Manual Requisiciones de Compras</vt:lpstr>
      <vt:lpstr>Sección 1 – Proceso de Elaboración de Requisiciones de Compras en ARCS/Oracle</vt:lpstr>
      <vt:lpstr>Requisiciones de Compras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Timothy Wayne Yee</dc:creator>
  <cp:lastModifiedBy>Yolanda Burkhardt</cp:lastModifiedBy>
  <cp:revision>72</cp:revision>
  <dcterms:created xsi:type="dcterms:W3CDTF">2020-06-23T21:23:09Z</dcterms:created>
  <dcterms:modified xsi:type="dcterms:W3CDTF">2023-12-14T22:55:49Z</dcterms:modified>
</cp:coreProperties>
</file>