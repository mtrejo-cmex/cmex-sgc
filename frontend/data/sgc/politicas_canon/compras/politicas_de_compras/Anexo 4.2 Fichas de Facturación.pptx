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25"/>
  </p:notesMasterIdLst>
  <p:sldIdLst>
    <p:sldId id="256" r:id="rId2"/>
    <p:sldId id="281" r:id="rId3"/>
    <p:sldId id="282" r:id="rId4"/>
    <p:sldId id="296" r:id="rId5"/>
    <p:sldId id="258" r:id="rId6"/>
    <p:sldId id="276" r:id="rId7"/>
    <p:sldId id="275" r:id="rId8"/>
    <p:sldId id="277" r:id="rId9"/>
    <p:sldId id="278" r:id="rId10"/>
    <p:sldId id="279"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Lst>
  <p:sldSz cx="12192000" cy="6858000"/>
  <p:notesSz cx="6858000" cy="9875838"/>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sorterViewPr>
    <p:cViewPr>
      <p:scale>
        <a:sx n="200" d="100"/>
        <a:sy n="200" d="100"/>
      </p:scale>
      <p:origin x="0" y="-225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95300"/>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95300"/>
          </a:xfrm>
          <a:prstGeom prst="rect">
            <a:avLst/>
          </a:prstGeom>
        </p:spPr>
        <p:txBody>
          <a:bodyPr vert="horz" lIns="91440" tIns="45720" rIns="91440" bIns="45720" rtlCol="0"/>
          <a:lstStyle>
            <a:lvl1pPr algn="r">
              <a:defRPr sz="1200"/>
            </a:lvl1pPr>
          </a:lstStyle>
          <a:p>
            <a:fld id="{A36B01B4-084F-4AE7-9005-BEC4D416EAF1}" type="datetimeFigureOut">
              <a:rPr lang="es-MX" smtClean="0"/>
              <a:t>22/11/2023</a:t>
            </a:fld>
            <a:endParaRPr lang="es-MX"/>
          </a:p>
        </p:txBody>
      </p:sp>
      <p:sp>
        <p:nvSpPr>
          <p:cNvPr id="4" name="Marcador de imagen de diapositiva 3"/>
          <p:cNvSpPr>
            <a:spLocks noGrp="1" noRot="1" noChangeAspect="1"/>
          </p:cNvSpPr>
          <p:nvPr>
            <p:ph type="sldImg" idx="2"/>
          </p:nvPr>
        </p:nvSpPr>
        <p:spPr>
          <a:xfrm>
            <a:off x="468313" y="1235075"/>
            <a:ext cx="5921375" cy="3332163"/>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752975"/>
            <a:ext cx="5486400" cy="3887788"/>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9380538"/>
            <a:ext cx="2971800" cy="495300"/>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9380538"/>
            <a:ext cx="2971800" cy="495300"/>
          </a:xfrm>
          <a:prstGeom prst="rect">
            <a:avLst/>
          </a:prstGeom>
        </p:spPr>
        <p:txBody>
          <a:bodyPr vert="horz" lIns="91440" tIns="45720" rIns="91440" bIns="45720" rtlCol="0" anchor="b"/>
          <a:lstStyle>
            <a:lvl1pPr algn="r">
              <a:defRPr sz="1200"/>
            </a:lvl1pPr>
          </a:lstStyle>
          <a:p>
            <a:fld id="{0DB98443-D96D-4960-8E3F-4DC4BCFFA49D}" type="slidenum">
              <a:rPr lang="es-MX" smtClean="0"/>
              <a:t>‹Nº›</a:t>
            </a:fld>
            <a:endParaRPr lang="es-MX"/>
          </a:p>
        </p:txBody>
      </p:sp>
    </p:spTree>
    <p:extLst>
      <p:ext uri="{BB962C8B-B14F-4D97-AF65-F5344CB8AC3E}">
        <p14:creationId xmlns:p14="http://schemas.microsoft.com/office/powerpoint/2010/main" val="161955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9C3E-D1F5-4CF3-97E2-E0ACAB4C3CB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itle 2">
            <a:extLst>
              <a:ext uri="{FF2B5EF4-FFF2-40B4-BE49-F238E27FC236}">
                <a16:creationId xmlns:a16="http://schemas.microsoft.com/office/drawing/2014/main" id="{C8C20A56-9D5A-4BD9-B81F-D1EB94939D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Date Placeholder 3">
            <a:extLst>
              <a:ext uri="{FF2B5EF4-FFF2-40B4-BE49-F238E27FC236}">
                <a16:creationId xmlns:a16="http://schemas.microsoft.com/office/drawing/2014/main" id="{20096FAC-0840-4BD0-8CFB-2209540360A5}"/>
              </a:ext>
            </a:extLst>
          </p:cNvPr>
          <p:cNvSpPr>
            <a:spLocks noGrp="1"/>
          </p:cNvSpPr>
          <p:nvPr>
            <p:ph type="dt" sz="half" idx="10"/>
          </p:nvPr>
        </p:nvSpPr>
        <p:spPr/>
        <p:txBody>
          <a:bodyPr/>
          <a:lstStyle/>
          <a:p>
            <a:fld id="{296C4CA2-D053-4305-8F81-2070DFBB9F87}" type="datetime1">
              <a:rPr lang="es-MX" smtClean="0"/>
              <a:t>22/11/2023</a:t>
            </a:fld>
            <a:endParaRPr lang="es-MX"/>
          </a:p>
        </p:txBody>
      </p:sp>
      <p:sp>
        <p:nvSpPr>
          <p:cNvPr id="5" name="Footer Placeholder 4">
            <a:extLst>
              <a:ext uri="{FF2B5EF4-FFF2-40B4-BE49-F238E27FC236}">
                <a16:creationId xmlns:a16="http://schemas.microsoft.com/office/drawing/2014/main" id="{39C6B3FC-6986-4A70-9C5B-BC105BE69F59}"/>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762A2396-8865-404B-9637-F7048CD5E0C3}"/>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3236546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93FAE-788D-4BD4-9D69-58A59246634D}"/>
              </a:ext>
            </a:extLst>
          </p:cNvPr>
          <p:cNvSpPr>
            <a:spLocks noGrp="1"/>
          </p:cNvSpPr>
          <p:nvPr>
            <p:ph type="title"/>
          </p:nvPr>
        </p:nvSpPr>
        <p:spPr/>
        <p:txBody>
          <a:bodyPr/>
          <a:lstStyle/>
          <a:p>
            <a:r>
              <a:rPr lang="es-ES"/>
              <a:t>Haga clic para modificar el estilo de título del patrón</a:t>
            </a:r>
            <a:endParaRPr lang="es-MX"/>
          </a:p>
        </p:txBody>
      </p:sp>
      <p:sp>
        <p:nvSpPr>
          <p:cNvPr id="3" name="Content Placeholder 2">
            <a:extLst>
              <a:ext uri="{FF2B5EF4-FFF2-40B4-BE49-F238E27FC236}">
                <a16:creationId xmlns:a16="http://schemas.microsoft.com/office/drawing/2014/main" id="{19F428CB-62F0-47F7-9DF6-10CF88E6585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Date Placeholder 3">
            <a:extLst>
              <a:ext uri="{FF2B5EF4-FFF2-40B4-BE49-F238E27FC236}">
                <a16:creationId xmlns:a16="http://schemas.microsoft.com/office/drawing/2014/main" id="{1E570E25-5B50-4243-B42E-D177DAEB5584}"/>
              </a:ext>
            </a:extLst>
          </p:cNvPr>
          <p:cNvSpPr>
            <a:spLocks noGrp="1"/>
          </p:cNvSpPr>
          <p:nvPr>
            <p:ph type="dt" sz="half" idx="10"/>
          </p:nvPr>
        </p:nvSpPr>
        <p:spPr/>
        <p:txBody>
          <a:bodyPr/>
          <a:lstStyle/>
          <a:p>
            <a:fld id="{553C5621-700C-4823-B1B2-B8A62A18D6DB}" type="datetime1">
              <a:rPr lang="es-MX" smtClean="0"/>
              <a:t>22/11/2023</a:t>
            </a:fld>
            <a:endParaRPr lang="es-MX"/>
          </a:p>
        </p:txBody>
      </p:sp>
      <p:sp>
        <p:nvSpPr>
          <p:cNvPr id="5" name="Footer Placeholder 4">
            <a:extLst>
              <a:ext uri="{FF2B5EF4-FFF2-40B4-BE49-F238E27FC236}">
                <a16:creationId xmlns:a16="http://schemas.microsoft.com/office/drawing/2014/main" id="{9E774E31-95EA-4111-9189-40238793EFC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BC168B94-7000-493C-86A3-1205607F607A}"/>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654949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AAE46-9A48-4F86-A766-FE53ED5E766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Text Placeholder 2">
            <a:extLst>
              <a:ext uri="{FF2B5EF4-FFF2-40B4-BE49-F238E27FC236}">
                <a16:creationId xmlns:a16="http://schemas.microsoft.com/office/drawing/2014/main" id="{FADC45AC-46BA-43EC-AE14-F702829D1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a:extLst>
              <a:ext uri="{FF2B5EF4-FFF2-40B4-BE49-F238E27FC236}">
                <a16:creationId xmlns:a16="http://schemas.microsoft.com/office/drawing/2014/main" id="{2DA16898-E38D-4626-9C59-3242863B96A4}"/>
              </a:ext>
            </a:extLst>
          </p:cNvPr>
          <p:cNvSpPr>
            <a:spLocks noGrp="1"/>
          </p:cNvSpPr>
          <p:nvPr>
            <p:ph type="dt" sz="half" idx="10"/>
          </p:nvPr>
        </p:nvSpPr>
        <p:spPr/>
        <p:txBody>
          <a:bodyPr/>
          <a:lstStyle/>
          <a:p>
            <a:fld id="{0697149B-43E8-4DCE-A638-8D9F8A698CF8}" type="datetime1">
              <a:rPr lang="es-MX" smtClean="0"/>
              <a:t>22/11/2023</a:t>
            </a:fld>
            <a:endParaRPr lang="es-MX"/>
          </a:p>
        </p:txBody>
      </p:sp>
      <p:sp>
        <p:nvSpPr>
          <p:cNvPr id="5" name="Footer Placeholder 4">
            <a:extLst>
              <a:ext uri="{FF2B5EF4-FFF2-40B4-BE49-F238E27FC236}">
                <a16:creationId xmlns:a16="http://schemas.microsoft.com/office/drawing/2014/main" id="{5B5D15EB-59CC-49FD-B7AD-643766052C02}"/>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B669E904-5BFD-4FF2-8523-FBC96A6E2888}"/>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8022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3CF91-EF38-48D9-B5FF-12B420A40B01}"/>
              </a:ext>
            </a:extLst>
          </p:cNvPr>
          <p:cNvSpPr>
            <a:spLocks noGrp="1"/>
          </p:cNvSpPr>
          <p:nvPr>
            <p:ph type="title"/>
          </p:nvPr>
        </p:nvSpPr>
        <p:spPr/>
        <p:txBody>
          <a:bodyPr/>
          <a:lstStyle/>
          <a:p>
            <a:r>
              <a:rPr lang="es-ES"/>
              <a:t>Haga clic para modificar el estilo de título del patrón</a:t>
            </a:r>
            <a:endParaRPr lang="es-MX"/>
          </a:p>
        </p:txBody>
      </p:sp>
      <p:sp>
        <p:nvSpPr>
          <p:cNvPr id="3" name="Content Placeholder 2">
            <a:extLst>
              <a:ext uri="{FF2B5EF4-FFF2-40B4-BE49-F238E27FC236}">
                <a16:creationId xmlns:a16="http://schemas.microsoft.com/office/drawing/2014/main" id="{D17D6AEE-E5C5-4A3C-8065-7DE9E1C6384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Content Placeholder 3">
            <a:extLst>
              <a:ext uri="{FF2B5EF4-FFF2-40B4-BE49-F238E27FC236}">
                <a16:creationId xmlns:a16="http://schemas.microsoft.com/office/drawing/2014/main" id="{079206D1-A6DE-4603-A35B-F8A91360F56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Date Placeholder 4">
            <a:extLst>
              <a:ext uri="{FF2B5EF4-FFF2-40B4-BE49-F238E27FC236}">
                <a16:creationId xmlns:a16="http://schemas.microsoft.com/office/drawing/2014/main" id="{B637AA75-4B68-40E6-8DFF-BAA688E9F226}"/>
              </a:ext>
            </a:extLst>
          </p:cNvPr>
          <p:cNvSpPr>
            <a:spLocks noGrp="1"/>
          </p:cNvSpPr>
          <p:nvPr>
            <p:ph type="dt" sz="half" idx="10"/>
          </p:nvPr>
        </p:nvSpPr>
        <p:spPr/>
        <p:txBody>
          <a:bodyPr/>
          <a:lstStyle/>
          <a:p>
            <a:fld id="{F60C9012-DAFB-4738-B716-6830AD08B804}" type="datetime1">
              <a:rPr lang="es-MX" smtClean="0"/>
              <a:t>22/11/2023</a:t>
            </a:fld>
            <a:endParaRPr lang="es-MX"/>
          </a:p>
        </p:txBody>
      </p:sp>
      <p:sp>
        <p:nvSpPr>
          <p:cNvPr id="6" name="Footer Placeholder 5">
            <a:extLst>
              <a:ext uri="{FF2B5EF4-FFF2-40B4-BE49-F238E27FC236}">
                <a16:creationId xmlns:a16="http://schemas.microsoft.com/office/drawing/2014/main" id="{FCC97993-EC4A-468A-97DA-D4D5A81DB130}"/>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6E875B0-9B8A-4224-B5AE-AA0272C9A340}"/>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3414426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AAAAB-CA81-4B5D-906C-9D0896C9A08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Text Placeholder 2">
            <a:extLst>
              <a:ext uri="{FF2B5EF4-FFF2-40B4-BE49-F238E27FC236}">
                <a16:creationId xmlns:a16="http://schemas.microsoft.com/office/drawing/2014/main" id="{A1560C02-3A8C-4511-B4AA-EAEC90E4F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a:extLst>
              <a:ext uri="{FF2B5EF4-FFF2-40B4-BE49-F238E27FC236}">
                <a16:creationId xmlns:a16="http://schemas.microsoft.com/office/drawing/2014/main" id="{DAA2599C-8103-4802-8AED-1DD07985398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Text Placeholder 4">
            <a:extLst>
              <a:ext uri="{FF2B5EF4-FFF2-40B4-BE49-F238E27FC236}">
                <a16:creationId xmlns:a16="http://schemas.microsoft.com/office/drawing/2014/main" id="{9ADD1433-1A90-4781-B37C-79F9C90D48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a:extLst>
              <a:ext uri="{FF2B5EF4-FFF2-40B4-BE49-F238E27FC236}">
                <a16:creationId xmlns:a16="http://schemas.microsoft.com/office/drawing/2014/main" id="{233F55CD-3952-4734-A548-02549587F49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Date Placeholder 6">
            <a:extLst>
              <a:ext uri="{FF2B5EF4-FFF2-40B4-BE49-F238E27FC236}">
                <a16:creationId xmlns:a16="http://schemas.microsoft.com/office/drawing/2014/main" id="{62B3A139-80BA-42EB-A352-66C9AED3EEF3}"/>
              </a:ext>
            </a:extLst>
          </p:cNvPr>
          <p:cNvSpPr>
            <a:spLocks noGrp="1"/>
          </p:cNvSpPr>
          <p:nvPr>
            <p:ph type="dt" sz="half" idx="10"/>
          </p:nvPr>
        </p:nvSpPr>
        <p:spPr/>
        <p:txBody>
          <a:bodyPr/>
          <a:lstStyle/>
          <a:p>
            <a:fld id="{7676ED00-85B8-4DE4-8DED-AE731F4D9868}" type="datetime1">
              <a:rPr lang="es-MX" smtClean="0"/>
              <a:t>22/11/2023</a:t>
            </a:fld>
            <a:endParaRPr lang="es-MX"/>
          </a:p>
        </p:txBody>
      </p:sp>
      <p:sp>
        <p:nvSpPr>
          <p:cNvPr id="8" name="Footer Placeholder 7">
            <a:extLst>
              <a:ext uri="{FF2B5EF4-FFF2-40B4-BE49-F238E27FC236}">
                <a16:creationId xmlns:a16="http://schemas.microsoft.com/office/drawing/2014/main" id="{AB2F3355-014F-4FD7-9061-BC20E6913CBB}"/>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65F9985B-F39B-475F-9004-C1CC12D37B45}"/>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514495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A4F23-1449-434B-B537-54E2EED8EE44}"/>
              </a:ext>
            </a:extLst>
          </p:cNvPr>
          <p:cNvSpPr>
            <a:spLocks noGrp="1"/>
          </p:cNvSpPr>
          <p:nvPr>
            <p:ph type="title"/>
          </p:nvPr>
        </p:nvSpPr>
        <p:spPr/>
        <p:txBody>
          <a:bodyPr/>
          <a:lstStyle/>
          <a:p>
            <a:r>
              <a:rPr lang="es-ES"/>
              <a:t>Haga clic para modificar el estilo de título del patrón</a:t>
            </a:r>
            <a:endParaRPr lang="es-MX"/>
          </a:p>
        </p:txBody>
      </p:sp>
      <p:sp>
        <p:nvSpPr>
          <p:cNvPr id="3" name="Date Placeholder 2">
            <a:extLst>
              <a:ext uri="{FF2B5EF4-FFF2-40B4-BE49-F238E27FC236}">
                <a16:creationId xmlns:a16="http://schemas.microsoft.com/office/drawing/2014/main" id="{5E3641ED-6C25-4017-9AAE-650BC9478066}"/>
              </a:ext>
            </a:extLst>
          </p:cNvPr>
          <p:cNvSpPr>
            <a:spLocks noGrp="1"/>
          </p:cNvSpPr>
          <p:nvPr>
            <p:ph type="dt" sz="half" idx="10"/>
          </p:nvPr>
        </p:nvSpPr>
        <p:spPr/>
        <p:txBody>
          <a:bodyPr/>
          <a:lstStyle/>
          <a:p>
            <a:fld id="{5A2AB1A8-0123-4086-AFF1-280678CF6B44}" type="datetime1">
              <a:rPr lang="es-MX" smtClean="0"/>
              <a:t>22/11/2023</a:t>
            </a:fld>
            <a:endParaRPr lang="es-MX"/>
          </a:p>
        </p:txBody>
      </p:sp>
      <p:sp>
        <p:nvSpPr>
          <p:cNvPr id="4" name="Footer Placeholder 3">
            <a:extLst>
              <a:ext uri="{FF2B5EF4-FFF2-40B4-BE49-F238E27FC236}">
                <a16:creationId xmlns:a16="http://schemas.microsoft.com/office/drawing/2014/main" id="{9926989C-FE43-4434-B6F8-08D746B157DB}"/>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7777606D-FA7C-4798-94B1-7F71604D7D35}"/>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920663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969542-6925-41E5-97D6-E6FB9366CFEE}"/>
              </a:ext>
            </a:extLst>
          </p:cNvPr>
          <p:cNvSpPr>
            <a:spLocks noGrp="1"/>
          </p:cNvSpPr>
          <p:nvPr>
            <p:ph type="dt" sz="half" idx="10"/>
          </p:nvPr>
        </p:nvSpPr>
        <p:spPr/>
        <p:txBody>
          <a:bodyPr/>
          <a:lstStyle/>
          <a:p>
            <a:fld id="{6542C52C-D930-4EC1-A81E-B044AE6588B8}" type="datetime1">
              <a:rPr lang="es-MX" smtClean="0"/>
              <a:t>22/11/2023</a:t>
            </a:fld>
            <a:endParaRPr lang="es-MX"/>
          </a:p>
        </p:txBody>
      </p:sp>
      <p:sp>
        <p:nvSpPr>
          <p:cNvPr id="3" name="Footer Placeholder 2">
            <a:extLst>
              <a:ext uri="{FF2B5EF4-FFF2-40B4-BE49-F238E27FC236}">
                <a16:creationId xmlns:a16="http://schemas.microsoft.com/office/drawing/2014/main" id="{DF16AA39-4BE7-4C7A-BC5C-AE8F2CD760B4}"/>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A9000ECB-C751-45FB-8BA6-47358F2AC956}"/>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2463814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B1280-44D5-4776-A760-83981319FBE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Content Placeholder 2">
            <a:extLst>
              <a:ext uri="{FF2B5EF4-FFF2-40B4-BE49-F238E27FC236}">
                <a16:creationId xmlns:a16="http://schemas.microsoft.com/office/drawing/2014/main" id="{69B09063-D405-4D0B-B1A8-0F0B993E03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Text Placeholder 3">
            <a:extLst>
              <a:ext uri="{FF2B5EF4-FFF2-40B4-BE49-F238E27FC236}">
                <a16:creationId xmlns:a16="http://schemas.microsoft.com/office/drawing/2014/main" id="{3D756A3D-7F20-4C10-9015-F77807F8BF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a:extLst>
              <a:ext uri="{FF2B5EF4-FFF2-40B4-BE49-F238E27FC236}">
                <a16:creationId xmlns:a16="http://schemas.microsoft.com/office/drawing/2014/main" id="{75923383-0876-4E2F-BA44-4201C8B58B1B}"/>
              </a:ext>
            </a:extLst>
          </p:cNvPr>
          <p:cNvSpPr>
            <a:spLocks noGrp="1"/>
          </p:cNvSpPr>
          <p:nvPr>
            <p:ph type="dt" sz="half" idx="10"/>
          </p:nvPr>
        </p:nvSpPr>
        <p:spPr/>
        <p:txBody>
          <a:bodyPr/>
          <a:lstStyle/>
          <a:p>
            <a:fld id="{B6FCD60A-A7E7-4498-960C-64E704E92D42}" type="datetime1">
              <a:rPr lang="es-MX" smtClean="0"/>
              <a:t>22/11/2023</a:t>
            </a:fld>
            <a:endParaRPr lang="es-MX"/>
          </a:p>
        </p:txBody>
      </p:sp>
      <p:sp>
        <p:nvSpPr>
          <p:cNvPr id="6" name="Footer Placeholder 5">
            <a:extLst>
              <a:ext uri="{FF2B5EF4-FFF2-40B4-BE49-F238E27FC236}">
                <a16:creationId xmlns:a16="http://schemas.microsoft.com/office/drawing/2014/main" id="{68903D45-7900-43F9-AD4B-245B32830CAA}"/>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186C5A39-4569-441C-8FBB-7F82000ECB3B}"/>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1192033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BC73A-8E1A-4B1D-9F5A-F10CBCF0121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Picture Placeholder 2">
            <a:extLst>
              <a:ext uri="{FF2B5EF4-FFF2-40B4-BE49-F238E27FC236}">
                <a16:creationId xmlns:a16="http://schemas.microsoft.com/office/drawing/2014/main" id="{2BD23A6B-792C-4810-9478-95CD66666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MX"/>
          </a:p>
        </p:txBody>
      </p:sp>
      <p:sp>
        <p:nvSpPr>
          <p:cNvPr id="4" name="Text Placeholder 3">
            <a:extLst>
              <a:ext uri="{FF2B5EF4-FFF2-40B4-BE49-F238E27FC236}">
                <a16:creationId xmlns:a16="http://schemas.microsoft.com/office/drawing/2014/main" id="{C0B5822D-9BFD-4FAC-9112-B7B3B774DD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a:extLst>
              <a:ext uri="{FF2B5EF4-FFF2-40B4-BE49-F238E27FC236}">
                <a16:creationId xmlns:a16="http://schemas.microsoft.com/office/drawing/2014/main" id="{2B0875F4-894B-4CDB-99FD-75BCB0B749B6}"/>
              </a:ext>
            </a:extLst>
          </p:cNvPr>
          <p:cNvSpPr>
            <a:spLocks noGrp="1"/>
          </p:cNvSpPr>
          <p:nvPr>
            <p:ph type="dt" sz="half" idx="10"/>
          </p:nvPr>
        </p:nvSpPr>
        <p:spPr/>
        <p:txBody>
          <a:bodyPr/>
          <a:lstStyle/>
          <a:p>
            <a:fld id="{B84E32AE-AF73-42FA-8B13-5C61287AFF24}" type="datetime1">
              <a:rPr lang="es-MX" smtClean="0"/>
              <a:t>22/11/2023</a:t>
            </a:fld>
            <a:endParaRPr lang="es-MX"/>
          </a:p>
        </p:txBody>
      </p:sp>
      <p:sp>
        <p:nvSpPr>
          <p:cNvPr id="6" name="Footer Placeholder 5">
            <a:extLst>
              <a:ext uri="{FF2B5EF4-FFF2-40B4-BE49-F238E27FC236}">
                <a16:creationId xmlns:a16="http://schemas.microsoft.com/office/drawing/2014/main" id="{8E9EF9AB-3BF0-4146-BF49-D567BBD253E8}"/>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3DE1E44-0881-4C9B-B92A-13739B765D16}"/>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494885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51E9-194E-4ABB-A8C5-36AC60769BCA}"/>
              </a:ext>
            </a:extLst>
          </p:cNvPr>
          <p:cNvSpPr>
            <a:spLocks noGrp="1"/>
          </p:cNvSpPr>
          <p:nvPr>
            <p:ph type="title"/>
          </p:nvPr>
        </p:nvSpPr>
        <p:spPr/>
        <p:txBody>
          <a:bodyPr/>
          <a:lstStyle/>
          <a:p>
            <a:r>
              <a:rPr lang="es-ES"/>
              <a:t>Haga clic para modificar el estilo de título del patrón</a:t>
            </a:r>
            <a:endParaRPr lang="es-MX"/>
          </a:p>
        </p:txBody>
      </p:sp>
      <p:sp>
        <p:nvSpPr>
          <p:cNvPr id="3" name="Vertical Text Placeholder 2">
            <a:extLst>
              <a:ext uri="{FF2B5EF4-FFF2-40B4-BE49-F238E27FC236}">
                <a16:creationId xmlns:a16="http://schemas.microsoft.com/office/drawing/2014/main" id="{2142C45F-7845-4D76-8634-3AE712ED3AB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Date Placeholder 3">
            <a:extLst>
              <a:ext uri="{FF2B5EF4-FFF2-40B4-BE49-F238E27FC236}">
                <a16:creationId xmlns:a16="http://schemas.microsoft.com/office/drawing/2014/main" id="{F040A06C-E106-41DF-87B4-8CE2E20F7E03}"/>
              </a:ext>
            </a:extLst>
          </p:cNvPr>
          <p:cNvSpPr>
            <a:spLocks noGrp="1"/>
          </p:cNvSpPr>
          <p:nvPr>
            <p:ph type="dt" sz="half" idx="10"/>
          </p:nvPr>
        </p:nvSpPr>
        <p:spPr/>
        <p:txBody>
          <a:bodyPr/>
          <a:lstStyle/>
          <a:p>
            <a:fld id="{8274D6F0-7B73-404F-AF5F-9E17F122E6B4}" type="datetime1">
              <a:rPr lang="es-MX" smtClean="0"/>
              <a:t>22/11/2023</a:t>
            </a:fld>
            <a:endParaRPr lang="es-MX"/>
          </a:p>
        </p:txBody>
      </p:sp>
      <p:sp>
        <p:nvSpPr>
          <p:cNvPr id="5" name="Footer Placeholder 4">
            <a:extLst>
              <a:ext uri="{FF2B5EF4-FFF2-40B4-BE49-F238E27FC236}">
                <a16:creationId xmlns:a16="http://schemas.microsoft.com/office/drawing/2014/main" id="{67EA0449-DB9C-4492-A8D7-E234266342B9}"/>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8B37381-881C-4311-B9EA-001FD7E09ADC}"/>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1989302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1523CB-5D32-4E99-8240-6F7D632ED64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Vertical Text Placeholder 2">
            <a:extLst>
              <a:ext uri="{FF2B5EF4-FFF2-40B4-BE49-F238E27FC236}">
                <a16:creationId xmlns:a16="http://schemas.microsoft.com/office/drawing/2014/main" id="{5919550F-33E3-45B4-9F5C-7279754331D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Date Placeholder 3">
            <a:extLst>
              <a:ext uri="{FF2B5EF4-FFF2-40B4-BE49-F238E27FC236}">
                <a16:creationId xmlns:a16="http://schemas.microsoft.com/office/drawing/2014/main" id="{75E9D896-41E6-4537-AE60-73B0604CFF63}"/>
              </a:ext>
            </a:extLst>
          </p:cNvPr>
          <p:cNvSpPr>
            <a:spLocks noGrp="1"/>
          </p:cNvSpPr>
          <p:nvPr>
            <p:ph type="dt" sz="half" idx="10"/>
          </p:nvPr>
        </p:nvSpPr>
        <p:spPr/>
        <p:txBody>
          <a:bodyPr/>
          <a:lstStyle/>
          <a:p>
            <a:fld id="{8F21B6CA-88C9-450A-A69A-7ADDB258FCB4}" type="datetime1">
              <a:rPr lang="es-MX" smtClean="0"/>
              <a:t>22/11/2023</a:t>
            </a:fld>
            <a:endParaRPr lang="es-MX"/>
          </a:p>
        </p:txBody>
      </p:sp>
      <p:sp>
        <p:nvSpPr>
          <p:cNvPr id="5" name="Footer Placeholder 4">
            <a:extLst>
              <a:ext uri="{FF2B5EF4-FFF2-40B4-BE49-F238E27FC236}">
                <a16:creationId xmlns:a16="http://schemas.microsoft.com/office/drawing/2014/main" id="{6A82D0D5-DF33-4E55-B3C9-AF210D45B6E0}"/>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187EAC49-8FBE-4A78-8E1E-63D5CBFA6BD4}"/>
              </a:ext>
            </a:extLst>
          </p:cNvPr>
          <p:cNvSpPr>
            <a:spLocks noGrp="1"/>
          </p:cNvSpPr>
          <p:nvPr>
            <p:ph type="sldNum" sz="quarter" idx="12"/>
          </p:nvPr>
        </p:nvSpPr>
        <p:spPr/>
        <p:txBody>
          <a:bodyPr/>
          <a:lstStyle/>
          <a:p>
            <a:fld id="{C9658827-CBDC-4B20-86BA-A047A5186DE9}" type="slidenum">
              <a:rPr lang="es-MX" smtClean="0"/>
              <a:t>‹Nº›</a:t>
            </a:fld>
            <a:endParaRPr lang="es-MX"/>
          </a:p>
        </p:txBody>
      </p:sp>
    </p:spTree>
    <p:extLst>
      <p:ext uri="{BB962C8B-B14F-4D97-AF65-F5344CB8AC3E}">
        <p14:creationId xmlns:p14="http://schemas.microsoft.com/office/powerpoint/2010/main" val="249907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000" b="-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2A0F31-D0DC-413E-B2CE-87A84E191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Text Placeholder 2">
            <a:extLst>
              <a:ext uri="{FF2B5EF4-FFF2-40B4-BE49-F238E27FC236}">
                <a16:creationId xmlns:a16="http://schemas.microsoft.com/office/drawing/2014/main" id="{F481737E-DC89-45A6-9F69-165F64EABB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Date Placeholder 3">
            <a:extLst>
              <a:ext uri="{FF2B5EF4-FFF2-40B4-BE49-F238E27FC236}">
                <a16:creationId xmlns:a16="http://schemas.microsoft.com/office/drawing/2014/main" id="{779C729D-927B-46BA-8761-C25F1017E4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3E713-DCC1-4083-A084-B4810709601D}" type="datetime1">
              <a:rPr lang="es-MX" smtClean="0"/>
              <a:t>22/11/2023</a:t>
            </a:fld>
            <a:endParaRPr lang="es-MX"/>
          </a:p>
        </p:txBody>
      </p:sp>
      <p:sp>
        <p:nvSpPr>
          <p:cNvPr id="5" name="Footer Placeholder 4">
            <a:extLst>
              <a:ext uri="{FF2B5EF4-FFF2-40B4-BE49-F238E27FC236}">
                <a16:creationId xmlns:a16="http://schemas.microsoft.com/office/drawing/2014/main" id="{FBBCB101-55B0-4D89-8C25-B10841E659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a:extLst>
              <a:ext uri="{FF2B5EF4-FFF2-40B4-BE49-F238E27FC236}">
                <a16:creationId xmlns:a16="http://schemas.microsoft.com/office/drawing/2014/main" id="{06D6FA4E-72FE-4278-9B55-23912F7ACE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658827-CBDC-4B20-86BA-A047A5186DE9}" type="slidenum">
              <a:rPr lang="es-MX" smtClean="0"/>
              <a:t>‹Nº›</a:t>
            </a:fld>
            <a:endParaRPr lang="es-MX"/>
          </a:p>
        </p:txBody>
      </p:sp>
    </p:spTree>
    <p:extLst>
      <p:ext uri="{BB962C8B-B14F-4D97-AF65-F5344CB8AC3E}">
        <p14:creationId xmlns:p14="http://schemas.microsoft.com/office/powerpoint/2010/main" val="134439974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E5DD62-3EAE-FC7C-2FDF-F504F74F5B13}"/>
              </a:ext>
            </a:extLst>
          </p:cNvPr>
          <p:cNvSpPr>
            <a:spLocks noGrp="1"/>
          </p:cNvSpPr>
          <p:nvPr>
            <p:ph type="ctrTitle"/>
          </p:nvPr>
        </p:nvSpPr>
        <p:spPr>
          <a:xfrm>
            <a:off x="1524000" y="3545839"/>
            <a:ext cx="9144000" cy="1894523"/>
          </a:xfrm>
        </p:spPr>
        <p:txBody>
          <a:bodyPr/>
          <a:lstStyle/>
          <a:p>
            <a:r>
              <a:rPr lang="es-MX" dirty="0"/>
              <a:t>Formas para solicitar facturación …</a:t>
            </a:r>
          </a:p>
        </p:txBody>
      </p:sp>
      <p:sp>
        <p:nvSpPr>
          <p:cNvPr id="4" name="Título 1">
            <a:extLst>
              <a:ext uri="{FF2B5EF4-FFF2-40B4-BE49-F238E27FC236}">
                <a16:creationId xmlns:a16="http://schemas.microsoft.com/office/drawing/2014/main" id="{0EEB12EC-2B95-734A-A768-3336B877B63C}"/>
              </a:ext>
            </a:extLst>
          </p:cNvPr>
          <p:cNvSpPr txBox="1">
            <a:spLocks/>
          </p:cNvSpPr>
          <p:nvPr/>
        </p:nvSpPr>
        <p:spPr>
          <a:xfrm>
            <a:off x="1524000" y="1417638"/>
            <a:ext cx="9144000" cy="129508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b="1" dirty="0"/>
              <a:t>Anexo 2</a:t>
            </a:r>
          </a:p>
        </p:txBody>
      </p:sp>
      <p:sp>
        <p:nvSpPr>
          <p:cNvPr id="5" name="Marcador de número de diapositiva 4">
            <a:extLst>
              <a:ext uri="{FF2B5EF4-FFF2-40B4-BE49-F238E27FC236}">
                <a16:creationId xmlns:a16="http://schemas.microsoft.com/office/drawing/2014/main" id="{FD2DF439-55CD-83C5-7ECD-98731647D731}"/>
              </a:ext>
            </a:extLst>
          </p:cNvPr>
          <p:cNvSpPr>
            <a:spLocks noGrp="1"/>
          </p:cNvSpPr>
          <p:nvPr>
            <p:ph type="sldNum" sz="quarter" idx="12"/>
          </p:nvPr>
        </p:nvSpPr>
        <p:spPr/>
        <p:txBody>
          <a:bodyPr/>
          <a:lstStyle/>
          <a:p>
            <a:fld id="{C9658827-CBDC-4B20-86BA-A047A5186DE9}" type="slidenum">
              <a:rPr lang="es-MX" smtClean="0"/>
              <a:t>1</a:t>
            </a:fld>
            <a:endParaRPr lang="es-MX"/>
          </a:p>
        </p:txBody>
      </p:sp>
    </p:spTree>
    <p:extLst>
      <p:ext uri="{BB962C8B-B14F-4D97-AF65-F5344CB8AC3E}">
        <p14:creationId xmlns:p14="http://schemas.microsoft.com/office/powerpoint/2010/main" val="1635614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D77E1EC-7661-CA32-2ED6-239116E9A129}"/>
              </a:ext>
            </a:extLst>
          </p:cNvPr>
          <p:cNvSpPr txBox="1">
            <a:spLocks/>
          </p:cNvSpPr>
          <p:nvPr/>
        </p:nvSpPr>
        <p:spPr>
          <a:xfrm>
            <a:off x="742739" y="1584877"/>
            <a:ext cx="3354085" cy="44807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MX" sz="2100" dirty="0">
                <a:latin typeface="Montserrat" panose="00000500000000000000" pitchFamily="2" charset="0"/>
              </a:rPr>
            </a:br>
            <a:r>
              <a:rPr lang="es-MX" sz="2100" b="1" dirty="0">
                <a:latin typeface="Montserrat" panose="00000500000000000000" pitchFamily="2" charset="0"/>
              </a:rPr>
              <a:t>Emisión de un CFDI por compra de adquisición DE Activo Fijos.</a:t>
            </a:r>
          </a:p>
          <a:p>
            <a:br>
              <a:rPr lang="es-MX" sz="2100" b="1" dirty="0">
                <a:latin typeface="Montserrat" panose="00000500000000000000" pitchFamily="2" charset="0"/>
              </a:rPr>
            </a:br>
            <a:r>
              <a:rPr lang="es-MX" sz="2100" dirty="0">
                <a:latin typeface="Montserrat" panose="00000500000000000000" pitchFamily="2" charset="0"/>
              </a:rPr>
              <a:t>Facturas por adquisición de Activos Fijos. </a:t>
            </a:r>
            <a:br>
              <a:rPr lang="es-MX" sz="2100" dirty="0">
                <a:latin typeface="Montserrat" panose="00000500000000000000" pitchFamily="2" charset="0"/>
              </a:rPr>
            </a:br>
            <a:endParaRPr lang="es-MX" sz="2100" dirty="0"/>
          </a:p>
        </p:txBody>
      </p:sp>
      <p:sp>
        <p:nvSpPr>
          <p:cNvPr id="5" name="Marcador de contenido 2">
            <a:extLst>
              <a:ext uri="{FF2B5EF4-FFF2-40B4-BE49-F238E27FC236}">
                <a16:creationId xmlns:a16="http://schemas.microsoft.com/office/drawing/2014/main" id="{D27227AD-CE61-2F55-5BF2-7A868B073DDD}"/>
              </a:ext>
            </a:extLst>
          </p:cNvPr>
          <p:cNvSpPr txBox="1">
            <a:spLocks/>
          </p:cNvSpPr>
          <p:nvPr/>
        </p:nvSpPr>
        <p:spPr>
          <a:xfrm>
            <a:off x="4658786" y="897890"/>
            <a:ext cx="6790475" cy="5167713"/>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MX" sz="1600" dirty="0">
              <a:latin typeface="Montserrat" panose="00000500000000000000" pitchFamily="2" charset="0"/>
            </a:endParaRPr>
          </a:p>
          <a:p>
            <a:r>
              <a:rPr lang="es-MX" sz="2000" dirty="0">
                <a:latin typeface="Montserrat" panose="00000500000000000000" pitchFamily="2" charset="0"/>
              </a:rPr>
              <a:t>Tipo De Comprobante: “I” (Ingreso).</a:t>
            </a:r>
          </a:p>
          <a:p>
            <a:pPr marL="228600" lvl="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Forma Pago: La forma con la que se realizará el pago o si es PPD “por definir”.</a:t>
            </a:r>
            <a:endParaRPr lang="en-US" sz="2000"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Método Pago: Si la factura tiene días de crédito PPD.</a:t>
            </a:r>
          </a:p>
          <a:p>
            <a:pPr marL="22860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Uso de </a:t>
            </a:r>
            <a:r>
              <a:rPr lang="es-MX" sz="2000" dirty="0" err="1">
                <a:latin typeface="Montserrat" panose="00000500000000000000" pitchFamily="2" charset="0"/>
              </a:rPr>
              <a:t>Cfdi</a:t>
            </a:r>
            <a:r>
              <a:rPr lang="es-MX" sz="2000" dirty="0">
                <a:latin typeface="Montserrat" panose="00000500000000000000" pitchFamily="2" charset="0"/>
              </a:rPr>
              <a:t>: De acuerdo a la guía de Uso de CFDI. Solo se permiten claves I02, I03, I04, I08.</a:t>
            </a:r>
            <a:endParaRPr lang="en-US" sz="2000" dirty="0">
              <a:latin typeface="Montserrat" panose="00000500000000000000" pitchFamily="2" charset="0"/>
            </a:endParaRPr>
          </a:p>
          <a:p>
            <a:r>
              <a:rPr lang="es-MX" sz="2000" dirty="0">
                <a:latin typeface="Montserrat" panose="00000500000000000000" pitchFamily="2" charset="0"/>
              </a:rPr>
              <a:t>Clave </a:t>
            </a:r>
            <a:r>
              <a:rPr lang="es-MX" sz="2000" dirty="0" err="1">
                <a:latin typeface="Montserrat" panose="00000500000000000000" pitchFamily="2" charset="0"/>
              </a:rPr>
              <a:t>Prod</a:t>
            </a:r>
            <a:r>
              <a:rPr lang="es-MX" sz="2000" dirty="0">
                <a:latin typeface="Montserrat" panose="00000500000000000000" pitchFamily="2" charset="0"/>
              </a:rPr>
              <a:t> </a:t>
            </a:r>
            <a:r>
              <a:rPr lang="es-MX" sz="2000" dirty="0" err="1">
                <a:latin typeface="Montserrat" panose="00000500000000000000" pitchFamily="2" charset="0"/>
              </a:rPr>
              <a:t>Serv</a:t>
            </a:r>
            <a:r>
              <a:rPr lang="es-MX" sz="2000" dirty="0">
                <a:latin typeface="Montserrat" panose="00000500000000000000" pitchFamily="2" charset="0"/>
              </a:rPr>
              <a:t>: Se debe registrar la clave del tipo de producto o activo que se factura.</a:t>
            </a:r>
          </a:p>
          <a:p>
            <a:r>
              <a:rPr lang="es-MX" sz="2000" dirty="0">
                <a:latin typeface="Montserrat" panose="00000500000000000000" pitchFamily="2" charset="0"/>
              </a:rPr>
              <a:t>Cantidad: Se debe registrar el valor “1” por cada </a:t>
            </a:r>
            <a:r>
              <a:rPr lang="es-MX" sz="2000" dirty="0" err="1">
                <a:latin typeface="Montserrat" panose="00000500000000000000" pitchFamily="2" charset="0"/>
              </a:rPr>
              <a:t>Item</a:t>
            </a:r>
            <a:r>
              <a:rPr lang="es-MX" sz="2000" dirty="0">
                <a:latin typeface="Montserrat" panose="00000500000000000000" pitchFamily="2" charset="0"/>
              </a:rPr>
              <a:t>.</a:t>
            </a:r>
          </a:p>
          <a:p>
            <a:r>
              <a:rPr lang="es-MX" sz="2000" dirty="0">
                <a:latin typeface="Montserrat" panose="00000500000000000000" pitchFamily="2" charset="0"/>
              </a:rPr>
              <a:t>Clave Unidad: De acuerdo a la unidad de medida catalogo SAT.</a:t>
            </a:r>
          </a:p>
          <a:p>
            <a:r>
              <a:rPr lang="es-MX" sz="2000" dirty="0">
                <a:latin typeface="Montserrat" panose="00000500000000000000" pitchFamily="2" charset="0"/>
              </a:rPr>
              <a:t>Descripción: Breve descripción del bien vendido.</a:t>
            </a:r>
          </a:p>
          <a:p>
            <a:r>
              <a:rPr lang="es-MX" sz="2000" dirty="0">
                <a:latin typeface="Montserrat" panose="00000500000000000000" pitchFamily="2" charset="0"/>
              </a:rPr>
              <a:t>Valor Unitario: Monto del activo.</a:t>
            </a:r>
          </a:p>
        </p:txBody>
      </p:sp>
      <p:sp>
        <p:nvSpPr>
          <p:cNvPr id="3" name="Marcador de número de diapositiva 2">
            <a:extLst>
              <a:ext uri="{FF2B5EF4-FFF2-40B4-BE49-F238E27FC236}">
                <a16:creationId xmlns:a16="http://schemas.microsoft.com/office/drawing/2014/main" id="{C820CB94-068B-3C98-8A31-1F05DEFA7286}"/>
              </a:ext>
            </a:extLst>
          </p:cNvPr>
          <p:cNvSpPr>
            <a:spLocks noGrp="1"/>
          </p:cNvSpPr>
          <p:nvPr>
            <p:ph type="sldNum" sz="quarter" idx="12"/>
          </p:nvPr>
        </p:nvSpPr>
        <p:spPr/>
        <p:txBody>
          <a:bodyPr/>
          <a:lstStyle/>
          <a:p>
            <a:fld id="{C9658827-CBDC-4B20-86BA-A047A5186DE9}" type="slidenum">
              <a:rPr lang="es-MX" smtClean="0"/>
              <a:t>2</a:t>
            </a:fld>
            <a:endParaRPr lang="es-MX"/>
          </a:p>
        </p:txBody>
      </p:sp>
    </p:spTree>
    <p:extLst>
      <p:ext uri="{BB962C8B-B14F-4D97-AF65-F5344CB8AC3E}">
        <p14:creationId xmlns:p14="http://schemas.microsoft.com/office/powerpoint/2010/main" val="163496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D77E1EC-7661-CA32-2ED6-239116E9A129}"/>
              </a:ext>
            </a:extLst>
          </p:cNvPr>
          <p:cNvSpPr txBox="1">
            <a:spLocks/>
          </p:cNvSpPr>
          <p:nvPr/>
        </p:nvSpPr>
        <p:spPr>
          <a:xfrm>
            <a:off x="1006899" y="1188637"/>
            <a:ext cx="3354085" cy="44807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MX" sz="2100" dirty="0">
                <a:latin typeface="Montserrat" panose="00000500000000000000" pitchFamily="2" charset="0"/>
              </a:rPr>
            </a:br>
            <a:r>
              <a:rPr lang="es-MX" sz="2100" b="1" dirty="0">
                <a:latin typeface="Montserrat" panose="00000500000000000000" pitchFamily="2" charset="0"/>
              </a:rPr>
              <a:t>Emisión de un CFDI por compra de adquisición de mercancías.</a:t>
            </a:r>
          </a:p>
          <a:p>
            <a:br>
              <a:rPr lang="es-MX" sz="2100" b="1" dirty="0">
                <a:latin typeface="Montserrat" panose="00000500000000000000" pitchFamily="2" charset="0"/>
              </a:rPr>
            </a:br>
            <a:r>
              <a:rPr lang="es-MX" sz="2100" dirty="0">
                <a:latin typeface="Montserrat" panose="00000500000000000000" pitchFamily="2" charset="0"/>
              </a:rPr>
              <a:t>Facturas por adquisición de mercancías con ingreso a almacén. </a:t>
            </a:r>
            <a:br>
              <a:rPr lang="es-MX" sz="2100" dirty="0">
                <a:latin typeface="Montserrat" panose="00000500000000000000" pitchFamily="2" charset="0"/>
              </a:rPr>
            </a:br>
            <a:endParaRPr lang="es-MX" sz="2100" dirty="0"/>
          </a:p>
        </p:txBody>
      </p:sp>
      <p:sp>
        <p:nvSpPr>
          <p:cNvPr id="5" name="Marcador de contenido 2">
            <a:extLst>
              <a:ext uri="{FF2B5EF4-FFF2-40B4-BE49-F238E27FC236}">
                <a16:creationId xmlns:a16="http://schemas.microsoft.com/office/drawing/2014/main" id="{D27227AD-CE61-2F55-5BF2-7A868B073DDD}"/>
              </a:ext>
            </a:extLst>
          </p:cNvPr>
          <p:cNvSpPr txBox="1">
            <a:spLocks/>
          </p:cNvSpPr>
          <p:nvPr/>
        </p:nvSpPr>
        <p:spPr>
          <a:xfrm>
            <a:off x="4931819" y="1226210"/>
            <a:ext cx="6790475" cy="471037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MX" sz="1600" dirty="0">
              <a:latin typeface="Montserrat" panose="00000500000000000000" pitchFamily="2" charset="0"/>
            </a:endParaRPr>
          </a:p>
          <a:p>
            <a:r>
              <a:rPr lang="es-MX" sz="2000" dirty="0">
                <a:latin typeface="Montserrat" panose="00000500000000000000" pitchFamily="2" charset="0"/>
              </a:rPr>
              <a:t>Tipo De Comprobante: “I” (Ingreso).</a:t>
            </a:r>
          </a:p>
          <a:p>
            <a:pPr marL="228600" lvl="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Forma Pago: La forma con la que se realizará el pago o si es PPD “por definir”.</a:t>
            </a:r>
            <a:endParaRPr lang="en-US" sz="2000"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Método Pago: Si la factura tiene días de crédito PPD.</a:t>
            </a:r>
          </a:p>
          <a:p>
            <a:pPr marL="22860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Uso de </a:t>
            </a:r>
            <a:r>
              <a:rPr lang="es-MX" sz="2000" dirty="0" err="1">
                <a:latin typeface="Montserrat" panose="00000500000000000000" pitchFamily="2" charset="0"/>
              </a:rPr>
              <a:t>Cfdi</a:t>
            </a:r>
            <a:r>
              <a:rPr lang="es-MX" sz="2000" dirty="0">
                <a:latin typeface="Montserrat" panose="00000500000000000000" pitchFamily="2" charset="0"/>
              </a:rPr>
              <a:t>: G01. Adquisición de Mercancías.</a:t>
            </a:r>
          </a:p>
          <a:p>
            <a:pPr marL="22860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Clave </a:t>
            </a:r>
            <a:r>
              <a:rPr lang="es-MX" sz="2000" dirty="0" err="1">
                <a:latin typeface="Montserrat" panose="00000500000000000000" pitchFamily="2" charset="0"/>
              </a:rPr>
              <a:t>Prod</a:t>
            </a:r>
            <a:r>
              <a:rPr lang="es-MX" sz="2000" dirty="0">
                <a:latin typeface="Montserrat" panose="00000500000000000000" pitchFamily="2" charset="0"/>
              </a:rPr>
              <a:t> </a:t>
            </a:r>
            <a:r>
              <a:rPr lang="es-MX" sz="2000" dirty="0" err="1">
                <a:latin typeface="Montserrat" panose="00000500000000000000" pitchFamily="2" charset="0"/>
              </a:rPr>
              <a:t>Serv</a:t>
            </a:r>
            <a:r>
              <a:rPr lang="es-MX" sz="2000" dirty="0">
                <a:latin typeface="Montserrat" panose="00000500000000000000" pitchFamily="2" charset="0"/>
              </a:rPr>
              <a:t>: Se debe registrar la clave del tipo de producto o activo que se factura.</a:t>
            </a:r>
          </a:p>
          <a:p>
            <a:r>
              <a:rPr lang="es-MX" sz="2000" dirty="0">
                <a:latin typeface="Montserrat" panose="00000500000000000000" pitchFamily="2" charset="0"/>
              </a:rPr>
              <a:t>Cantidad: Se debe registrar el valor “1” por cada </a:t>
            </a:r>
            <a:r>
              <a:rPr lang="es-MX" sz="2000" dirty="0" err="1">
                <a:latin typeface="Montserrat" panose="00000500000000000000" pitchFamily="2" charset="0"/>
              </a:rPr>
              <a:t>Item</a:t>
            </a:r>
            <a:r>
              <a:rPr lang="es-MX" sz="2000" dirty="0">
                <a:latin typeface="Montserrat" panose="00000500000000000000" pitchFamily="2" charset="0"/>
              </a:rPr>
              <a:t>.</a:t>
            </a:r>
          </a:p>
          <a:p>
            <a:r>
              <a:rPr lang="es-MX" sz="2000" dirty="0">
                <a:latin typeface="Montserrat" panose="00000500000000000000" pitchFamily="2" charset="0"/>
              </a:rPr>
              <a:t>Clave Unidad: De acuerdo a la unidad de medida catalogo SAT.</a:t>
            </a:r>
          </a:p>
          <a:p>
            <a:r>
              <a:rPr lang="es-MX" sz="2000" dirty="0">
                <a:latin typeface="Montserrat" panose="00000500000000000000" pitchFamily="2" charset="0"/>
              </a:rPr>
              <a:t>Descripción: Breve descripción del bien vendido.</a:t>
            </a:r>
          </a:p>
          <a:p>
            <a:r>
              <a:rPr lang="es-MX" sz="2000" dirty="0">
                <a:latin typeface="Montserrat" panose="00000500000000000000" pitchFamily="2" charset="0"/>
              </a:rPr>
              <a:t>Valor Unitario: Monto o montos de los </a:t>
            </a:r>
            <a:r>
              <a:rPr lang="es-MX" sz="2000" dirty="0" err="1">
                <a:latin typeface="Montserrat" panose="00000500000000000000" pitchFamily="2" charset="0"/>
              </a:rPr>
              <a:t>item</a:t>
            </a:r>
            <a:r>
              <a:rPr lang="es-MX" sz="2000" dirty="0">
                <a:latin typeface="Montserrat" panose="00000500000000000000" pitchFamily="2" charset="0"/>
              </a:rPr>
              <a:t>.</a:t>
            </a:r>
          </a:p>
        </p:txBody>
      </p:sp>
      <p:sp>
        <p:nvSpPr>
          <p:cNvPr id="2" name="Marcador de número de diapositiva 1">
            <a:extLst>
              <a:ext uri="{FF2B5EF4-FFF2-40B4-BE49-F238E27FC236}">
                <a16:creationId xmlns:a16="http://schemas.microsoft.com/office/drawing/2014/main" id="{67E0F5F0-B12A-0E5B-4469-BBE1DF811EC0}"/>
              </a:ext>
            </a:extLst>
          </p:cNvPr>
          <p:cNvSpPr>
            <a:spLocks noGrp="1"/>
          </p:cNvSpPr>
          <p:nvPr>
            <p:ph type="sldNum" sz="quarter" idx="12"/>
          </p:nvPr>
        </p:nvSpPr>
        <p:spPr/>
        <p:txBody>
          <a:bodyPr/>
          <a:lstStyle/>
          <a:p>
            <a:fld id="{C9658827-CBDC-4B20-86BA-A047A5186DE9}" type="slidenum">
              <a:rPr lang="es-MX" smtClean="0"/>
              <a:t>3</a:t>
            </a:fld>
            <a:endParaRPr lang="es-MX"/>
          </a:p>
        </p:txBody>
      </p:sp>
    </p:spTree>
    <p:extLst>
      <p:ext uri="{BB962C8B-B14F-4D97-AF65-F5344CB8AC3E}">
        <p14:creationId xmlns:p14="http://schemas.microsoft.com/office/powerpoint/2010/main" val="319912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D77E1EC-7661-CA32-2ED6-239116E9A129}"/>
              </a:ext>
            </a:extLst>
          </p:cNvPr>
          <p:cNvSpPr txBox="1">
            <a:spLocks/>
          </p:cNvSpPr>
          <p:nvPr/>
        </p:nvSpPr>
        <p:spPr>
          <a:xfrm>
            <a:off x="1006899" y="1188637"/>
            <a:ext cx="3354085" cy="44807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MX" sz="2100" dirty="0">
                <a:latin typeface="Montserrat" panose="00000500000000000000" pitchFamily="2" charset="0"/>
              </a:rPr>
            </a:br>
            <a:r>
              <a:rPr lang="es-MX" sz="2100" b="1" dirty="0">
                <a:latin typeface="Montserrat" panose="00000500000000000000" pitchFamily="2" charset="0"/>
              </a:rPr>
              <a:t>Emisión de un CFDI por compra o contratación de servicios.</a:t>
            </a:r>
          </a:p>
          <a:p>
            <a:br>
              <a:rPr lang="es-MX" sz="2100" b="1" dirty="0">
                <a:latin typeface="Montserrat" panose="00000500000000000000" pitchFamily="2" charset="0"/>
              </a:rPr>
            </a:br>
            <a:r>
              <a:rPr lang="es-MX" sz="2100" dirty="0">
                <a:latin typeface="Montserrat" panose="00000500000000000000" pitchFamily="2" charset="0"/>
              </a:rPr>
              <a:t>Facturas por gastos. </a:t>
            </a:r>
            <a:br>
              <a:rPr lang="es-MX" sz="2100" dirty="0">
                <a:latin typeface="Montserrat" panose="00000500000000000000" pitchFamily="2" charset="0"/>
              </a:rPr>
            </a:br>
            <a:endParaRPr lang="es-MX" sz="2100" dirty="0"/>
          </a:p>
        </p:txBody>
      </p:sp>
      <p:sp>
        <p:nvSpPr>
          <p:cNvPr id="5" name="Marcador de contenido 2">
            <a:extLst>
              <a:ext uri="{FF2B5EF4-FFF2-40B4-BE49-F238E27FC236}">
                <a16:creationId xmlns:a16="http://schemas.microsoft.com/office/drawing/2014/main" id="{D27227AD-CE61-2F55-5BF2-7A868B073DDD}"/>
              </a:ext>
            </a:extLst>
          </p:cNvPr>
          <p:cNvSpPr txBox="1">
            <a:spLocks/>
          </p:cNvSpPr>
          <p:nvPr/>
        </p:nvSpPr>
        <p:spPr>
          <a:xfrm>
            <a:off x="4931819" y="1226210"/>
            <a:ext cx="6790475" cy="4710379"/>
          </a:xfrm>
          <a:prstGeom prst="rect">
            <a:avLst/>
          </a:prstGeom>
        </p:spPr>
        <p:txBody>
          <a:bodyPr vert="horz" lIns="91440" tIns="45720" rIns="91440" bIns="45720" rtlCol="0"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MX" sz="1600" dirty="0">
              <a:latin typeface="Montserrat" panose="00000500000000000000" pitchFamily="2" charset="0"/>
            </a:endParaRPr>
          </a:p>
          <a:p>
            <a:r>
              <a:rPr lang="es-MX" sz="2000" dirty="0">
                <a:latin typeface="Montserrat" panose="00000500000000000000" pitchFamily="2" charset="0"/>
              </a:rPr>
              <a:t>Tipo De Comprobante: “I” (Ingreso).</a:t>
            </a:r>
          </a:p>
          <a:p>
            <a:pPr marL="228600" lvl="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Forma Pago: La forma con la que se realizará el pago o si es PPD “por definir”.</a:t>
            </a:r>
            <a:endParaRPr lang="en-US" sz="2000"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Método Pago: Si la factura tiene días de crédito PPD.</a:t>
            </a:r>
          </a:p>
          <a:p>
            <a:pPr marL="22860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Uso de </a:t>
            </a:r>
            <a:r>
              <a:rPr lang="es-MX" sz="2000" dirty="0" err="1">
                <a:latin typeface="Montserrat" panose="00000500000000000000" pitchFamily="2" charset="0"/>
              </a:rPr>
              <a:t>Cfdi</a:t>
            </a:r>
            <a:r>
              <a:rPr lang="es-MX" sz="2000" dirty="0">
                <a:latin typeface="Montserrat" panose="00000500000000000000" pitchFamily="2" charset="0"/>
              </a:rPr>
              <a:t>: G03. Gastos.</a:t>
            </a:r>
          </a:p>
          <a:p>
            <a:pPr marL="228600" indent="-228600">
              <a:lnSpc>
                <a:spcPct val="80000"/>
              </a:lnSpc>
              <a:spcBef>
                <a:spcPts val="1000"/>
              </a:spcBef>
              <a:buFont typeface="Arial" panose="020B0604020202020204" pitchFamily="34" charset="0"/>
              <a:buChar char="•"/>
            </a:pPr>
            <a:r>
              <a:rPr lang="es-MX" sz="2000" dirty="0">
                <a:latin typeface="Montserrat" panose="00000500000000000000" pitchFamily="2" charset="0"/>
              </a:rPr>
              <a:t>Clave </a:t>
            </a:r>
            <a:r>
              <a:rPr lang="es-MX" sz="2000" dirty="0" err="1">
                <a:latin typeface="Montserrat" panose="00000500000000000000" pitchFamily="2" charset="0"/>
              </a:rPr>
              <a:t>Prod</a:t>
            </a:r>
            <a:r>
              <a:rPr lang="es-MX" sz="2000" dirty="0">
                <a:latin typeface="Montserrat" panose="00000500000000000000" pitchFamily="2" charset="0"/>
              </a:rPr>
              <a:t> </a:t>
            </a:r>
            <a:r>
              <a:rPr lang="es-MX" sz="2000" dirty="0" err="1">
                <a:latin typeface="Montserrat" panose="00000500000000000000" pitchFamily="2" charset="0"/>
              </a:rPr>
              <a:t>Serv</a:t>
            </a:r>
            <a:r>
              <a:rPr lang="es-MX" sz="2000" dirty="0">
                <a:latin typeface="Montserrat" panose="00000500000000000000" pitchFamily="2" charset="0"/>
              </a:rPr>
              <a:t>: Se debe registrar la clave del tipo de producto o activo que se factura.</a:t>
            </a:r>
          </a:p>
          <a:p>
            <a:r>
              <a:rPr lang="es-MX" sz="2000" dirty="0">
                <a:latin typeface="Montserrat" panose="00000500000000000000" pitchFamily="2" charset="0"/>
              </a:rPr>
              <a:t>Cantidad: Se debe registrar el valor “1” por cada </a:t>
            </a:r>
            <a:r>
              <a:rPr lang="es-MX" sz="2000" dirty="0" err="1">
                <a:latin typeface="Montserrat" panose="00000500000000000000" pitchFamily="2" charset="0"/>
              </a:rPr>
              <a:t>Item</a:t>
            </a:r>
            <a:r>
              <a:rPr lang="es-MX" sz="2000" dirty="0">
                <a:latin typeface="Montserrat" panose="00000500000000000000" pitchFamily="2" charset="0"/>
              </a:rPr>
              <a:t>.</a:t>
            </a:r>
          </a:p>
          <a:p>
            <a:r>
              <a:rPr lang="es-MX" sz="2000" dirty="0">
                <a:latin typeface="Montserrat" panose="00000500000000000000" pitchFamily="2" charset="0"/>
              </a:rPr>
              <a:t>Clave Unidad: De acuerdo a la unidad de medida catalogo SAT.</a:t>
            </a:r>
          </a:p>
          <a:p>
            <a:r>
              <a:rPr lang="es-MX" sz="2000" dirty="0">
                <a:latin typeface="Montserrat" panose="00000500000000000000" pitchFamily="2" charset="0"/>
              </a:rPr>
              <a:t>Descripción: Breve descripción del bien vendido.</a:t>
            </a:r>
          </a:p>
          <a:p>
            <a:r>
              <a:rPr lang="es-MX" sz="2000" dirty="0">
                <a:latin typeface="Montserrat" panose="00000500000000000000" pitchFamily="2" charset="0"/>
              </a:rPr>
              <a:t>Valor Unitario: Monto o montos de los </a:t>
            </a:r>
            <a:r>
              <a:rPr lang="es-MX" sz="2000" dirty="0" err="1">
                <a:latin typeface="Montserrat" panose="00000500000000000000" pitchFamily="2" charset="0"/>
              </a:rPr>
              <a:t>item</a:t>
            </a:r>
            <a:r>
              <a:rPr lang="es-MX" sz="2000" dirty="0">
                <a:latin typeface="Montserrat" panose="00000500000000000000" pitchFamily="2" charset="0"/>
              </a:rPr>
              <a:t>.</a:t>
            </a:r>
          </a:p>
        </p:txBody>
      </p:sp>
      <p:sp>
        <p:nvSpPr>
          <p:cNvPr id="2" name="Marcador de número de diapositiva 1">
            <a:extLst>
              <a:ext uri="{FF2B5EF4-FFF2-40B4-BE49-F238E27FC236}">
                <a16:creationId xmlns:a16="http://schemas.microsoft.com/office/drawing/2014/main" id="{67E0F5F0-B12A-0E5B-4469-BBE1DF811EC0}"/>
              </a:ext>
            </a:extLst>
          </p:cNvPr>
          <p:cNvSpPr>
            <a:spLocks noGrp="1"/>
          </p:cNvSpPr>
          <p:nvPr>
            <p:ph type="sldNum" sz="quarter" idx="12"/>
          </p:nvPr>
        </p:nvSpPr>
        <p:spPr/>
        <p:txBody>
          <a:bodyPr/>
          <a:lstStyle/>
          <a:p>
            <a:fld id="{C9658827-CBDC-4B20-86BA-A047A5186DE9}" type="slidenum">
              <a:rPr lang="es-MX" smtClean="0"/>
              <a:t>4</a:t>
            </a:fld>
            <a:endParaRPr lang="es-MX"/>
          </a:p>
        </p:txBody>
      </p:sp>
    </p:spTree>
    <p:extLst>
      <p:ext uri="{BB962C8B-B14F-4D97-AF65-F5344CB8AC3E}">
        <p14:creationId xmlns:p14="http://schemas.microsoft.com/office/powerpoint/2010/main" val="3524849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10B640F8-1569-1341-1656-68BEFB2247BC}"/>
              </a:ext>
            </a:extLst>
          </p:cNvPr>
          <p:cNvPicPr>
            <a:picLocks noChangeAspect="1"/>
          </p:cNvPicPr>
          <p:nvPr/>
        </p:nvPicPr>
        <p:blipFill>
          <a:blip r:embed="rId2"/>
          <a:stretch>
            <a:fillRect/>
          </a:stretch>
        </p:blipFill>
        <p:spPr>
          <a:xfrm>
            <a:off x="29079" y="0"/>
            <a:ext cx="12001500" cy="866775"/>
          </a:xfrm>
          <a:prstGeom prst="rect">
            <a:avLst/>
          </a:prstGeom>
        </p:spPr>
      </p:pic>
      <p:sp>
        <p:nvSpPr>
          <p:cNvPr id="13" name="CuadroTexto 12">
            <a:extLst>
              <a:ext uri="{FF2B5EF4-FFF2-40B4-BE49-F238E27FC236}">
                <a16:creationId xmlns:a16="http://schemas.microsoft.com/office/drawing/2014/main" id="{F23D56C3-0AC2-65F1-653E-53F464BBB5AA}"/>
              </a:ext>
            </a:extLst>
          </p:cNvPr>
          <p:cNvSpPr txBox="1"/>
          <p:nvPr/>
        </p:nvSpPr>
        <p:spPr>
          <a:xfrm>
            <a:off x="471638" y="159847"/>
            <a:ext cx="9625263" cy="461665"/>
          </a:xfrm>
          <a:prstGeom prst="rect">
            <a:avLst/>
          </a:prstGeom>
          <a:noFill/>
        </p:spPr>
        <p:txBody>
          <a:bodyPr wrap="square" rtlCol="0">
            <a:spAutoFit/>
          </a:bodyPr>
          <a:lstStyle/>
          <a:p>
            <a:r>
              <a:rPr lang="es-MX" sz="2400" dirty="0">
                <a:latin typeface="Aharoni" panose="02010803020104030203" pitchFamily="2" charset="-79"/>
                <a:cs typeface="Aharoni" panose="02010803020104030203" pitchFamily="2" charset="-79"/>
              </a:rPr>
              <a:t>Usos de CFDI:</a:t>
            </a:r>
          </a:p>
        </p:txBody>
      </p:sp>
      <p:pic>
        <p:nvPicPr>
          <p:cNvPr id="15" name="Imagen 14">
            <a:extLst>
              <a:ext uri="{FF2B5EF4-FFF2-40B4-BE49-F238E27FC236}">
                <a16:creationId xmlns:a16="http://schemas.microsoft.com/office/drawing/2014/main" id="{B94D35CF-54AE-F05A-1096-AB2D3CBECB71}"/>
              </a:ext>
            </a:extLst>
          </p:cNvPr>
          <p:cNvPicPr>
            <a:picLocks noChangeAspect="1"/>
          </p:cNvPicPr>
          <p:nvPr/>
        </p:nvPicPr>
        <p:blipFill>
          <a:blip r:embed="rId3"/>
          <a:stretch>
            <a:fillRect/>
          </a:stretch>
        </p:blipFill>
        <p:spPr>
          <a:xfrm>
            <a:off x="962667" y="1194310"/>
            <a:ext cx="9673250" cy="5339132"/>
          </a:xfrm>
          <a:prstGeom prst="rect">
            <a:avLst/>
          </a:prstGeom>
        </p:spPr>
      </p:pic>
      <p:sp>
        <p:nvSpPr>
          <p:cNvPr id="2" name="Marcador de número de diapositiva 1">
            <a:extLst>
              <a:ext uri="{FF2B5EF4-FFF2-40B4-BE49-F238E27FC236}">
                <a16:creationId xmlns:a16="http://schemas.microsoft.com/office/drawing/2014/main" id="{A0221B50-215D-6BAA-C79F-E2843A6FFA3A}"/>
              </a:ext>
            </a:extLst>
          </p:cNvPr>
          <p:cNvSpPr>
            <a:spLocks noGrp="1"/>
          </p:cNvSpPr>
          <p:nvPr>
            <p:ph type="sldNum" sz="quarter" idx="12"/>
          </p:nvPr>
        </p:nvSpPr>
        <p:spPr>
          <a:xfrm>
            <a:off x="8610600" y="6356350"/>
            <a:ext cx="2743200" cy="365125"/>
          </a:xfrm>
        </p:spPr>
        <p:txBody>
          <a:bodyPr/>
          <a:lstStyle/>
          <a:p>
            <a:fld id="{C9658827-CBDC-4B20-86BA-A047A5186DE9}" type="slidenum">
              <a:rPr lang="es-MX" smtClean="0"/>
              <a:t>5</a:t>
            </a:fld>
            <a:endParaRPr lang="es-MX"/>
          </a:p>
        </p:txBody>
      </p:sp>
    </p:spTree>
    <p:extLst>
      <p:ext uri="{BB962C8B-B14F-4D97-AF65-F5344CB8AC3E}">
        <p14:creationId xmlns:p14="http://schemas.microsoft.com/office/powerpoint/2010/main" val="3012365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D77E1EC-7661-CA32-2ED6-239116E9A129}"/>
              </a:ext>
            </a:extLst>
          </p:cNvPr>
          <p:cNvSpPr txBox="1">
            <a:spLocks/>
          </p:cNvSpPr>
          <p:nvPr/>
        </p:nvSpPr>
        <p:spPr>
          <a:xfrm>
            <a:off x="1006900" y="1188637"/>
            <a:ext cx="3141430" cy="44807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MX" sz="2100" dirty="0">
                <a:latin typeface="Montserrat" panose="00000500000000000000" pitchFamily="2" charset="0"/>
              </a:rPr>
            </a:br>
            <a:r>
              <a:rPr lang="es-MX" sz="2100" b="1" dirty="0">
                <a:latin typeface="Montserrat" panose="00000500000000000000" pitchFamily="2" charset="0"/>
              </a:rPr>
              <a:t>I. Emisión de un CFDI por el valor del anticipo recibido:</a:t>
            </a:r>
            <a:br>
              <a:rPr lang="es-MX" sz="2100" b="1" dirty="0">
                <a:latin typeface="Montserrat" panose="00000500000000000000" pitchFamily="2" charset="0"/>
              </a:rPr>
            </a:br>
            <a:br>
              <a:rPr lang="es-MX" sz="2100" b="1" dirty="0">
                <a:latin typeface="Montserrat" panose="00000500000000000000" pitchFamily="2" charset="0"/>
              </a:rPr>
            </a:br>
            <a:r>
              <a:rPr lang="es-MX" sz="2100" dirty="0">
                <a:latin typeface="Montserrat" panose="00000500000000000000" pitchFamily="2" charset="0"/>
              </a:rPr>
              <a:t>El contribuyente al momento de recibir un anticipo debe emitir un comprobante fiscal digital por Internet (CFDI) por el valor del anticipo </a:t>
            </a:r>
            <a:r>
              <a:rPr lang="es-MX" sz="2100" b="1" dirty="0">
                <a:latin typeface="Montserrat" panose="00000500000000000000" pitchFamily="2" charset="0"/>
              </a:rPr>
              <a:t> </a:t>
            </a:r>
            <a:br>
              <a:rPr lang="es-MX" sz="2100" dirty="0">
                <a:latin typeface="Montserrat" panose="00000500000000000000" pitchFamily="2" charset="0"/>
              </a:rPr>
            </a:br>
            <a:endParaRPr lang="es-MX" sz="2100" dirty="0"/>
          </a:p>
        </p:txBody>
      </p:sp>
      <p:sp>
        <p:nvSpPr>
          <p:cNvPr id="5" name="Marcador de contenido 2">
            <a:extLst>
              <a:ext uri="{FF2B5EF4-FFF2-40B4-BE49-F238E27FC236}">
                <a16:creationId xmlns:a16="http://schemas.microsoft.com/office/drawing/2014/main" id="{D27227AD-CE61-2F55-5BF2-7A868B073DDD}"/>
              </a:ext>
            </a:extLst>
          </p:cNvPr>
          <p:cNvSpPr txBox="1">
            <a:spLocks/>
          </p:cNvSpPr>
          <p:nvPr/>
        </p:nvSpPr>
        <p:spPr>
          <a:xfrm>
            <a:off x="4805680" y="822960"/>
            <a:ext cx="7101840" cy="5872480"/>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MX" sz="1600" dirty="0">
              <a:latin typeface="Montserrat" panose="00000500000000000000" pitchFamily="2" charset="0"/>
            </a:endParaRPr>
          </a:p>
          <a:p>
            <a:r>
              <a:rPr lang="es-MX" sz="2100" dirty="0">
                <a:latin typeface="Montserrat" panose="00000500000000000000" pitchFamily="2" charset="0"/>
              </a:rPr>
              <a:t>Tipo De Comprobante: “I” (Ingreso).</a:t>
            </a:r>
          </a:p>
          <a:p>
            <a:r>
              <a:rPr lang="es-MX" sz="2100" dirty="0">
                <a:latin typeface="Montserrat" panose="00000500000000000000" pitchFamily="2" charset="0"/>
              </a:rPr>
              <a:t>Forma Pago: La forma con la que se realizó el pago.</a:t>
            </a:r>
          </a:p>
          <a:p>
            <a:r>
              <a:rPr lang="es-MX" sz="2100" dirty="0">
                <a:latin typeface="Montserrat" panose="00000500000000000000" pitchFamily="2" charset="0"/>
              </a:rPr>
              <a:t>Método Pago: En este campo se debe registrar la clave “PUE” (Pago en una sola exhibición).</a:t>
            </a:r>
          </a:p>
          <a:p>
            <a:r>
              <a:rPr lang="es-MX" sz="2100" dirty="0" err="1">
                <a:latin typeface="Montserrat" panose="00000500000000000000" pitchFamily="2" charset="0"/>
              </a:rPr>
              <a:t>Cfdi</a:t>
            </a:r>
            <a:r>
              <a:rPr lang="es-MX" sz="2100" dirty="0">
                <a:latin typeface="Montserrat" panose="00000500000000000000" pitchFamily="2" charset="0"/>
              </a:rPr>
              <a:t> Relacionados: Este nodo no debe existir. </a:t>
            </a:r>
          </a:p>
          <a:p>
            <a:r>
              <a:rPr lang="es-MX" sz="2100" dirty="0">
                <a:latin typeface="Montserrat" panose="00000500000000000000" pitchFamily="2" charset="0"/>
              </a:rPr>
              <a:t>Concepto: Solo debe existir un concepto en este comprobante. </a:t>
            </a:r>
          </a:p>
          <a:p>
            <a:r>
              <a:rPr lang="es-MX" sz="2100" dirty="0">
                <a:latin typeface="Montserrat" panose="00000500000000000000" pitchFamily="2" charset="0"/>
              </a:rPr>
              <a:t>Uso de </a:t>
            </a:r>
            <a:r>
              <a:rPr lang="es-MX" sz="2100" dirty="0" err="1">
                <a:latin typeface="Montserrat" panose="00000500000000000000" pitchFamily="2" charset="0"/>
              </a:rPr>
              <a:t>Cfdi</a:t>
            </a:r>
            <a:r>
              <a:rPr lang="es-MX" sz="2100" dirty="0">
                <a:latin typeface="Montserrat" panose="00000500000000000000" pitchFamily="2" charset="0"/>
              </a:rPr>
              <a:t>: De acuerdo al uso que se le dará y de acuerdo a la guía de Uso de CFDI.</a:t>
            </a:r>
          </a:p>
          <a:p>
            <a:r>
              <a:rPr lang="es-MX" sz="2100" dirty="0">
                <a:latin typeface="Montserrat" panose="00000500000000000000" pitchFamily="2" charset="0"/>
              </a:rPr>
              <a:t>Clave </a:t>
            </a:r>
            <a:r>
              <a:rPr lang="es-MX" sz="2100" dirty="0" err="1">
                <a:latin typeface="Montserrat" panose="00000500000000000000" pitchFamily="2" charset="0"/>
              </a:rPr>
              <a:t>Prod</a:t>
            </a:r>
            <a:r>
              <a:rPr lang="es-MX" sz="2100" dirty="0">
                <a:latin typeface="Montserrat" panose="00000500000000000000" pitchFamily="2" charset="0"/>
              </a:rPr>
              <a:t> </a:t>
            </a:r>
            <a:r>
              <a:rPr lang="es-MX" sz="2100" dirty="0" err="1">
                <a:latin typeface="Montserrat" panose="00000500000000000000" pitchFamily="2" charset="0"/>
              </a:rPr>
              <a:t>Serv</a:t>
            </a:r>
            <a:r>
              <a:rPr lang="es-MX" sz="2100" dirty="0">
                <a:latin typeface="Montserrat" panose="00000500000000000000" pitchFamily="2" charset="0"/>
              </a:rPr>
              <a:t>: Se debe registrar la clave “84111506” (Servicios de facturación). </a:t>
            </a:r>
          </a:p>
          <a:p>
            <a:r>
              <a:rPr lang="es-MX" sz="2100" dirty="0">
                <a:latin typeface="Montserrat" panose="00000500000000000000" pitchFamily="2" charset="0"/>
              </a:rPr>
              <a:t>Cantidad: Se debe registrar el valor “1”. </a:t>
            </a:r>
          </a:p>
          <a:p>
            <a:r>
              <a:rPr lang="es-MX" sz="2100" dirty="0">
                <a:latin typeface="Montserrat" panose="00000500000000000000" pitchFamily="2" charset="0"/>
              </a:rPr>
              <a:t>Clave Unidad: Se debe registrar la clave “ACT” (Actividad). </a:t>
            </a:r>
          </a:p>
          <a:p>
            <a:r>
              <a:rPr lang="es-MX" sz="2100" dirty="0">
                <a:latin typeface="Montserrat" panose="00000500000000000000" pitchFamily="2" charset="0"/>
              </a:rPr>
              <a:t>Descripción: En este campo se debe registrar el valor “Anticipo del bien o servicio”. </a:t>
            </a:r>
          </a:p>
          <a:p>
            <a:r>
              <a:rPr lang="es-MX" sz="2100" dirty="0">
                <a:latin typeface="Montserrat" panose="00000500000000000000" pitchFamily="2" charset="0"/>
              </a:rPr>
              <a:t>Valor Unitario: En este campo se debe registrar el monto entregado como anticipo antes de impuestos. </a:t>
            </a:r>
          </a:p>
          <a:p>
            <a:endParaRPr lang="es-MX" sz="1600" dirty="0">
              <a:latin typeface="Montserrat" panose="00000500000000000000" pitchFamily="2" charset="0"/>
            </a:endParaRPr>
          </a:p>
        </p:txBody>
      </p:sp>
      <p:sp>
        <p:nvSpPr>
          <p:cNvPr id="2" name="Título 1">
            <a:extLst>
              <a:ext uri="{FF2B5EF4-FFF2-40B4-BE49-F238E27FC236}">
                <a16:creationId xmlns:a16="http://schemas.microsoft.com/office/drawing/2014/main" id="{9D0B977F-C1D5-CC2E-7A54-9354DC00AA75}"/>
              </a:ext>
            </a:extLst>
          </p:cNvPr>
          <p:cNvSpPr txBox="1">
            <a:spLocks/>
          </p:cNvSpPr>
          <p:nvPr/>
        </p:nvSpPr>
        <p:spPr>
          <a:xfrm>
            <a:off x="2032000" y="198438"/>
            <a:ext cx="9144000" cy="624522"/>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Facturación para un Anticipo y seguimiento…</a:t>
            </a:r>
          </a:p>
        </p:txBody>
      </p:sp>
      <p:sp>
        <p:nvSpPr>
          <p:cNvPr id="3" name="Marcador de número de diapositiva 2">
            <a:extLst>
              <a:ext uri="{FF2B5EF4-FFF2-40B4-BE49-F238E27FC236}">
                <a16:creationId xmlns:a16="http://schemas.microsoft.com/office/drawing/2014/main" id="{2ED20A2A-85A7-F7E4-EFD2-A815E3FB4580}"/>
              </a:ext>
            </a:extLst>
          </p:cNvPr>
          <p:cNvSpPr>
            <a:spLocks noGrp="1"/>
          </p:cNvSpPr>
          <p:nvPr>
            <p:ph type="sldNum" sz="quarter" idx="12"/>
          </p:nvPr>
        </p:nvSpPr>
        <p:spPr/>
        <p:txBody>
          <a:bodyPr/>
          <a:lstStyle/>
          <a:p>
            <a:fld id="{C9658827-CBDC-4B20-86BA-A047A5186DE9}" type="slidenum">
              <a:rPr lang="es-MX" smtClean="0"/>
              <a:t>6</a:t>
            </a:fld>
            <a:endParaRPr lang="es-MX"/>
          </a:p>
        </p:txBody>
      </p:sp>
    </p:spTree>
    <p:extLst>
      <p:ext uri="{BB962C8B-B14F-4D97-AF65-F5344CB8AC3E}">
        <p14:creationId xmlns:p14="http://schemas.microsoft.com/office/powerpoint/2010/main" val="659419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160A8E2-F1ED-3AF9-30B3-D82A2094735F}"/>
              </a:ext>
            </a:extLst>
          </p:cNvPr>
          <p:cNvSpPr txBox="1">
            <a:spLocks/>
          </p:cNvSpPr>
          <p:nvPr/>
        </p:nvSpPr>
        <p:spPr>
          <a:xfrm>
            <a:off x="504967" y="675564"/>
            <a:ext cx="3609833" cy="52040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s-MX" sz="2400" dirty="0">
                <a:latin typeface="Montserrat" panose="00000500000000000000" pitchFamily="2" charset="0"/>
              </a:rPr>
            </a:br>
            <a:r>
              <a:rPr lang="es-MX" sz="2400" b="1" dirty="0">
                <a:latin typeface="Montserrat" panose="00000500000000000000" pitchFamily="2" charset="0"/>
              </a:rPr>
              <a:t>II. Emisión de un CFDI por el valor total de la operación.</a:t>
            </a:r>
            <a:br>
              <a:rPr lang="es-MX" sz="2400" b="1" dirty="0">
                <a:latin typeface="Montserrat" panose="00000500000000000000" pitchFamily="2" charset="0"/>
              </a:rPr>
            </a:br>
            <a:br>
              <a:rPr lang="es-MX" sz="2400" dirty="0">
                <a:latin typeface="Montserrat" panose="00000500000000000000" pitchFamily="2" charset="0"/>
              </a:rPr>
            </a:br>
            <a:r>
              <a:rPr lang="es-MX" sz="2400" dirty="0">
                <a:latin typeface="Montserrat" panose="00000500000000000000" pitchFamily="2" charset="0"/>
              </a:rPr>
              <a:t>El contribuyente al momento de concretar la operación y recibir el pago de la contraprestación, debe emitir un CFDI de tipo “I” (Ingreso.</a:t>
            </a:r>
            <a:endParaRPr lang="es-MX" sz="2400" dirty="0"/>
          </a:p>
        </p:txBody>
      </p:sp>
      <p:sp>
        <p:nvSpPr>
          <p:cNvPr id="5" name="CuadroTexto 4">
            <a:extLst>
              <a:ext uri="{FF2B5EF4-FFF2-40B4-BE49-F238E27FC236}">
                <a16:creationId xmlns:a16="http://schemas.microsoft.com/office/drawing/2014/main" id="{EAC4B949-E0C8-B34C-4F2D-044147CDFED6}"/>
              </a:ext>
            </a:extLst>
          </p:cNvPr>
          <p:cNvSpPr txBox="1"/>
          <p:nvPr/>
        </p:nvSpPr>
        <p:spPr>
          <a:xfrm>
            <a:off x="4500880" y="1148080"/>
            <a:ext cx="6978357" cy="5081391"/>
          </a:xfrm>
          <a:prstGeom prst="rect">
            <a:avLst/>
          </a:prstGeom>
          <a:noFill/>
        </p:spPr>
        <p:txBody>
          <a:bodyPr wrap="square" rtlCol="0">
            <a:spAutoFit/>
          </a:bodyPr>
          <a:lstStyle/>
          <a:p>
            <a:pPr marL="228600" lvl="0" indent="-228600">
              <a:lnSpc>
                <a:spcPct val="80000"/>
              </a:lnSpc>
              <a:spcBef>
                <a:spcPts val="1000"/>
              </a:spcBef>
              <a:buFont typeface="Arial" panose="020B0604020202020204" pitchFamily="34" charset="0"/>
              <a:buChar char="•"/>
            </a:pPr>
            <a:r>
              <a:rPr lang="es-MX" dirty="0">
                <a:latin typeface="Montserrat" panose="00000500000000000000" pitchFamily="2" charset="0"/>
              </a:rPr>
              <a:t>Tipo De Comprobante: “I” (Ingreso).</a:t>
            </a:r>
            <a:endParaRPr lang="en-US"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dirty="0">
                <a:latin typeface="Montserrat" panose="00000500000000000000" pitchFamily="2" charset="0"/>
              </a:rPr>
              <a:t>Forma Pago: La forma con la que se realizará el pago o si es PPD “por definir”.</a:t>
            </a:r>
            <a:endParaRPr lang="en-US"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dirty="0">
                <a:latin typeface="Montserrat" panose="00000500000000000000" pitchFamily="2" charset="0"/>
              </a:rPr>
              <a:t>Método Pago: </a:t>
            </a:r>
            <a:r>
              <a:rPr lang="es-MX" sz="1800" dirty="0">
                <a:latin typeface="Montserrat" panose="00000500000000000000" pitchFamily="2" charset="0"/>
              </a:rPr>
              <a:t>“PUE” (Pago en una sola exhibición) </a:t>
            </a:r>
            <a:endParaRPr lang="es-MX" dirty="0">
              <a:latin typeface="Montserrat" panose="00000500000000000000" pitchFamily="2" charset="0"/>
            </a:endParaRPr>
          </a:p>
          <a:p>
            <a:pPr marL="228600" indent="-228600">
              <a:lnSpc>
                <a:spcPct val="80000"/>
              </a:lnSpc>
              <a:spcBef>
                <a:spcPts val="1000"/>
              </a:spcBef>
              <a:buFont typeface="Arial" panose="020B0604020202020204" pitchFamily="34" charset="0"/>
              <a:buChar char="•"/>
            </a:pPr>
            <a:r>
              <a:rPr lang="es-MX" dirty="0">
                <a:latin typeface="Montserrat" panose="00000500000000000000" pitchFamily="2" charset="0"/>
              </a:rPr>
              <a:t>Uso de </a:t>
            </a:r>
            <a:r>
              <a:rPr lang="es-MX" dirty="0" err="1">
                <a:latin typeface="Montserrat" panose="00000500000000000000" pitchFamily="2" charset="0"/>
              </a:rPr>
              <a:t>Cfdi</a:t>
            </a:r>
            <a:r>
              <a:rPr lang="es-MX" dirty="0">
                <a:latin typeface="Montserrat" panose="00000500000000000000" pitchFamily="2" charset="0"/>
              </a:rPr>
              <a:t>: De acuerdo al uso que se le dará y de acuerdo a la guía de Uso de CFDI.</a:t>
            </a:r>
            <a:endParaRPr lang="en-US"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dirty="0" err="1">
                <a:latin typeface="Montserrat" panose="00000500000000000000" pitchFamily="2" charset="0"/>
              </a:rPr>
              <a:t>Cfdi</a:t>
            </a:r>
            <a:r>
              <a:rPr lang="es-MX" dirty="0">
                <a:latin typeface="Montserrat" panose="00000500000000000000" pitchFamily="2" charset="0"/>
              </a:rPr>
              <a:t> Relacionado:  En este campo se debe registrar el o los folios fiscales del comprobante (anticipo) a 36 posiciones que se relacionan a esta factura.</a:t>
            </a:r>
            <a:endParaRPr lang="en-US"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dirty="0">
                <a:latin typeface="Montserrat" panose="00000500000000000000" pitchFamily="2" charset="0"/>
              </a:rPr>
              <a:t>Tipo Relación: Se debe registrar la clave “07” (CFDI por aplicación de anticipo) a efecto de relacionar este comprobante con el del anticipo emitido anteriormente</a:t>
            </a:r>
            <a:endParaRPr lang="en-US" dirty="0">
              <a:latin typeface="Montserrat" panose="00000500000000000000" pitchFamily="2" charset="0"/>
            </a:endParaRPr>
          </a:p>
          <a:p>
            <a:pPr marL="228600" lvl="0" indent="-228600">
              <a:lnSpc>
                <a:spcPct val="80000"/>
              </a:lnSpc>
              <a:spcBef>
                <a:spcPts val="1000"/>
              </a:spcBef>
              <a:buFont typeface="Arial" panose="020B0604020202020204" pitchFamily="34" charset="0"/>
              <a:buChar char="•"/>
            </a:pPr>
            <a:r>
              <a:rPr lang="es-MX" dirty="0">
                <a:latin typeface="Montserrat" panose="00000500000000000000" pitchFamily="2" charset="0"/>
              </a:rPr>
              <a:t>Es importante mencionar que si en el momento de emitir el CFDI por el valor total de la operación, no se realiza el pago de la diferencia que resulte entre el CFDI por el valor total de la operación y el CFDI de “Egreso”, se debe emitir un CFDI con “Complemento para recepción de pagos” por cada pago recibido.</a:t>
            </a:r>
            <a:endParaRPr lang="en-US" dirty="0">
              <a:latin typeface="Montserrat" panose="00000500000000000000" pitchFamily="2" charset="0"/>
            </a:endParaRPr>
          </a:p>
          <a:p>
            <a:endParaRPr lang="es-MX" sz="1500" dirty="0"/>
          </a:p>
        </p:txBody>
      </p:sp>
      <p:sp>
        <p:nvSpPr>
          <p:cNvPr id="2" name="Título 1">
            <a:extLst>
              <a:ext uri="{FF2B5EF4-FFF2-40B4-BE49-F238E27FC236}">
                <a16:creationId xmlns:a16="http://schemas.microsoft.com/office/drawing/2014/main" id="{3FA83EBD-F734-9A75-BEC6-B2417BC16CC4}"/>
              </a:ext>
            </a:extLst>
          </p:cNvPr>
          <p:cNvSpPr txBox="1">
            <a:spLocks/>
          </p:cNvSpPr>
          <p:nvPr/>
        </p:nvSpPr>
        <p:spPr>
          <a:xfrm>
            <a:off x="2032000" y="198438"/>
            <a:ext cx="9144000" cy="624522"/>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Facturación para un Anticipo y seguimiento…</a:t>
            </a:r>
          </a:p>
        </p:txBody>
      </p:sp>
      <p:sp>
        <p:nvSpPr>
          <p:cNvPr id="3" name="Marcador de número de diapositiva 2">
            <a:extLst>
              <a:ext uri="{FF2B5EF4-FFF2-40B4-BE49-F238E27FC236}">
                <a16:creationId xmlns:a16="http://schemas.microsoft.com/office/drawing/2014/main" id="{F178D8C2-BFDF-E77D-25A7-9687350CF924}"/>
              </a:ext>
            </a:extLst>
          </p:cNvPr>
          <p:cNvSpPr>
            <a:spLocks noGrp="1"/>
          </p:cNvSpPr>
          <p:nvPr>
            <p:ph type="sldNum" sz="quarter" idx="12"/>
          </p:nvPr>
        </p:nvSpPr>
        <p:spPr/>
        <p:txBody>
          <a:bodyPr/>
          <a:lstStyle/>
          <a:p>
            <a:fld id="{C9658827-CBDC-4B20-86BA-A047A5186DE9}" type="slidenum">
              <a:rPr lang="es-MX" smtClean="0"/>
              <a:t>7</a:t>
            </a:fld>
            <a:endParaRPr lang="es-MX"/>
          </a:p>
        </p:txBody>
      </p:sp>
    </p:spTree>
    <p:extLst>
      <p:ext uri="{BB962C8B-B14F-4D97-AF65-F5344CB8AC3E}">
        <p14:creationId xmlns:p14="http://schemas.microsoft.com/office/powerpoint/2010/main" val="433093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633AB8B4-87AD-F4ED-E624-33DDDE46BB5C}"/>
              </a:ext>
            </a:extLst>
          </p:cNvPr>
          <p:cNvSpPr txBox="1">
            <a:spLocks/>
          </p:cNvSpPr>
          <p:nvPr/>
        </p:nvSpPr>
        <p:spPr>
          <a:xfrm>
            <a:off x="1075766" y="1188636"/>
            <a:ext cx="3116405" cy="5141825"/>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b="1" dirty="0">
                <a:latin typeface="Montserrat" panose="00000500000000000000" pitchFamily="2" charset="0"/>
              </a:rPr>
              <a:t>III. Emisión de un CFDI de tipo “Egreso”. </a:t>
            </a:r>
            <a:br>
              <a:rPr lang="es-MX" sz="2400" b="1" dirty="0">
                <a:latin typeface="Montserrat" panose="00000500000000000000" pitchFamily="2" charset="0"/>
              </a:rPr>
            </a:br>
            <a:br>
              <a:rPr lang="es-MX" sz="2400" b="1" dirty="0">
                <a:latin typeface="Montserrat" panose="00000500000000000000" pitchFamily="2" charset="0"/>
              </a:rPr>
            </a:br>
            <a:r>
              <a:rPr lang="es-MX" sz="2600" dirty="0">
                <a:latin typeface="Montserrat" panose="00000500000000000000" pitchFamily="2" charset="0"/>
              </a:rPr>
              <a:t>Posteriormente a la emisión del CFDI por el valor total de la operación, el contribuyente debe emitir un CFDI de tipo “Egreso” por el valor del anticipo aplicado y registrar en los siguientes campos la información que a continuación se describe:</a:t>
            </a:r>
            <a:endParaRPr lang="es-MX" sz="1700" dirty="0"/>
          </a:p>
        </p:txBody>
      </p:sp>
      <p:sp>
        <p:nvSpPr>
          <p:cNvPr id="5" name="Marcador de contenido 2">
            <a:extLst>
              <a:ext uri="{FF2B5EF4-FFF2-40B4-BE49-F238E27FC236}">
                <a16:creationId xmlns:a16="http://schemas.microsoft.com/office/drawing/2014/main" id="{626B48E1-1590-F9E1-C38C-B75BFBB52B05}"/>
              </a:ext>
            </a:extLst>
          </p:cNvPr>
          <p:cNvSpPr txBox="1">
            <a:spLocks/>
          </p:cNvSpPr>
          <p:nvPr/>
        </p:nvSpPr>
        <p:spPr>
          <a:xfrm>
            <a:off x="5213056" y="1406768"/>
            <a:ext cx="6308383" cy="4712678"/>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800" dirty="0">
                <a:latin typeface="Montserrat" panose="00000500000000000000" pitchFamily="2" charset="0"/>
              </a:rPr>
              <a:t>Tipo De  Comprobante: “E” (Egreso).</a:t>
            </a:r>
          </a:p>
          <a:p>
            <a:r>
              <a:rPr lang="es-MX" sz="1800" dirty="0">
                <a:latin typeface="Montserrat" panose="00000500000000000000" pitchFamily="2" charset="0"/>
              </a:rPr>
              <a:t>Forma Pago: “30” (Aplicación de anticipo).</a:t>
            </a:r>
          </a:p>
          <a:p>
            <a:r>
              <a:rPr lang="es-MX" sz="1800" dirty="0">
                <a:latin typeface="Montserrat" panose="00000500000000000000" pitchFamily="2" charset="0"/>
              </a:rPr>
              <a:t>Método Pago: “PUE” (Pago en una sola exhibición) </a:t>
            </a:r>
          </a:p>
          <a:p>
            <a:r>
              <a:rPr lang="es-MX" sz="1800" dirty="0" err="1">
                <a:latin typeface="Montserrat" panose="00000500000000000000" pitchFamily="2" charset="0"/>
              </a:rPr>
              <a:t>Cfdi</a:t>
            </a:r>
            <a:r>
              <a:rPr lang="es-MX" sz="1800" dirty="0">
                <a:latin typeface="Montserrat" panose="00000500000000000000" pitchFamily="2" charset="0"/>
              </a:rPr>
              <a:t> Relacionados: Se debe registrar el folio fiscal del comprobante emitido por el valor total de la operación a 36 posiciones que se relaciona a esta factura. </a:t>
            </a:r>
          </a:p>
          <a:p>
            <a:r>
              <a:rPr lang="es-MX" sz="1800" dirty="0">
                <a:latin typeface="Montserrat" panose="00000500000000000000" pitchFamily="2" charset="0"/>
              </a:rPr>
              <a:t>Tipo </a:t>
            </a:r>
            <a:r>
              <a:rPr lang="es-MX" sz="1800" dirty="0" err="1">
                <a:latin typeface="Montserrat" panose="00000500000000000000" pitchFamily="2" charset="0"/>
              </a:rPr>
              <a:t>Relacion</a:t>
            </a:r>
            <a:r>
              <a:rPr lang="es-MX" sz="1800" dirty="0">
                <a:latin typeface="Montserrat" panose="00000500000000000000" pitchFamily="2" charset="0"/>
              </a:rPr>
              <a:t>: “07” (CFDI por aplicación de anticipo), a efecto de relacionar este comprobante con el CFDI por el valor total de la operación emitido anteriormente. </a:t>
            </a:r>
          </a:p>
          <a:p>
            <a:r>
              <a:rPr lang="es-MX" sz="1800" dirty="0">
                <a:latin typeface="Montserrat" panose="00000500000000000000" pitchFamily="2" charset="0"/>
              </a:rPr>
              <a:t>Concepto: Solo debe existir un concepto en este comprobante. </a:t>
            </a:r>
          </a:p>
          <a:p>
            <a:r>
              <a:rPr lang="es-MX" sz="1800" dirty="0">
                <a:latin typeface="Montserrat" panose="00000500000000000000" pitchFamily="2" charset="0"/>
              </a:rPr>
              <a:t>Uso de </a:t>
            </a:r>
            <a:r>
              <a:rPr lang="es-MX" sz="1800" dirty="0" err="1">
                <a:latin typeface="Montserrat" panose="00000500000000000000" pitchFamily="2" charset="0"/>
              </a:rPr>
              <a:t>Cfdi</a:t>
            </a:r>
            <a:r>
              <a:rPr lang="es-MX" sz="1800" dirty="0">
                <a:latin typeface="Montserrat" panose="00000500000000000000" pitchFamily="2" charset="0"/>
              </a:rPr>
              <a:t>: G02. Devoluciones, Descuentos o bonificaciones.</a:t>
            </a:r>
          </a:p>
        </p:txBody>
      </p:sp>
      <p:sp>
        <p:nvSpPr>
          <p:cNvPr id="2" name="Título 1">
            <a:extLst>
              <a:ext uri="{FF2B5EF4-FFF2-40B4-BE49-F238E27FC236}">
                <a16:creationId xmlns:a16="http://schemas.microsoft.com/office/drawing/2014/main" id="{F54D470C-5467-A728-5E84-F0B9D8FFF3F8}"/>
              </a:ext>
            </a:extLst>
          </p:cNvPr>
          <p:cNvSpPr txBox="1">
            <a:spLocks/>
          </p:cNvSpPr>
          <p:nvPr/>
        </p:nvSpPr>
        <p:spPr>
          <a:xfrm>
            <a:off x="2032000" y="198438"/>
            <a:ext cx="9144000" cy="624522"/>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Facturación para un Anticipo y seguimiento…</a:t>
            </a:r>
          </a:p>
        </p:txBody>
      </p:sp>
      <p:sp>
        <p:nvSpPr>
          <p:cNvPr id="3" name="Marcador de número de diapositiva 2">
            <a:extLst>
              <a:ext uri="{FF2B5EF4-FFF2-40B4-BE49-F238E27FC236}">
                <a16:creationId xmlns:a16="http://schemas.microsoft.com/office/drawing/2014/main" id="{6A24AEB9-4F59-4CED-4953-4743C6BE11FD}"/>
              </a:ext>
            </a:extLst>
          </p:cNvPr>
          <p:cNvSpPr>
            <a:spLocks noGrp="1"/>
          </p:cNvSpPr>
          <p:nvPr>
            <p:ph type="sldNum" sz="quarter" idx="12"/>
          </p:nvPr>
        </p:nvSpPr>
        <p:spPr/>
        <p:txBody>
          <a:bodyPr/>
          <a:lstStyle/>
          <a:p>
            <a:fld id="{C9658827-CBDC-4B20-86BA-A047A5186DE9}" type="slidenum">
              <a:rPr lang="es-MX" smtClean="0"/>
              <a:t>8</a:t>
            </a:fld>
            <a:endParaRPr lang="es-MX"/>
          </a:p>
        </p:txBody>
      </p:sp>
    </p:spTree>
    <p:extLst>
      <p:ext uri="{BB962C8B-B14F-4D97-AF65-F5344CB8AC3E}">
        <p14:creationId xmlns:p14="http://schemas.microsoft.com/office/powerpoint/2010/main" val="1551892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133F349-5D15-34F2-6644-84379280C813}"/>
              </a:ext>
            </a:extLst>
          </p:cNvPr>
          <p:cNvSpPr txBox="1">
            <a:spLocks/>
          </p:cNvSpPr>
          <p:nvPr/>
        </p:nvSpPr>
        <p:spPr>
          <a:xfrm>
            <a:off x="1216444" y="678724"/>
            <a:ext cx="2988234" cy="55005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b="1" dirty="0">
                <a:latin typeface="Montserrat" panose="00000500000000000000" pitchFamily="2" charset="0"/>
              </a:rPr>
              <a:t>III. Emisión de un CFDI de tipo “Egreso”.</a:t>
            </a:r>
            <a:br>
              <a:rPr lang="es-MX" sz="2700" b="1" dirty="0">
                <a:latin typeface="Montserrat" panose="00000500000000000000" pitchFamily="2" charset="0"/>
              </a:rPr>
            </a:br>
            <a:br>
              <a:rPr lang="es-MX" sz="2400" dirty="0">
                <a:latin typeface="Montserrat" panose="00000500000000000000" pitchFamily="2" charset="0"/>
              </a:rPr>
            </a:br>
            <a:r>
              <a:rPr lang="es-MX" sz="2200" dirty="0">
                <a:latin typeface="Montserrat" panose="00000500000000000000" pitchFamily="2" charset="0"/>
              </a:rPr>
              <a:t>Posteriormente a la emisión del CFDI por el valor total de la operación, el contribuyente debe emitir un CFDI de tipo “Egreso” por el valor del anticipo aplicado.</a:t>
            </a:r>
          </a:p>
        </p:txBody>
      </p:sp>
      <p:sp>
        <p:nvSpPr>
          <p:cNvPr id="5" name="Marcador de contenido 2">
            <a:extLst>
              <a:ext uri="{FF2B5EF4-FFF2-40B4-BE49-F238E27FC236}">
                <a16:creationId xmlns:a16="http://schemas.microsoft.com/office/drawing/2014/main" id="{29AF1F37-6AD3-73C7-587F-25332ABF99FE}"/>
              </a:ext>
            </a:extLst>
          </p:cNvPr>
          <p:cNvSpPr txBox="1">
            <a:spLocks/>
          </p:cNvSpPr>
          <p:nvPr/>
        </p:nvSpPr>
        <p:spPr>
          <a:xfrm>
            <a:off x="5255260" y="995680"/>
            <a:ext cx="6364654" cy="494088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800" dirty="0">
                <a:latin typeface="Montserrat" panose="00000500000000000000" pitchFamily="2" charset="0"/>
              </a:rPr>
              <a:t>Clave </a:t>
            </a:r>
            <a:r>
              <a:rPr lang="es-MX" sz="1800" dirty="0" err="1">
                <a:latin typeface="Montserrat" panose="00000500000000000000" pitchFamily="2" charset="0"/>
              </a:rPr>
              <a:t>Prod</a:t>
            </a:r>
            <a:r>
              <a:rPr lang="es-MX" sz="1800" dirty="0">
                <a:latin typeface="Montserrat" panose="00000500000000000000" pitchFamily="2" charset="0"/>
              </a:rPr>
              <a:t> </a:t>
            </a:r>
            <a:r>
              <a:rPr lang="es-MX" sz="1800" dirty="0" err="1">
                <a:latin typeface="Montserrat" panose="00000500000000000000" pitchFamily="2" charset="0"/>
              </a:rPr>
              <a:t>Serv</a:t>
            </a:r>
            <a:r>
              <a:rPr lang="es-MX" sz="1800" dirty="0">
                <a:latin typeface="Montserrat" panose="00000500000000000000" pitchFamily="2" charset="0"/>
              </a:rPr>
              <a:t>: clave “84111506” (Servicios de facturación).</a:t>
            </a:r>
          </a:p>
          <a:p>
            <a:r>
              <a:rPr lang="es-MX" sz="1800" dirty="0">
                <a:latin typeface="Montserrat" panose="00000500000000000000" pitchFamily="2" charset="0"/>
              </a:rPr>
              <a:t>Cantidad: Se debe registrar el valor “1”.</a:t>
            </a:r>
          </a:p>
          <a:p>
            <a:r>
              <a:rPr lang="es-MX" sz="1800" dirty="0">
                <a:latin typeface="Montserrat" panose="00000500000000000000" pitchFamily="2" charset="0"/>
              </a:rPr>
              <a:t>Clave Unidad: clave “ACT” (Actividad).</a:t>
            </a:r>
          </a:p>
          <a:p>
            <a:r>
              <a:rPr lang="es-MX" sz="1800" dirty="0" err="1">
                <a:latin typeface="Montserrat" panose="00000500000000000000" pitchFamily="2" charset="0"/>
              </a:rPr>
              <a:t>Descripcion</a:t>
            </a:r>
            <a:r>
              <a:rPr lang="es-MX" sz="1800" dirty="0">
                <a:latin typeface="Montserrat" panose="00000500000000000000" pitchFamily="2" charset="0"/>
              </a:rPr>
              <a:t>: En este campo se debe registrar el valor “Aplicación de anticipo”.</a:t>
            </a:r>
          </a:p>
          <a:p>
            <a:r>
              <a:rPr lang="es-MX" sz="1800" dirty="0">
                <a:latin typeface="Montserrat" panose="00000500000000000000" pitchFamily="2" charset="0"/>
              </a:rPr>
              <a:t>Valor Unitario: El monto descontado como anticipo antes de impuestos.</a:t>
            </a:r>
          </a:p>
          <a:p>
            <a:r>
              <a:rPr lang="es-MX" sz="1800" dirty="0">
                <a:latin typeface="Montserrat" panose="00000500000000000000" pitchFamily="2" charset="0"/>
              </a:rPr>
              <a:t>Se precisa que la fecha de emisión del CFDI de tipo “I” (Ingreso) por el valor total de la operación y el CFDI de tipo “E” (Egreso) debe ser preferentemente la misma, debiendo emitir primero el CFDI de tipo “I” (Ingreso) por el valor total de la operación y posteriormente el CFDI de tipo “E” (Egreso).</a:t>
            </a:r>
          </a:p>
          <a:p>
            <a:endParaRPr lang="es-MX" sz="1300" dirty="0"/>
          </a:p>
        </p:txBody>
      </p:sp>
      <p:sp>
        <p:nvSpPr>
          <p:cNvPr id="2" name="Título 1">
            <a:extLst>
              <a:ext uri="{FF2B5EF4-FFF2-40B4-BE49-F238E27FC236}">
                <a16:creationId xmlns:a16="http://schemas.microsoft.com/office/drawing/2014/main" id="{2ED72EFE-F059-F578-56AF-EC1A8C2E92A6}"/>
              </a:ext>
            </a:extLst>
          </p:cNvPr>
          <p:cNvSpPr txBox="1">
            <a:spLocks/>
          </p:cNvSpPr>
          <p:nvPr/>
        </p:nvSpPr>
        <p:spPr>
          <a:xfrm>
            <a:off x="2032000" y="198438"/>
            <a:ext cx="9144000" cy="624522"/>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t>Facturación para un Anticipo y seguimiento…</a:t>
            </a:r>
          </a:p>
        </p:txBody>
      </p:sp>
      <p:sp>
        <p:nvSpPr>
          <p:cNvPr id="3" name="Marcador de número de diapositiva 2">
            <a:extLst>
              <a:ext uri="{FF2B5EF4-FFF2-40B4-BE49-F238E27FC236}">
                <a16:creationId xmlns:a16="http://schemas.microsoft.com/office/drawing/2014/main" id="{907B48C4-46F2-CC69-3DFB-4F580CD8C621}"/>
              </a:ext>
            </a:extLst>
          </p:cNvPr>
          <p:cNvSpPr>
            <a:spLocks noGrp="1"/>
          </p:cNvSpPr>
          <p:nvPr>
            <p:ph type="sldNum" sz="quarter" idx="12"/>
          </p:nvPr>
        </p:nvSpPr>
        <p:spPr/>
        <p:txBody>
          <a:bodyPr/>
          <a:lstStyle/>
          <a:p>
            <a:fld id="{C9658827-CBDC-4B20-86BA-A047A5186DE9}" type="slidenum">
              <a:rPr lang="es-MX" smtClean="0"/>
              <a:t>9</a:t>
            </a:fld>
            <a:endParaRPr lang="es-MX"/>
          </a:p>
        </p:txBody>
      </p:sp>
    </p:spTree>
    <p:extLst>
      <p:ext uri="{BB962C8B-B14F-4D97-AF65-F5344CB8AC3E}">
        <p14:creationId xmlns:p14="http://schemas.microsoft.com/office/powerpoint/2010/main" val="1627778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8AE765F-F882-3B32-2B58-0197455D6308}"/>
              </a:ext>
            </a:extLst>
          </p:cNvPr>
          <p:cNvSpPr txBox="1">
            <a:spLocks/>
          </p:cNvSpPr>
          <p:nvPr/>
        </p:nvSpPr>
        <p:spPr>
          <a:xfrm>
            <a:off x="2099401" y="111759"/>
            <a:ext cx="9984615" cy="7689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4000" dirty="0"/>
              <a:t>Ejemplo 1 Anticipo aplicado en su totalidad.</a:t>
            </a:r>
          </a:p>
        </p:txBody>
      </p:sp>
      <p:pic>
        <p:nvPicPr>
          <p:cNvPr id="6" name="Imagen 5">
            <a:extLst>
              <a:ext uri="{FF2B5EF4-FFF2-40B4-BE49-F238E27FC236}">
                <a16:creationId xmlns:a16="http://schemas.microsoft.com/office/drawing/2014/main" id="{B1AB0128-6E57-1507-2491-2714C6BB077A}"/>
              </a:ext>
            </a:extLst>
          </p:cNvPr>
          <p:cNvPicPr>
            <a:picLocks noChangeAspect="1"/>
          </p:cNvPicPr>
          <p:nvPr/>
        </p:nvPicPr>
        <p:blipFill>
          <a:blip r:embed="rId2"/>
          <a:stretch>
            <a:fillRect/>
          </a:stretch>
        </p:blipFill>
        <p:spPr>
          <a:xfrm>
            <a:off x="126123" y="1529938"/>
            <a:ext cx="11932244" cy="4313812"/>
          </a:xfrm>
          <a:prstGeom prst="rect">
            <a:avLst/>
          </a:prstGeom>
        </p:spPr>
      </p:pic>
      <p:sp>
        <p:nvSpPr>
          <p:cNvPr id="7" name="Marcador de número de diapositiva 6">
            <a:extLst>
              <a:ext uri="{FF2B5EF4-FFF2-40B4-BE49-F238E27FC236}">
                <a16:creationId xmlns:a16="http://schemas.microsoft.com/office/drawing/2014/main" id="{BDCD1CA8-B4A5-5ABD-7AF5-EEBA2B2ED4FF}"/>
              </a:ext>
            </a:extLst>
          </p:cNvPr>
          <p:cNvSpPr>
            <a:spLocks noGrp="1"/>
          </p:cNvSpPr>
          <p:nvPr>
            <p:ph type="sldNum" sz="quarter" idx="12"/>
          </p:nvPr>
        </p:nvSpPr>
        <p:spPr/>
        <p:txBody>
          <a:bodyPr/>
          <a:lstStyle/>
          <a:p>
            <a:fld id="{C9658827-CBDC-4B20-86BA-A047A5186DE9}" type="slidenum">
              <a:rPr lang="es-MX" smtClean="0"/>
              <a:t>10</a:t>
            </a:fld>
            <a:endParaRPr lang="es-MX"/>
          </a:p>
        </p:txBody>
      </p:sp>
    </p:spTree>
    <p:extLst>
      <p:ext uri="{BB962C8B-B14F-4D97-AF65-F5344CB8AC3E}">
        <p14:creationId xmlns:p14="http://schemas.microsoft.com/office/powerpoint/2010/main" val="2511861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7CEB5038-BEF6-950C-46AE-2D44931A1871}"/>
              </a:ext>
            </a:extLst>
          </p:cNvPr>
          <p:cNvSpPr>
            <a:spLocks noGrp="1"/>
          </p:cNvSpPr>
          <p:nvPr>
            <p:ph type="title"/>
          </p:nvPr>
        </p:nvSpPr>
        <p:spPr>
          <a:xfrm>
            <a:off x="2144111" y="178674"/>
            <a:ext cx="8721064" cy="623001"/>
          </a:xfrm>
        </p:spPr>
        <p:txBody>
          <a:bodyPr vert="horz" lIns="91440" tIns="45720" rIns="91440" bIns="45720" rtlCol="0" anchor="ctr">
            <a:normAutofit/>
          </a:bodyPr>
          <a:lstStyle/>
          <a:p>
            <a:r>
              <a:rPr lang="en-US" sz="3700" kern="1200" dirty="0" err="1">
                <a:solidFill>
                  <a:schemeClr val="tx1"/>
                </a:solidFill>
                <a:latin typeface="+mj-lt"/>
                <a:ea typeface="+mj-ea"/>
                <a:cs typeface="+mj-cs"/>
              </a:rPr>
              <a:t>Ejemplo</a:t>
            </a:r>
            <a:r>
              <a:rPr lang="en-US" sz="3700" kern="1200" dirty="0">
                <a:solidFill>
                  <a:schemeClr val="tx1"/>
                </a:solidFill>
                <a:latin typeface="+mj-lt"/>
                <a:ea typeface="+mj-ea"/>
                <a:cs typeface="+mj-cs"/>
              </a:rPr>
              <a:t> 2 </a:t>
            </a:r>
            <a:r>
              <a:rPr lang="en-US" sz="3700" kern="1200" dirty="0" err="1">
                <a:solidFill>
                  <a:schemeClr val="tx1"/>
                </a:solidFill>
                <a:latin typeface="+mj-lt"/>
                <a:ea typeface="+mj-ea"/>
                <a:cs typeface="+mj-cs"/>
              </a:rPr>
              <a:t>Anticipo</a:t>
            </a:r>
            <a:r>
              <a:rPr lang="en-US" sz="3700" kern="1200" dirty="0">
                <a:solidFill>
                  <a:schemeClr val="tx1"/>
                </a:solidFill>
                <a:latin typeface="+mj-lt"/>
                <a:ea typeface="+mj-ea"/>
                <a:cs typeface="+mj-cs"/>
              </a:rPr>
              <a:t> </a:t>
            </a:r>
            <a:r>
              <a:rPr lang="en-US" sz="3700" kern="1200" dirty="0" err="1">
                <a:solidFill>
                  <a:schemeClr val="tx1"/>
                </a:solidFill>
                <a:latin typeface="+mj-lt"/>
                <a:ea typeface="+mj-ea"/>
                <a:cs typeface="+mj-cs"/>
              </a:rPr>
              <a:t>aplicado</a:t>
            </a:r>
            <a:r>
              <a:rPr lang="en-US" sz="3700" kern="1200" dirty="0">
                <a:solidFill>
                  <a:schemeClr val="tx1"/>
                </a:solidFill>
                <a:latin typeface="+mj-lt"/>
                <a:ea typeface="+mj-ea"/>
                <a:cs typeface="+mj-cs"/>
              </a:rPr>
              <a:t> con </a:t>
            </a:r>
            <a:r>
              <a:rPr lang="en-US" sz="3700" kern="1200" dirty="0" err="1">
                <a:solidFill>
                  <a:schemeClr val="tx1"/>
                </a:solidFill>
                <a:latin typeface="+mj-lt"/>
                <a:ea typeface="+mj-ea"/>
                <a:cs typeface="+mj-cs"/>
              </a:rPr>
              <a:t>remanente</a:t>
            </a:r>
            <a:r>
              <a:rPr lang="en-US" sz="3700" kern="1200" dirty="0">
                <a:solidFill>
                  <a:schemeClr val="tx1"/>
                </a:solidFill>
                <a:latin typeface="+mj-lt"/>
                <a:ea typeface="+mj-ea"/>
                <a:cs typeface="+mj-cs"/>
              </a:rPr>
              <a:t>.</a:t>
            </a:r>
          </a:p>
        </p:txBody>
      </p:sp>
      <p:pic>
        <p:nvPicPr>
          <p:cNvPr id="9" name="Marcador de contenido 4">
            <a:extLst>
              <a:ext uri="{FF2B5EF4-FFF2-40B4-BE49-F238E27FC236}">
                <a16:creationId xmlns:a16="http://schemas.microsoft.com/office/drawing/2014/main" id="{6505F186-21D6-4400-67D1-B214832E9B9B}"/>
              </a:ext>
            </a:extLst>
          </p:cNvPr>
          <p:cNvPicPr>
            <a:picLocks noGrp="1" noChangeAspect="1"/>
          </p:cNvPicPr>
          <p:nvPr>
            <p:ph idx="1"/>
          </p:nvPr>
        </p:nvPicPr>
        <p:blipFill>
          <a:blip r:embed="rId2"/>
          <a:stretch>
            <a:fillRect/>
          </a:stretch>
        </p:blipFill>
        <p:spPr>
          <a:xfrm>
            <a:off x="419112" y="1247091"/>
            <a:ext cx="10319937" cy="5159969"/>
          </a:xfrm>
          <a:prstGeom prst="rect">
            <a:avLst/>
          </a:prstGeom>
        </p:spPr>
      </p:pic>
      <p:sp>
        <p:nvSpPr>
          <p:cNvPr id="10" name="Marcador de número de diapositiva 9">
            <a:extLst>
              <a:ext uri="{FF2B5EF4-FFF2-40B4-BE49-F238E27FC236}">
                <a16:creationId xmlns:a16="http://schemas.microsoft.com/office/drawing/2014/main" id="{436856E8-BEB8-E0B5-246D-14BEB96029F3}"/>
              </a:ext>
            </a:extLst>
          </p:cNvPr>
          <p:cNvSpPr>
            <a:spLocks noGrp="1"/>
          </p:cNvSpPr>
          <p:nvPr>
            <p:ph type="sldNum" sz="quarter" idx="12"/>
          </p:nvPr>
        </p:nvSpPr>
        <p:spPr/>
        <p:txBody>
          <a:bodyPr/>
          <a:lstStyle/>
          <a:p>
            <a:fld id="{C9658827-CBDC-4B20-86BA-A047A5186DE9}" type="slidenum">
              <a:rPr lang="es-MX" smtClean="0"/>
              <a:t>11</a:t>
            </a:fld>
            <a:endParaRPr lang="es-MX"/>
          </a:p>
        </p:txBody>
      </p:sp>
    </p:spTree>
    <p:extLst>
      <p:ext uri="{BB962C8B-B14F-4D97-AF65-F5344CB8AC3E}">
        <p14:creationId xmlns:p14="http://schemas.microsoft.com/office/powerpoint/2010/main" val="207693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4" descr="Texto&#10;&#10;Descripción generada automáticamente">
            <a:extLst>
              <a:ext uri="{FF2B5EF4-FFF2-40B4-BE49-F238E27FC236}">
                <a16:creationId xmlns:a16="http://schemas.microsoft.com/office/drawing/2014/main" id="{F637A4A7-5E01-E640-5CF3-6A3494BBC2D8}"/>
              </a:ext>
            </a:extLst>
          </p:cNvPr>
          <p:cNvPicPr>
            <a:picLocks noChangeAspect="1"/>
          </p:cNvPicPr>
          <p:nvPr/>
        </p:nvPicPr>
        <p:blipFill>
          <a:blip r:embed="rId2"/>
          <a:stretch>
            <a:fillRect/>
          </a:stretch>
        </p:blipFill>
        <p:spPr>
          <a:xfrm>
            <a:off x="643467" y="1054347"/>
            <a:ext cx="10905066" cy="5043592"/>
          </a:xfrm>
          <a:prstGeom prst="rect">
            <a:avLst/>
          </a:prstGeom>
          <a:ln>
            <a:noFill/>
          </a:ln>
        </p:spPr>
      </p:pic>
      <p:sp>
        <p:nvSpPr>
          <p:cNvPr id="5" name="Marcador de número de diapositiva 4">
            <a:extLst>
              <a:ext uri="{FF2B5EF4-FFF2-40B4-BE49-F238E27FC236}">
                <a16:creationId xmlns:a16="http://schemas.microsoft.com/office/drawing/2014/main" id="{77FA68C8-DFAB-0CE8-7488-41137CE17948}"/>
              </a:ext>
            </a:extLst>
          </p:cNvPr>
          <p:cNvSpPr>
            <a:spLocks noGrp="1"/>
          </p:cNvSpPr>
          <p:nvPr>
            <p:ph type="sldNum" sz="quarter" idx="12"/>
          </p:nvPr>
        </p:nvSpPr>
        <p:spPr/>
        <p:txBody>
          <a:bodyPr/>
          <a:lstStyle/>
          <a:p>
            <a:fld id="{C9658827-CBDC-4B20-86BA-A047A5186DE9}" type="slidenum">
              <a:rPr lang="es-MX" smtClean="0"/>
              <a:t>12</a:t>
            </a:fld>
            <a:endParaRPr lang="es-MX"/>
          </a:p>
        </p:txBody>
      </p:sp>
    </p:spTree>
    <p:extLst>
      <p:ext uri="{BB962C8B-B14F-4D97-AF65-F5344CB8AC3E}">
        <p14:creationId xmlns:p14="http://schemas.microsoft.com/office/powerpoint/2010/main" val="3309063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4" descr="Interfaz de usuario gráfica, Aplicación&#10;&#10;Descripción generada automáticamente">
            <a:extLst>
              <a:ext uri="{FF2B5EF4-FFF2-40B4-BE49-F238E27FC236}">
                <a16:creationId xmlns:a16="http://schemas.microsoft.com/office/drawing/2014/main" id="{0396B1BD-98FB-2856-F555-C530A5B938B0}"/>
              </a:ext>
            </a:extLst>
          </p:cNvPr>
          <p:cNvPicPr>
            <a:picLocks noChangeAspect="1"/>
          </p:cNvPicPr>
          <p:nvPr/>
        </p:nvPicPr>
        <p:blipFill>
          <a:blip r:embed="rId2"/>
          <a:stretch>
            <a:fillRect/>
          </a:stretch>
        </p:blipFill>
        <p:spPr>
          <a:xfrm>
            <a:off x="1825281" y="223053"/>
            <a:ext cx="9294664" cy="6459792"/>
          </a:xfrm>
          <a:prstGeom prst="rect">
            <a:avLst/>
          </a:prstGeom>
          <a:ln>
            <a:noFill/>
          </a:ln>
        </p:spPr>
      </p:pic>
      <p:sp>
        <p:nvSpPr>
          <p:cNvPr id="5" name="Marcador de número de diapositiva 4">
            <a:extLst>
              <a:ext uri="{FF2B5EF4-FFF2-40B4-BE49-F238E27FC236}">
                <a16:creationId xmlns:a16="http://schemas.microsoft.com/office/drawing/2014/main" id="{FFCD5E5E-A85A-10DE-AA63-ECA0EC369855}"/>
              </a:ext>
            </a:extLst>
          </p:cNvPr>
          <p:cNvSpPr>
            <a:spLocks noGrp="1"/>
          </p:cNvSpPr>
          <p:nvPr>
            <p:ph type="sldNum" sz="quarter" idx="12"/>
          </p:nvPr>
        </p:nvSpPr>
        <p:spPr/>
        <p:txBody>
          <a:bodyPr/>
          <a:lstStyle/>
          <a:p>
            <a:fld id="{C9658827-CBDC-4B20-86BA-A047A5186DE9}" type="slidenum">
              <a:rPr lang="es-MX" smtClean="0"/>
              <a:t>13</a:t>
            </a:fld>
            <a:endParaRPr lang="es-MX"/>
          </a:p>
        </p:txBody>
      </p:sp>
    </p:spTree>
    <p:extLst>
      <p:ext uri="{BB962C8B-B14F-4D97-AF65-F5344CB8AC3E}">
        <p14:creationId xmlns:p14="http://schemas.microsoft.com/office/powerpoint/2010/main" val="4000086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6">
            <a:extLst>
              <a:ext uri="{FF2B5EF4-FFF2-40B4-BE49-F238E27FC236}">
                <a16:creationId xmlns:a16="http://schemas.microsoft.com/office/drawing/2014/main" id="{398DE45C-00B9-836B-66DB-5FCEBC06D878}"/>
              </a:ext>
            </a:extLst>
          </p:cNvPr>
          <p:cNvPicPr>
            <a:picLocks noChangeAspect="1"/>
          </p:cNvPicPr>
          <p:nvPr/>
        </p:nvPicPr>
        <p:blipFill>
          <a:blip r:embed="rId2"/>
          <a:stretch>
            <a:fillRect/>
          </a:stretch>
        </p:blipFill>
        <p:spPr>
          <a:xfrm>
            <a:off x="386081" y="992530"/>
            <a:ext cx="8246342" cy="5354082"/>
          </a:xfrm>
          <a:prstGeom prst="rect">
            <a:avLst/>
          </a:prstGeom>
        </p:spPr>
      </p:pic>
      <p:pic>
        <p:nvPicPr>
          <p:cNvPr id="5" name="Imagen 4">
            <a:extLst>
              <a:ext uri="{FF2B5EF4-FFF2-40B4-BE49-F238E27FC236}">
                <a16:creationId xmlns:a16="http://schemas.microsoft.com/office/drawing/2014/main" id="{E620476B-FA8B-7C98-3A1E-860D51E8FE01}"/>
              </a:ext>
            </a:extLst>
          </p:cNvPr>
          <p:cNvPicPr>
            <a:picLocks noChangeAspect="1"/>
          </p:cNvPicPr>
          <p:nvPr/>
        </p:nvPicPr>
        <p:blipFill>
          <a:blip r:embed="rId3"/>
          <a:stretch>
            <a:fillRect/>
          </a:stretch>
        </p:blipFill>
        <p:spPr>
          <a:xfrm>
            <a:off x="1948977" y="200179"/>
            <a:ext cx="9879004" cy="443289"/>
          </a:xfrm>
          <a:prstGeom prst="rect">
            <a:avLst/>
          </a:prstGeom>
        </p:spPr>
      </p:pic>
      <p:sp>
        <p:nvSpPr>
          <p:cNvPr id="6" name="Rectángulo: esquina doblada 5">
            <a:extLst>
              <a:ext uri="{FF2B5EF4-FFF2-40B4-BE49-F238E27FC236}">
                <a16:creationId xmlns:a16="http://schemas.microsoft.com/office/drawing/2014/main" id="{CEA75821-000A-F065-E42B-4DF15300A57F}"/>
              </a:ext>
            </a:extLst>
          </p:cNvPr>
          <p:cNvSpPr/>
          <p:nvPr/>
        </p:nvSpPr>
        <p:spPr>
          <a:xfrm>
            <a:off x="8788400" y="992530"/>
            <a:ext cx="2875280" cy="5354082"/>
          </a:xfrm>
          <a:prstGeom prst="foldedCorner">
            <a:avLst/>
          </a:prstGeom>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defTabSz="859536">
              <a:spcAft>
                <a:spcPts val="600"/>
              </a:spcAft>
            </a:pPr>
            <a:r>
              <a:rPr lang="es-MX" sz="1600" b="1" i="1" kern="1200" dirty="0">
                <a:solidFill>
                  <a:srgbClr val="000000"/>
                </a:solidFill>
                <a:latin typeface="Montserrat" panose="00000500000000000000" pitchFamily="2" charset="0"/>
                <a:ea typeface="+mn-ea"/>
                <a:cs typeface="+mn-cs"/>
              </a:rPr>
              <a:t>Nota: </a:t>
            </a:r>
            <a:r>
              <a:rPr lang="es-MX" sz="1600" i="1" kern="1200" dirty="0">
                <a:solidFill>
                  <a:srgbClr val="000000"/>
                </a:solidFill>
                <a:latin typeface="Montserrat" panose="00000500000000000000" pitchFamily="2" charset="0"/>
                <a:ea typeface="+mn-ea"/>
                <a:cs typeface="+mn-cs"/>
              </a:rPr>
              <a:t>Si al emitir la factura, no se recibe el pago de la diferencia entre el valor total de la operación y el anticipo recibido en el campo “Forma Pago” de la factura emitida por el valor total de la operación, se debe registrar la clave PPD (Pago en parcialidades o diferido), y con posterioridad se debe emitir </a:t>
            </a:r>
            <a:r>
              <a:rPr lang="es-MX" sz="1600" i="1" kern="1200" dirty="0" err="1">
                <a:solidFill>
                  <a:srgbClr val="000000"/>
                </a:solidFill>
                <a:latin typeface="Montserrat" panose="00000500000000000000" pitchFamily="2" charset="0"/>
                <a:ea typeface="+mn-ea"/>
                <a:cs typeface="+mn-cs"/>
              </a:rPr>
              <a:t>wl</a:t>
            </a:r>
            <a:r>
              <a:rPr lang="es-MX" sz="1600" i="1" kern="1200" dirty="0">
                <a:solidFill>
                  <a:srgbClr val="000000"/>
                </a:solidFill>
                <a:latin typeface="Montserrat" panose="00000500000000000000" pitchFamily="2" charset="0"/>
                <a:ea typeface="+mn-ea"/>
                <a:cs typeface="+mn-cs"/>
              </a:rPr>
              <a:t> complemento de recepción de pagos por cada pago que se reciba.</a:t>
            </a:r>
            <a:endParaRPr lang="es-MX" sz="1600" dirty="0"/>
          </a:p>
        </p:txBody>
      </p:sp>
      <p:sp>
        <p:nvSpPr>
          <p:cNvPr id="7" name="Marcador de número de diapositiva 6">
            <a:extLst>
              <a:ext uri="{FF2B5EF4-FFF2-40B4-BE49-F238E27FC236}">
                <a16:creationId xmlns:a16="http://schemas.microsoft.com/office/drawing/2014/main" id="{12BF42B8-A8F4-E08C-4383-028D172DDBC8}"/>
              </a:ext>
            </a:extLst>
          </p:cNvPr>
          <p:cNvSpPr>
            <a:spLocks noGrp="1"/>
          </p:cNvSpPr>
          <p:nvPr>
            <p:ph type="sldNum" sz="quarter" idx="12"/>
          </p:nvPr>
        </p:nvSpPr>
        <p:spPr/>
        <p:txBody>
          <a:bodyPr/>
          <a:lstStyle/>
          <a:p>
            <a:fld id="{C9658827-CBDC-4B20-86BA-A047A5186DE9}" type="slidenum">
              <a:rPr lang="es-MX" smtClean="0"/>
              <a:t>14</a:t>
            </a:fld>
            <a:endParaRPr lang="es-MX"/>
          </a:p>
        </p:txBody>
      </p:sp>
    </p:spTree>
    <p:extLst>
      <p:ext uri="{BB962C8B-B14F-4D97-AF65-F5344CB8AC3E}">
        <p14:creationId xmlns:p14="http://schemas.microsoft.com/office/powerpoint/2010/main" val="4243115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B721F82-FFF5-3ABE-F3A1-661C7C356135}"/>
              </a:ext>
            </a:extLst>
          </p:cNvPr>
          <p:cNvPicPr>
            <a:picLocks noChangeAspect="1"/>
          </p:cNvPicPr>
          <p:nvPr/>
        </p:nvPicPr>
        <p:blipFill>
          <a:blip r:embed="rId2"/>
          <a:stretch>
            <a:fillRect/>
          </a:stretch>
        </p:blipFill>
        <p:spPr>
          <a:xfrm>
            <a:off x="264160" y="2019996"/>
            <a:ext cx="11115039" cy="4713090"/>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pic>
        <p:nvPicPr>
          <p:cNvPr id="5" name="Marcador de contenido 4">
            <a:extLst>
              <a:ext uri="{FF2B5EF4-FFF2-40B4-BE49-F238E27FC236}">
                <a16:creationId xmlns:a16="http://schemas.microsoft.com/office/drawing/2014/main" id="{9FCA855C-6055-C83A-1E08-68E595751929}"/>
              </a:ext>
            </a:extLst>
          </p:cNvPr>
          <p:cNvPicPr>
            <a:picLocks noChangeAspect="1"/>
          </p:cNvPicPr>
          <p:nvPr/>
        </p:nvPicPr>
        <p:blipFill>
          <a:blip r:embed="rId3"/>
          <a:stretch>
            <a:fillRect/>
          </a:stretch>
        </p:blipFill>
        <p:spPr>
          <a:xfrm>
            <a:off x="264161" y="240776"/>
            <a:ext cx="10678160" cy="1738580"/>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sp>
        <p:nvSpPr>
          <p:cNvPr id="6" name="Marcador de número de diapositiva 5">
            <a:extLst>
              <a:ext uri="{FF2B5EF4-FFF2-40B4-BE49-F238E27FC236}">
                <a16:creationId xmlns:a16="http://schemas.microsoft.com/office/drawing/2014/main" id="{0E0C5DA2-B828-E6D0-3EB7-6DA5A1D7D5D7}"/>
              </a:ext>
            </a:extLst>
          </p:cNvPr>
          <p:cNvSpPr>
            <a:spLocks noGrp="1"/>
          </p:cNvSpPr>
          <p:nvPr>
            <p:ph type="sldNum" sz="quarter" idx="12"/>
          </p:nvPr>
        </p:nvSpPr>
        <p:spPr/>
        <p:txBody>
          <a:bodyPr/>
          <a:lstStyle/>
          <a:p>
            <a:fld id="{C9658827-CBDC-4B20-86BA-A047A5186DE9}" type="slidenum">
              <a:rPr lang="es-MX" smtClean="0"/>
              <a:t>15</a:t>
            </a:fld>
            <a:endParaRPr lang="es-MX"/>
          </a:p>
        </p:txBody>
      </p:sp>
    </p:spTree>
    <p:extLst>
      <p:ext uri="{BB962C8B-B14F-4D97-AF65-F5344CB8AC3E}">
        <p14:creationId xmlns:p14="http://schemas.microsoft.com/office/powerpoint/2010/main" val="3910506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4EC0BDA5-D1F6-7232-FE53-FE6C5B0DE5FF}"/>
              </a:ext>
            </a:extLst>
          </p:cNvPr>
          <p:cNvSpPr txBox="1">
            <a:spLocks/>
          </p:cNvSpPr>
          <p:nvPr/>
        </p:nvSpPr>
        <p:spPr>
          <a:xfrm>
            <a:off x="2062481" y="193041"/>
            <a:ext cx="7294880" cy="7924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700" dirty="0"/>
              <a:t>Cancelación de facturas con relación.</a:t>
            </a:r>
          </a:p>
        </p:txBody>
      </p:sp>
      <p:sp>
        <p:nvSpPr>
          <p:cNvPr id="5" name="Marcador de contenido 2">
            <a:extLst>
              <a:ext uri="{FF2B5EF4-FFF2-40B4-BE49-F238E27FC236}">
                <a16:creationId xmlns:a16="http://schemas.microsoft.com/office/drawing/2014/main" id="{72E6FA23-E652-4995-6EBE-666A3869BC45}"/>
              </a:ext>
            </a:extLst>
          </p:cNvPr>
          <p:cNvSpPr>
            <a:spLocks noGrp="1"/>
          </p:cNvSpPr>
          <p:nvPr>
            <p:ph idx="1"/>
          </p:nvPr>
        </p:nvSpPr>
        <p:spPr>
          <a:xfrm>
            <a:off x="1046480" y="1307515"/>
            <a:ext cx="10629646" cy="4750612"/>
          </a:xfrm>
        </p:spPr>
        <p:txBody>
          <a:bodyPr anchor="t">
            <a:normAutofit/>
          </a:bodyPr>
          <a:lstStyle/>
          <a:p>
            <a:pPr marL="0" indent="0">
              <a:buNone/>
            </a:pPr>
            <a:r>
              <a:rPr lang="es-MX" sz="2000" b="1" dirty="0"/>
              <a:t>Escenario 1 “Comprobante emitido con errores con relación”</a:t>
            </a:r>
          </a:p>
          <a:p>
            <a:pPr marL="0" indent="0">
              <a:buNone/>
            </a:pPr>
            <a:r>
              <a:rPr lang="es-MX" sz="2000" dirty="0"/>
              <a:t>Ejemplo 1 </a:t>
            </a:r>
          </a:p>
          <a:p>
            <a:pPr marL="0" indent="0">
              <a:buNone/>
            </a:pPr>
            <a:r>
              <a:rPr lang="es-MX" sz="2000" dirty="0"/>
              <a:t>El 18 de noviembre el contribuyente Daniel Arzate emitió la factura “A” con folio fiscal 6X3930536-D4B4-40E1-B917-C42F806C5C1D, al revisar la factura días después, se percata que contiene un error por lo cual, debe cancelarla. </a:t>
            </a:r>
          </a:p>
          <a:p>
            <a:pPr marL="0" indent="0">
              <a:buNone/>
            </a:pPr>
            <a:r>
              <a:rPr lang="es-MX" sz="2000" dirty="0"/>
              <a:t>Procedimiento de cancelación </a:t>
            </a:r>
          </a:p>
          <a:p>
            <a:r>
              <a:rPr lang="es-MX" sz="2000" dirty="0"/>
              <a:t>1.Se deberá emitir una nueva factura* que subsane el error cometido y sustituya al comprobante “A”, relacionándolo en el nodo “</a:t>
            </a:r>
            <a:r>
              <a:rPr lang="es-MX" sz="2000" dirty="0" err="1"/>
              <a:t>CfdiRelacionados</a:t>
            </a:r>
            <a:r>
              <a:rPr lang="es-MX" sz="2000" dirty="0"/>
              <a:t>” con la clave “04” Sustitución de CFDI previos. </a:t>
            </a:r>
          </a:p>
          <a:p>
            <a:pPr marL="0" indent="0">
              <a:buNone/>
            </a:pPr>
            <a:r>
              <a:rPr lang="es-MX" sz="2000" dirty="0"/>
              <a:t>*Factura “B” con folio fiscal 3FC0666E-XB5D-4132-BB1F-41879A6FB5C2 </a:t>
            </a:r>
          </a:p>
          <a:p>
            <a:r>
              <a:rPr lang="es-MX" sz="2000" dirty="0"/>
              <a:t>2.Posteriormente se deberá realizar la solicitud de la cancelación de la factura “A” y es necesario indicar como motivo de cancelación la clave “01” Comprobantes emitidos con errores con relación, adicionalmente se registrará el folio fiscal de la factura que la sustituye (factura “B”).</a:t>
            </a:r>
          </a:p>
        </p:txBody>
      </p:sp>
      <p:sp>
        <p:nvSpPr>
          <p:cNvPr id="6" name="Marcador de número de diapositiva 5">
            <a:extLst>
              <a:ext uri="{FF2B5EF4-FFF2-40B4-BE49-F238E27FC236}">
                <a16:creationId xmlns:a16="http://schemas.microsoft.com/office/drawing/2014/main" id="{2822FC01-6231-53DC-8C1F-5C4EE40EE178}"/>
              </a:ext>
            </a:extLst>
          </p:cNvPr>
          <p:cNvSpPr>
            <a:spLocks noGrp="1"/>
          </p:cNvSpPr>
          <p:nvPr>
            <p:ph type="sldNum" sz="quarter" idx="12"/>
          </p:nvPr>
        </p:nvSpPr>
        <p:spPr/>
        <p:txBody>
          <a:bodyPr/>
          <a:lstStyle/>
          <a:p>
            <a:fld id="{C9658827-CBDC-4B20-86BA-A047A5186DE9}" type="slidenum">
              <a:rPr lang="es-MX" smtClean="0"/>
              <a:t>16</a:t>
            </a:fld>
            <a:endParaRPr lang="es-MX"/>
          </a:p>
        </p:txBody>
      </p:sp>
    </p:spTree>
    <p:extLst>
      <p:ext uri="{BB962C8B-B14F-4D97-AF65-F5344CB8AC3E}">
        <p14:creationId xmlns:p14="http://schemas.microsoft.com/office/powerpoint/2010/main" val="1501054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348D203-CC8B-8E00-07F8-F3C6325784D4}"/>
              </a:ext>
            </a:extLst>
          </p:cNvPr>
          <p:cNvSpPr txBox="1">
            <a:spLocks/>
          </p:cNvSpPr>
          <p:nvPr/>
        </p:nvSpPr>
        <p:spPr>
          <a:xfrm>
            <a:off x="2062481" y="193041"/>
            <a:ext cx="7294880" cy="7924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700" dirty="0"/>
              <a:t>Cancelación de facturas con relación.</a:t>
            </a:r>
          </a:p>
        </p:txBody>
      </p:sp>
      <p:pic>
        <p:nvPicPr>
          <p:cNvPr id="5" name="Marcador de contenido 4" descr="Interfaz de usuario gráfica, Texto&#10;&#10;Descripción generada automáticamente">
            <a:extLst>
              <a:ext uri="{FF2B5EF4-FFF2-40B4-BE49-F238E27FC236}">
                <a16:creationId xmlns:a16="http://schemas.microsoft.com/office/drawing/2014/main" id="{5B6AA515-114F-7B69-83BF-65F492617E49}"/>
              </a:ext>
            </a:extLst>
          </p:cNvPr>
          <p:cNvPicPr>
            <a:picLocks noGrp="1" noChangeAspect="1"/>
          </p:cNvPicPr>
          <p:nvPr>
            <p:ph idx="1"/>
          </p:nvPr>
        </p:nvPicPr>
        <p:blipFill>
          <a:blip r:embed="rId2"/>
          <a:stretch>
            <a:fillRect/>
          </a:stretch>
        </p:blipFill>
        <p:spPr>
          <a:xfrm>
            <a:off x="1302518" y="768774"/>
            <a:ext cx="9812521" cy="6034701"/>
          </a:xfrm>
          <a:prstGeom prst="rect">
            <a:avLst/>
          </a:prstGeom>
          <a:ln>
            <a:noFill/>
          </a:ln>
        </p:spPr>
      </p:pic>
      <p:sp>
        <p:nvSpPr>
          <p:cNvPr id="6" name="Marcador de número de diapositiva 5">
            <a:extLst>
              <a:ext uri="{FF2B5EF4-FFF2-40B4-BE49-F238E27FC236}">
                <a16:creationId xmlns:a16="http://schemas.microsoft.com/office/drawing/2014/main" id="{485708A9-FD76-34B5-7113-587200DD2F09}"/>
              </a:ext>
            </a:extLst>
          </p:cNvPr>
          <p:cNvSpPr>
            <a:spLocks noGrp="1"/>
          </p:cNvSpPr>
          <p:nvPr>
            <p:ph type="sldNum" sz="quarter" idx="12"/>
          </p:nvPr>
        </p:nvSpPr>
        <p:spPr/>
        <p:txBody>
          <a:bodyPr/>
          <a:lstStyle/>
          <a:p>
            <a:fld id="{C9658827-CBDC-4B20-86BA-A047A5186DE9}" type="slidenum">
              <a:rPr lang="es-MX" smtClean="0"/>
              <a:t>17</a:t>
            </a:fld>
            <a:endParaRPr lang="es-MX"/>
          </a:p>
        </p:txBody>
      </p:sp>
    </p:spTree>
    <p:extLst>
      <p:ext uri="{BB962C8B-B14F-4D97-AF65-F5344CB8AC3E}">
        <p14:creationId xmlns:p14="http://schemas.microsoft.com/office/powerpoint/2010/main" val="3096817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348D203-CC8B-8E00-07F8-F3C6325784D4}"/>
              </a:ext>
            </a:extLst>
          </p:cNvPr>
          <p:cNvSpPr txBox="1">
            <a:spLocks/>
          </p:cNvSpPr>
          <p:nvPr/>
        </p:nvSpPr>
        <p:spPr>
          <a:xfrm>
            <a:off x="2062481" y="193041"/>
            <a:ext cx="7294880" cy="7924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700" dirty="0"/>
              <a:t>Cancelación de facturas con relación.</a:t>
            </a:r>
          </a:p>
        </p:txBody>
      </p:sp>
      <p:pic>
        <p:nvPicPr>
          <p:cNvPr id="6" name="Marcador de contenido 8" descr="Interfaz de usuario gráfica, Texto, Aplicación&#10;&#10;Descripción generada automáticamente">
            <a:extLst>
              <a:ext uri="{FF2B5EF4-FFF2-40B4-BE49-F238E27FC236}">
                <a16:creationId xmlns:a16="http://schemas.microsoft.com/office/drawing/2014/main" id="{31A2B625-B89B-3437-BC1B-10B789635EC7}"/>
              </a:ext>
            </a:extLst>
          </p:cNvPr>
          <p:cNvPicPr>
            <a:picLocks noChangeAspect="1"/>
          </p:cNvPicPr>
          <p:nvPr/>
        </p:nvPicPr>
        <p:blipFill>
          <a:blip r:embed="rId2"/>
          <a:stretch>
            <a:fillRect/>
          </a:stretch>
        </p:blipFill>
        <p:spPr>
          <a:xfrm>
            <a:off x="698819" y="837210"/>
            <a:ext cx="10794362" cy="5882928"/>
          </a:xfrm>
          <a:prstGeom prst="rect">
            <a:avLst/>
          </a:prstGeom>
          <a:ln>
            <a:noFill/>
          </a:ln>
        </p:spPr>
      </p:pic>
      <p:sp>
        <p:nvSpPr>
          <p:cNvPr id="7" name="Marcador de número de diapositiva 6">
            <a:extLst>
              <a:ext uri="{FF2B5EF4-FFF2-40B4-BE49-F238E27FC236}">
                <a16:creationId xmlns:a16="http://schemas.microsoft.com/office/drawing/2014/main" id="{A44566C9-F361-140B-48A2-7DF7CA01584C}"/>
              </a:ext>
            </a:extLst>
          </p:cNvPr>
          <p:cNvSpPr>
            <a:spLocks noGrp="1"/>
          </p:cNvSpPr>
          <p:nvPr>
            <p:ph type="sldNum" sz="quarter" idx="12"/>
          </p:nvPr>
        </p:nvSpPr>
        <p:spPr/>
        <p:txBody>
          <a:bodyPr/>
          <a:lstStyle/>
          <a:p>
            <a:fld id="{C9658827-CBDC-4B20-86BA-A047A5186DE9}" type="slidenum">
              <a:rPr lang="es-MX" smtClean="0"/>
              <a:t>18</a:t>
            </a:fld>
            <a:endParaRPr lang="es-MX"/>
          </a:p>
        </p:txBody>
      </p:sp>
    </p:spTree>
    <p:extLst>
      <p:ext uri="{BB962C8B-B14F-4D97-AF65-F5344CB8AC3E}">
        <p14:creationId xmlns:p14="http://schemas.microsoft.com/office/powerpoint/2010/main" val="4167162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348D203-CC8B-8E00-07F8-F3C6325784D4}"/>
              </a:ext>
            </a:extLst>
          </p:cNvPr>
          <p:cNvSpPr txBox="1">
            <a:spLocks/>
          </p:cNvSpPr>
          <p:nvPr/>
        </p:nvSpPr>
        <p:spPr>
          <a:xfrm>
            <a:off x="2062481" y="193041"/>
            <a:ext cx="7294880" cy="79248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700" dirty="0"/>
              <a:t>Cancelación de facturas con relación.</a:t>
            </a:r>
          </a:p>
        </p:txBody>
      </p:sp>
      <p:pic>
        <p:nvPicPr>
          <p:cNvPr id="2" name="Marcador de contenido 4" descr="Interfaz de usuario gráfica, Aplicación&#10;&#10;Descripción generada automáticamente">
            <a:extLst>
              <a:ext uri="{FF2B5EF4-FFF2-40B4-BE49-F238E27FC236}">
                <a16:creationId xmlns:a16="http://schemas.microsoft.com/office/drawing/2014/main" id="{C1DA1A49-2A1A-B1DB-692F-16DD011E7B38}"/>
              </a:ext>
            </a:extLst>
          </p:cNvPr>
          <p:cNvPicPr>
            <a:picLocks noGrp="1" noChangeAspect="1"/>
          </p:cNvPicPr>
          <p:nvPr>
            <p:ph idx="1"/>
          </p:nvPr>
        </p:nvPicPr>
        <p:blipFill>
          <a:blip r:embed="rId2"/>
          <a:stretch>
            <a:fillRect/>
          </a:stretch>
        </p:blipFill>
        <p:spPr>
          <a:xfrm>
            <a:off x="1585015" y="985521"/>
            <a:ext cx="9021969" cy="5571065"/>
          </a:xfrm>
          <a:prstGeom prst="rect">
            <a:avLst/>
          </a:prstGeom>
          <a:ln>
            <a:noFill/>
          </a:ln>
        </p:spPr>
      </p:pic>
      <p:sp>
        <p:nvSpPr>
          <p:cNvPr id="3" name="Marcador de número de diapositiva 2">
            <a:extLst>
              <a:ext uri="{FF2B5EF4-FFF2-40B4-BE49-F238E27FC236}">
                <a16:creationId xmlns:a16="http://schemas.microsoft.com/office/drawing/2014/main" id="{466924FE-1D71-E2F3-AFC2-0BC159BE3D27}"/>
              </a:ext>
            </a:extLst>
          </p:cNvPr>
          <p:cNvSpPr>
            <a:spLocks noGrp="1"/>
          </p:cNvSpPr>
          <p:nvPr>
            <p:ph type="sldNum" sz="quarter" idx="12"/>
          </p:nvPr>
        </p:nvSpPr>
        <p:spPr/>
        <p:txBody>
          <a:bodyPr/>
          <a:lstStyle/>
          <a:p>
            <a:fld id="{C9658827-CBDC-4B20-86BA-A047A5186DE9}" type="slidenum">
              <a:rPr lang="es-MX" smtClean="0"/>
              <a:t>19</a:t>
            </a:fld>
            <a:endParaRPr lang="es-MX"/>
          </a:p>
        </p:txBody>
      </p:sp>
    </p:spTree>
    <p:extLst>
      <p:ext uri="{BB962C8B-B14F-4D97-AF65-F5344CB8AC3E}">
        <p14:creationId xmlns:p14="http://schemas.microsoft.com/office/powerpoint/2010/main" val="2972565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348D203-CC8B-8E00-07F8-F3C6325784D4}"/>
              </a:ext>
            </a:extLst>
          </p:cNvPr>
          <p:cNvSpPr txBox="1">
            <a:spLocks/>
          </p:cNvSpPr>
          <p:nvPr/>
        </p:nvSpPr>
        <p:spPr>
          <a:xfrm>
            <a:off x="2062481" y="193041"/>
            <a:ext cx="7294880" cy="792480"/>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4000" dirty="0"/>
              <a:t>Cancelación de facturas sin relación.</a:t>
            </a:r>
            <a:endParaRPr lang="es-MX" sz="3700" dirty="0"/>
          </a:p>
        </p:txBody>
      </p:sp>
      <p:sp>
        <p:nvSpPr>
          <p:cNvPr id="6" name="Marcador de contenido 2">
            <a:extLst>
              <a:ext uri="{FF2B5EF4-FFF2-40B4-BE49-F238E27FC236}">
                <a16:creationId xmlns:a16="http://schemas.microsoft.com/office/drawing/2014/main" id="{BE7BCEDF-DE09-1464-8EE6-AE130F662BFC}"/>
              </a:ext>
            </a:extLst>
          </p:cNvPr>
          <p:cNvSpPr txBox="1">
            <a:spLocks/>
          </p:cNvSpPr>
          <p:nvPr/>
        </p:nvSpPr>
        <p:spPr>
          <a:xfrm>
            <a:off x="571500" y="1069750"/>
            <a:ext cx="11264900" cy="514817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2000" b="1" dirty="0"/>
              <a:t>Escenario 2 “Comprobante emitido con errores sin relación”</a:t>
            </a:r>
          </a:p>
          <a:p>
            <a:pPr marL="0" indent="0">
              <a:buFont typeface="Arial" panose="020B0604020202020204" pitchFamily="34" charset="0"/>
              <a:buNone/>
            </a:pPr>
            <a:r>
              <a:rPr lang="es-MX" sz="2000" dirty="0"/>
              <a:t> Ejemplo 1 </a:t>
            </a:r>
          </a:p>
          <a:p>
            <a:pPr marL="0" indent="0">
              <a:buFont typeface="Arial" panose="020B0604020202020204" pitchFamily="34" charset="0"/>
              <a:buNone/>
            </a:pPr>
            <a:r>
              <a:rPr lang="es-MX" sz="2000" dirty="0"/>
              <a:t>Domingo Rodríguez realizó la prestación de un servicio profesional el día 18 de octubre de 2021 y emitió la factura “XY” con folio fiscal 9FE42A72-125X-11EC-9A25- 055FA357C89F registrando la información del receptor de forma incorrecta (se equivocó de cliente), por tal motivo requiere cancelarla. </a:t>
            </a:r>
          </a:p>
          <a:p>
            <a:pPr marL="0" indent="0">
              <a:buFont typeface="Arial" panose="020B0604020202020204" pitchFamily="34" charset="0"/>
              <a:buNone/>
            </a:pPr>
            <a:r>
              <a:rPr lang="es-MX" sz="2000" dirty="0"/>
              <a:t>Procedimiento de cancelación. </a:t>
            </a:r>
          </a:p>
          <a:p>
            <a:pPr marL="342900" indent="-342900">
              <a:buFont typeface="Arial" panose="020B0604020202020204" pitchFamily="34" charset="0"/>
              <a:buAutoNum type="arabicPeriod"/>
            </a:pPr>
            <a:r>
              <a:rPr lang="es-MX" sz="2000" dirty="0"/>
              <a:t>Domingo deberá realizar la solicitud de la cancelación de la factura “XY”, registrando como motivo de cancelación la clave “02” Comprobantes emitidos con errores sin relación. </a:t>
            </a:r>
          </a:p>
          <a:p>
            <a:pPr marL="342900" indent="-342900">
              <a:buFont typeface="Arial" panose="020B0604020202020204" pitchFamily="34" charset="0"/>
              <a:buAutoNum type="arabicPeriod"/>
            </a:pPr>
            <a:r>
              <a:rPr lang="es-MX" sz="2000" dirty="0"/>
              <a:t>Posteriormente, deberá emitir una nueva factura o CFDI con los datos correctos del receptor del comprobante</a:t>
            </a:r>
          </a:p>
        </p:txBody>
      </p:sp>
      <p:sp>
        <p:nvSpPr>
          <p:cNvPr id="7" name="Marcador de número de diapositiva 6">
            <a:extLst>
              <a:ext uri="{FF2B5EF4-FFF2-40B4-BE49-F238E27FC236}">
                <a16:creationId xmlns:a16="http://schemas.microsoft.com/office/drawing/2014/main" id="{4F5DFEEC-6A2D-1553-FDCC-3F786C46375E}"/>
              </a:ext>
            </a:extLst>
          </p:cNvPr>
          <p:cNvSpPr>
            <a:spLocks noGrp="1"/>
          </p:cNvSpPr>
          <p:nvPr>
            <p:ph type="sldNum" sz="quarter" idx="12"/>
          </p:nvPr>
        </p:nvSpPr>
        <p:spPr/>
        <p:txBody>
          <a:bodyPr/>
          <a:lstStyle/>
          <a:p>
            <a:fld id="{C9658827-CBDC-4B20-86BA-A047A5186DE9}" type="slidenum">
              <a:rPr lang="es-MX" smtClean="0"/>
              <a:t>20</a:t>
            </a:fld>
            <a:endParaRPr lang="es-MX"/>
          </a:p>
        </p:txBody>
      </p:sp>
    </p:spTree>
    <p:extLst>
      <p:ext uri="{BB962C8B-B14F-4D97-AF65-F5344CB8AC3E}">
        <p14:creationId xmlns:p14="http://schemas.microsoft.com/office/powerpoint/2010/main" val="1651912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348D203-CC8B-8E00-07F8-F3C6325784D4}"/>
              </a:ext>
            </a:extLst>
          </p:cNvPr>
          <p:cNvSpPr txBox="1">
            <a:spLocks/>
          </p:cNvSpPr>
          <p:nvPr/>
        </p:nvSpPr>
        <p:spPr>
          <a:xfrm>
            <a:off x="2062481" y="193041"/>
            <a:ext cx="7294880" cy="792480"/>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4000" dirty="0"/>
              <a:t>Cancelación de facturas sin relación.</a:t>
            </a:r>
            <a:endParaRPr lang="es-MX" sz="3700" dirty="0"/>
          </a:p>
        </p:txBody>
      </p:sp>
      <p:pic>
        <p:nvPicPr>
          <p:cNvPr id="2" name="Marcador de contenido 4" descr="Texto&#10;&#10;Descripción generada automáticamente">
            <a:extLst>
              <a:ext uri="{FF2B5EF4-FFF2-40B4-BE49-F238E27FC236}">
                <a16:creationId xmlns:a16="http://schemas.microsoft.com/office/drawing/2014/main" id="{C07A7155-14D5-3E68-2AD0-ACBE1A8F91BD}"/>
              </a:ext>
            </a:extLst>
          </p:cNvPr>
          <p:cNvPicPr>
            <a:picLocks noGrp="1" noChangeAspect="1"/>
          </p:cNvPicPr>
          <p:nvPr>
            <p:ph idx="1"/>
          </p:nvPr>
        </p:nvPicPr>
        <p:blipFill>
          <a:blip r:embed="rId2"/>
          <a:stretch>
            <a:fillRect/>
          </a:stretch>
        </p:blipFill>
        <p:spPr>
          <a:xfrm>
            <a:off x="1325034" y="1093894"/>
            <a:ext cx="9731120" cy="5571065"/>
          </a:xfrm>
          <a:prstGeom prst="rect">
            <a:avLst/>
          </a:prstGeom>
          <a:ln>
            <a:noFill/>
          </a:ln>
        </p:spPr>
      </p:pic>
      <p:sp>
        <p:nvSpPr>
          <p:cNvPr id="3" name="Marcador de número de diapositiva 2">
            <a:extLst>
              <a:ext uri="{FF2B5EF4-FFF2-40B4-BE49-F238E27FC236}">
                <a16:creationId xmlns:a16="http://schemas.microsoft.com/office/drawing/2014/main" id="{15343FDC-3D2B-3F02-B493-47A6D2243BF7}"/>
              </a:ext>
            </a:extLst>
          </p:cNvPr>
          <p:cNvSpPr>
            <a:spLocks noGrp="1"/>
          </p:cNvSpPr>
          <p:nvPr>
            <p:ph type="sldNum" sz="quarter" idx="12"/>
          </p:nvPr>
        </p:nvSpPr>
        <p:spPr/>
        <p:txBody>
          <a:bodyPr/>
          <a:lstStyle/>
          <a:p>
            <a:fld id="{C9658827-CBDC-4B20-86BA-A047A5186DE9}" type="slidenum">
              <a:rPr lang="es-MX" smtClean="0"/>
              <a:t>21</a:t>
            </a:fld>
            <a:endParaRPr lang="es-MX"/>
          </a:p>
        </p:txBody>
      </p:sp>
    </p:spTree>
    <p:extLst>
      <p:ext uri="{BB962C8B-B14F-4D97-AF65-F5344CB8AC3E}">
        <p14:creationId xmlns:p14="http://schemas.microsoft.com/office/powerpoint/2010/main" val="336618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348D203-CC8B-8E00-07F8-F3C6325784D4}"/>
              </a:ext>
            </a:extLst>
          </p:cNvPr>
          <p:cNvSpPr txBox="1">
            <a:spLocks/>
          </p:cNvSpPr>
          <p:nvPr/>
        </p:nvSpPr>
        <p:spPr>
          <a:xfrm>
            <a:off x="2062480" y="193041"/>
            <a:ext cx="9509759" cy="792480"/>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4000" dirty="0"/>
              <a:t>Cancelación de facturas operaciones no efectuadas.</a:t>
            </a:r>
            <a:endParaRPr lang="es-MX" sz="3700" dirty="0"/>
          </a:p>
        </p:txBody>
      </p:sp>
      <p:sp>
        <p:nvSpPr>
          <p:cNvPr id="2" name="Marcador de contenido 2">
            <a:extLst>
              <a:ext uri="{FF2B5EF4-FFF2-40B4-BE49-F238E27FC236}">
                <a16:creationId xmlns:a16="http://schemas.microsoft.com/office/drawing/2014/main" id="{F3D8A146-FFCD-C79C-8ECA-78EF4485FD5F}"/>
              </a:ext>
            </a:extLst>
          </p:cNvPr>
          <p:cNvSpPr>
            <a:spLocks noGrp="1"/>
          </p:cNvSpPr>
          <p:nvPr>
            <p:ph idx="1"/>
          </p:nvPr>
        </p:nvSpPr>
        <p:spPr>
          <a:xfrm>
            <a:off x="447040" y="1463039"/>
            <a:ext cx="10751565" cy="4300447"/>
          </a:xfrm>
        </p:spPr>
        <p:txBody>
          <a:bodyPr anchor="t">
            <a:normAutofit/>
          </a:bodyPr>
          <a:lstStyle/>
          <a:p>
            <a:pPr marL="0" indent="0">
              <a:buNone/>
            </a:pPr>
            <a:r>
              <a:rPr lang="es-MX" sz="2400" dirty="0"/>
              <a:t>Escenario 3 “No se llevó a cabo la operación”</a:t>
            </a:r>
          </a:p>
          <a:p>
            <a:pPr marL="0" indent="0">
              <a:buNone/>
            </a:pPr>
            <a:r>
              <a:rPr lang="es-MX" sz="2400" dirty="0"/>
              <a:t>Ejemplo 1 </a:t>
            </a:r>
          </a:p>
          <a:p>
            <a:pPr marL="0" indent="0">
              <a:buNone/>
            </a:pPr>
            <a:r>
              <a:rPr lang="es-MX" sz="2400" dirty="0"/>
              <a:t>Jesús Antonio Trino se dedica a la elaboración de muebles de madera y emitió la factura “A1” con folio fiscal 87AA3C57-6F5C-422B-A33C-43YYY7228DCA, por un presupuesto solicitado, sin embargo, no se concretó la venta por falta de materias primas, por lo que necesita cancelar la factura emitida.</a:t>
            </a:r>
          </a:p>
          <a:p>
            <a:pPr marL="0" indent="0">
              <a:buNone/>
            </a:pPr>
            <a:r>
              <a:rPr lang="es-MX" sz="2400" dirty="0"/>
              <a:t> Procedimiento de cancelación. </a:t>
            </a:r>
          </a:p>
          <a:p>
            <a:pPr marL="0" indent="0">
              <a:buNone/>
            </a:pPr>
            <a:r>
              <a:rPr lang="es-MX" sz="2400" dirty="0"/>
              <a:t>1. Jesús Antonio deberá solicitar la cancelación de la factura “A1” registrando como motivo de cancelación la clave “03” No se llevó a cabo la operación.</a:t>
            </a:r>
          </a:p>
        </p:txBody>
      </p:sp>
      <p:sp>
        <p:nvSpPr>
          <p:cNvPr id="3" name="Marcador de número de diapositiva 2">
            <a:extLst>
              <a:ext uri="{FF2B5EF4-FFF2-40B4-BE49-F238E27FC236}">
                <a16:creationId xmlns:a16="http://schemas.microsoft.com/office/drawing/2014/main" id="{13BA0BD9-675B-C5D8-5ABC-EC503485EE16}"/>
              </a:ext>
            </a:extLst>
          </p:cNvPr>
          <p:cNvSpPr>
            <a:spLocks noGrp="1"/>
          </p:cNvSpPr>
          <p:nvPr>
            <p:ph type="sldNum" sz="quarter" idx="12"/>
          </p:nvPr>
        </p:nvSpPr>
        <p:spPr/>
        <p:txBody>
          <a:bodyPr/>
          <a:lstStyle/>
          <a:p>
            <a:fld id="{C9658827-CBDC-4B20-86BA-A047A5186DE9}" type="slidenum">
              <a:rPr lang="es-MX" smtClean="0"/>
              <a:t>22</a:t>
            </a:fld>
            <a:endParaRPr lang="es-MX"/>
          </a:p>
        </p:txBody>
      </p:sp>
    </p:spTree>
    <p:extLst>
      <p:ext uri="{BB962C8B-B14F-4D97-AF65-F5344CB8AC3E}">
        <p14:creationId xmlns:p14="http://schemas.microsoft.com/office/powerpoint/2010/main" val="2699703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348D203-CC8B-8E00-07F8-F3C6325784D4}"/>
              </a:ext>
            </a:extLst>
          </p:cNvPr>
          <p:cNvSpPr txBox="1">
            <a:spLocks/>
          </p:cNvSpPr>
          <p:nvPr/>
        </p:nvSpPr>
        <p:spPr>
          <a:xfrm>
            <a:off x="2062480" y="193041"/>
            <a:ext cx="9509759" cy="792480"/>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4000" dirty="0"/>
              <a:t>Cancelación de facturas operaciones no efectuadas.</a:t>
            </a:r>
            <a:endParaRPr lang="es-MX" sz="3700" dirty="0"/>
          </a:p>
        </p:txBody>
      </p:sp>
      <p:pic>
        <p:nvPicPr>
          <p:cNvPr id="6" name="Marcador de contenido 8">
            <a:extLst>
              <a:ext uri="{FF2B5EF4-FFF2-40B4-BE49-F238E27FC236}">
                <a16:creationId xmlns:a16="http://schemas.microsoft.com/office/drawing/2014/main" id="{8801454A-F67F-C231-0D8D-77883FE25856}"/>
              </a:ext>
            </a:extLst>
          </p:cNvPr>
          <p:cNvPicPr>
            <a:picLocks noGrp="1" noChangeAspect="1"/>
          </p:cNvPicPr>
          <p:nvPr>
            <p:ph idx="1"/>
          </p:nvPr>
        </p:nvPicPr>
        <p:blipFill>
          <a:blip r:embed="rId2"/>
          <a:stretch>
            <a:fillRect/>
          </a:stretch>
        </p:blipFill>
        <p:spPr>
          <a:xfrm>
            <a:off x="1608083" y="985521"/>
            <a:ext cx="9291230" cy="5876702"/>
          </a:xfrm>
          <a:prstGeom prst="rect">
            <a:avLst/>
          </a:prstGeom>
          <a:ln>
            <a:noFill/>
          </a:ln>
        </p:spPr>
      </p:pic>
      <p:sp>
        <p:nvSpPr>
          <p:cNvPr id="7" name="Marcador de número de diapositiva 6">
            <a:extLst>
              <a:ext uri="{FF2B5EF4-FFF2-40B4-BE49-F238E27FC236}">
                <a16:creationId xmlns:a16="http://schemas.microsoft.com/office/drawing/2014/main" id="{16D6A140-26E4-FF5E-D492-27092C4808DB}"/>
              </a:ext>
            </a:extLst>
          </p:cNvPr>
          <p:cNvSpPr>
            <a:spLocks noGrp="1"/>
          </p:cNvSpPr>
          <p:nvPr>
            <p:ph type="sldNum" sz="quarter" idx="12"/>
          </p:nvPr>
        </p:nvSpPr>
        <p:spPr/>
        <p:txBody>
          <a:bodyPr/>
          <a:lstStyle/>
          <a:p>
            <a:fld id="{C9658827-CBDC-4B20-86BA-A047A5186DE9}" type="slidenum">
              <a:rPr lang="es-MX" smtClean="0"/>
              <a:t>23</a:t>
            </a:fld>
            <a:endParaRPr lang="es-MX"/>
          </a:p>
        </p:txBody>
      </p:sp>
    </p:spTree>
    <p:extLst>
      <p:ext uri="{BB962C8B-B14F-4D97-AF65-F5344CB8AC3E}">
        <p14:creationId xmlns:p14="http://schemas.microsoft.com/office/powerpoint/2010/main" val="4062000599"/>
      </p:ext>
    </p:extLst>
  </p:cSld>
  <p:clrMapOvr>
    <a:masterClrMapping/>
  </p:clrMapOvr>
</p:sld>
</file>

<file path=ppt/theme/theme1.xml><?xml version="1.0" encoding="utf-8"?>
<a:theme xmlns:a="http://schemas.openxmlformats.org/drawingml/2006/main" name="Tema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1" id="{5137CC6D-F14E-41EB-8BCE-D99D4ED3B0B5}" vid="{DD987D26-7D3E-4B6C-ABEF-B9226404B89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TotalTime>
  <Words>1792</Words>
  <Application>Microsoft Office PowerPoint</Application>
  <PresentationFormat>Panorámica</PresentationFormat>
  <Paragraphs>131</Paragraphs>
  <Slides>23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Aharoni</vt:lpstr>
      <vt:lpstr>Arial</vt:lpstr>
      <vt:lpstr>Calibri</vt:lpstr>
      <vt:lpstr>Calibri Light</vt:lpstr>
      <vt:lpstr>Montserrat</vt:lpstr>
      <vt:lpstr>Tema1</vt:lpstr>
      <vt:lpstr>Formas para solicitar facturación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Ejemplo 2 Anticipo aplicado con remanente.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anticipos.</dc:title>
  <dc:creator>Italy Monserrat Cabrera Ching</dc:creator>
  <cp:lastModifiedBy>Yolanda Burkhardt</cp:lastModifiedBy>
  <cp:revision>8</cp:revision>
  <dcterms:created xsi:type="dcterms:W3CDTF">2023-11-16T16:56:46Z</dcterms:created>
  <dcterms:modified xsi:type="dcterms:W3CDTF">2023-11-22T15:17:04Z</dcterms:modified>
</cp:coreProperties>
</file>