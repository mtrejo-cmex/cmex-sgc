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424" r:id="rId2"/>
    <p:sldId id="437" r:id="rId3"/>
    <p:sldId id="439" r:id="rId4"/>
    <p:sldId id="429" r:id="rId5"/>
    <p:sldId id="430" r:id="rId6"/>
    <p:sldId id="431" r:id="rId7"/>
    <p:sldId id="432" r:id="rId8"/>
    <p:sldId id="433" r:id="rId9"/>
    <p:sldId id="438" r:id="rId10"/>
    <p:sldId id="434" r:id="rId11"/>
    <p:sldId id="435" r:id="rId12"/>
    <p:sldId id="436" r:id="rId13"/>
  </p:sldIdLst>
  <p:sldSz cx="12192000" cy="6858000"/>
  <p:notesSz cx="7026275" cy="931227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F083CE7-20EE-4BA5-8A58-FA8424665F9F}">
          <p14:sldIdLst>
            <p14:sldId id="424"/>
            <p14:sldId id="437"/>
            <p14:sldId id="439"/>
            <p14:sldId id="429"/>
            <p14:sldId id="430"/>
            <p14:sldId id="431"/>
            <p14:sldId id="432"/>
            <p14:sldId id="433"/>
            <p14:sldId id="438"/>
            <p14:sldId id="434"/>
            <p14:sldId id="435"/>
            <p14:sldId id="436"/>
          </p14:sldIdLst>
        </p14:section>
        <p14:section name="Untitled Section" id="{E2B87A84-8844-44BE-B4D5-8B8086EF98E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0000"/>
    <a:srgbClr val="003399"/>
    <a:srgbClr val="0000FF"/>
    <a:srgbClr val="3333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2" autoAdjust="0"/>
    <p:restoredTop sz="94353" autoAdjust="0"/>
  </p:normalViewPr>
  <p:slideViewPr>
    <p:cSldViewPr>
      <p:cViewPr varScale="1">
        <p:scale>
          <a:sx n="59" d="100"/>
          <a:sy n="59" d="100"/>
        </p:scale>
        <p:origin x="105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82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9863" y="0"/>
            <a:ext cx="304482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F6E57-FE78-4117-93CF-BF76EE8467CA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5550"/>
            <a:ext cx="304482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9863" y="8845550"/>
            <a:ext cx="304482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42550-C14F-4BA8-A2A2-2E724D64566C}" type="slidenum">
              <a:rPr lang="es-MX" smtClean="0"/>
              <a:pPr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9930" y="0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7BC5ACCA-2362-4938-9CCA-A5E631651876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71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60" tIns="46680" rIns="93360" bIns="46680" rtlCol="0" anchor="ctr"/>
          <a:lstStyle/>
          <a:p>
            <a:endParaRPr lang="es-MX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628" y="4423331"/>
            <a:ext cx="5621020" cy="4190524"/>
          </a:xfrm>
          <a:prstGeom prst="rect">
            <a:avLst/>
          </a:prstGeom>
        </p:spPr>
        <p:txBody>
          <a:bodyPr vert="horz" lIns="93360" tIns="46680" rIns="93360" bIns="4668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9930" y="8845045"/>
            <a:ext cx="3044719" cy="465614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9BC99AFB-84F0-4852-A1F4-2419FA6FC86C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C99AFB-84F0-4852-A1F4-2419FA6FC86C}" type="slidenum">
              <a:rPr lang="es-MX" smtClean="0"/>
              <a:pPr/>
              <a:t>1</a:t>
            </a:fld>
            <a:endParaRPr lang="es-MX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s-MX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82890-F97F-4F6E-8702-AA384D98B159}" type="datetimeFigureOut">
              <a:rPr lang="es-MX" smtClean="0"/>
              <a:pPr/>
              <a:t>26/02/2024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3EF13-A31C-4831-B93F-4B7EB14A11AE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47528" y="2136338"/>
            <a:ext cx="576064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457200" eaLnBrk="0" hangingPunct="0"/>
            <a:r>
              <a:rPr lang="en" sz="5400" b="1" dirty="0">
                <a:latin typeface="Agency FB" panose="020B0503020202020204" pitchFamily="34" charset="0"/>
              </a:rPr>
              <a:t>Proceso de ingreso Compras Nacionales</a:t>
            </a:r>
          </a:p>
          <a:p>
            <a:pPr algn="ctr" defTabSz="457200" eaLnBrk="0" hangingPunct="0"/>
            <a:r>
              <a:rPr lang="en" sz="5400" b="1" dirty="0">
                <a:solidFill>
                  <a:schemeClr val="dk2"/>
                </a:solidFill>
                <a:latin typeface="Agency FB" panose="020B0503020202020204" pitchFamily="34" charset="0"/>
              </a:rPr>
              <a:t>Oracle (ARC’S)</a:t>
            </a:r>
            <a:endParaRPr lang="es-MX" sz="5400" b="1" dirty="0">
              <a:solidFill>
                <a:prstClr val="black"/>
              </a:solidFill>
              <a:latin typeface="Agency FB" panose="020B0503020202020204" pitchFamily="34" charset="0"/>
              <a:cs typeface="Tahoma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FCA3A4-B332-4BC8-230F-1E12B1D7F723}"/>
              </a:ext>
            </a:extLst>
          </p:cNvPr>
          <p:cNvSpPr/>
          <p:nvPr/>
        </p:nvSpPr>
        <p:spPr>
          <a:xfrm>
            <a:off x="9336360" y="0"/>
            <a:ext cx="1728192" cy="573325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6DB9D4-82A8-9BA9-A8FC-DA2ADE18E599}"/>
              </a:ext>
            </a:extLst>
          </p:cNvPr>
          <p:cNvSpPr txBox="1"/>
          <p:nvPr/>
        </p:nvSpPr>
        <p:spPr>
          <a:xfrm>
            <a:off x="4943872" y="5157192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Noviembre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agrama de flujo: conector fuera de página 4">
            <a:extLst>
              <a:ext uri="{FF2B5EF4-FFF2-40B4-BE49-F238E27FC236}">
                <a16:creationId xmlns:a16="http://schemas.microsoft.com/office/drawing/2014/main" id="{EA327DB1-F47E-41A5-AFB2-D50B17EFA01F}"/>
              </a:ext>
            </a:extLst>
          </p:cNvPr>
          <p:cNvSpPr/>
          <p:nvPr/>
        </p:nvSpPr>
        <p:spPr>
          <a:xfrm rot="16200000">
            <a:off x="2254183" y="-916874"/>
            <a:ext cx="1418938" cy="5256584"/>
          </a:xfrm>
          <a:prstGeom prst="flowChartOffpage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F7AC63D-6D10-A839-CE70-592ABB357004}"/>
              </a:ext>
            </a:extLst>
          </p:cNvPr>
          <p:cNvGrpSpPr/>
          <p:nvPr/>
        </p:nvGrpSpPr>
        <p:grpSpPr>
          <a:xfrm>
            <a:off x="623392" y="1388251"/>
            <a:ext cx="4104455" cy="646331"/>
            <a:chOff x="839416" y="1388252"/>
            <a:chExt cx="4104455" cy="646331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5B86743-01C8-1EBE-2C8E-78BA256DBD90}"/>
                </a:ext>
              </a:extLst>
            </p:cNvPr>
            <p:cNvSpPr txBox="1"/>
            <p:nvPr/>
          </p:nvSpPr>
          <p:spPr>
            <a:xfrm>
              <a:off x="1277840" y="1388252"/>
              <a:ext cx="36660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>
                  <a:latin typeface="Agency FB" panose="020B0503020202020204" pitchFamily="34" charset="0"/>
                </a:rPr>
                <a:t>SOLICITAR EL VO.BO. DEL ÁREA DE CONTABILIDAD PARA EL INGRESO A W2 O W5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D228180-419B-EC8E-EDBE-5563A0272B8F}"/>
                </a:ext>
              </a:extLst>
            </p:cNvPr>
            <p:cNvSpPr txBox="1"/>
            <p:nvPr/>
          </p:nvSpPr>
          <p:spPr>
            <a:xfrm>
              <a:off x="839416" y="1472891"/>
              <a:ext cx="360040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500" b="1" dirty="0">
                  <a:latin typeface="Agency FB" panose="020B0503020202020204" pitchFamily="34" charset="0"/>
                </a:rPr>
                <a:t>1.</a:t>
              </a:r>
            </a:p>
          </p:txBody>
        </p:sp>
      </p:grp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D5FB28-4008-CBD2-6699-5DAC786C602C}"/>
              </a:ext>
            </a:extLst>
          </p:cNvPr>
          <p:cNvSpPr txBox="1"/>
          <p:nvPr/>
        </p:nvSpPr>
        <p:spPr>
          <a:xfrm>
            <a:off x="1392081" y="2644170"/>
            <a:ext cx="59514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dirty="0">
                <a:latin typeface="Agency FB" panose="020B0503020202020204" pitchFamily="34" charset="0"/>
              </a:rPr>
              <a:t>Para el ingreso de las Compras Nacionales cada usuario debe realizar el siguiente proceso para poder considerar el registro contable de la misma y la programación de pago al proveedor.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1564D536-16BA-729A-9420-D1820DBF6C8F}"/>
              </a:ext>
            </a:extLst>
          </p:cNvPr>
          <p:cNvGrpSpPr/>
          <p:nvPr/>
        </p:nvGrpSpPr>
        <p:grpSpPr>
          <a:xfrm>
            <a:off x="1775520" y="4581128"/>
            <a:ext cx="10009112" cy="1274924"/>
            <a:chOff x="2884297" y="4653136"/>
            <a:chExt cx="8843495" cy="523700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CEF19399-6B95-9438-8419-4DFAA3A5CB1F}"/>
                </a:ext>
              </a:extLst>
            </p:cNvPr>
            <p:cNvGrpSpPr/>
            <p:nvPr/>
          </p:nvGrpSpPr>
          <p:grpSpPr>
            <a:xfrm>
              <a:off x="2884297" y="4653136"/>
              <a:ext cx="7309696" cy="523700"/>
              <a:chOff x="2257945" y="4262393"/>
              <a:chExt cx="7309696" cy="523700"/>
            </a:xfrm>
          </p:grpSpPr>
          <p:sp>
            <p:nvSpPr>
              <p:cNvPr id="2" name="Rectángulo: esquinas redondeadas 1">
                <a:extLst>
                  <a:ext uri="{FF2B5EF4-FFF2-40B4-BE49-F238E27FC236}">
                    <a16:creationId xmlns:a16="http://schemas.microsoft.com/office/drawing/2014/main" id="{F5C8206B-6B4B-CCDC-B4A8-0F2C22234235}"/>
                  </a:ext>
                </a:extLst>
              </p:cNvPr>
              <p:cNvSpPr/>
              <p:nvPr/>
            </p:nvSpPr>
            <p:spPr>
              <a:xfrm>
                <a:off x="2257945" y="4270487"/>
                <a:ext cx="1224136" cy="511314"/>
              </a:xfrm>
              <a:prstGeom prst="roundRect">
                <a:avLst/>
              </a:prstGeo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dirty="0">
                    <a:latin typeface="Aharoni" panose="020F0502020204030204" pitchFamily="2" charset="-79"/>
                    <a:cs typeface="Aharoni" panose="020F0502020204030204" pitchFamily="2" charset="-79"/>
                  </a:rPr>
                  <a:t>SOLICITUD DE INGRESO DE  COMPRA NACIONAL</a:t>
                </a:r>
              </a:p>
            </p:txBody>
          </p:sp>
          <p:sp>
            <p:nvSpPr>
              <p:cNvPr id="3" name="Rectángulo: esquinas redondeadas 2">
                <a:extLst>
                  <a:ext uri="{FF2B5EF4-FFF2-40B4-BE49-F238E27FC236}">
                    <a16:creationId xmlns:a16="http://schemas.microsoft.com/office/drawing/2014/main" id="{CF07693A-B21E-A62C-1FA6-BA99E416F334}"/>
                  </a:ext>
                </a:extLst>
              </p:cNvPr>
              <p:cNvSpPr/>
              <p:nvPr/>
            </p:nvSpPr>
            <p:spPr>
              <a:xfrm>
                <a:off x="3779335" y="4270487"/>
                <a:ext cx="1224136" cy="511314"/>
              </a:xfrm>
              <a:prstGeom prst="roundRect">
                <a:avLst/>
              </a:prstGeo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dirty="0">
                    <a:latin typeface="Aharoni" panose="020F0502020204030204" pitchFamily="2" charset="-79"/>
                    <a:cs typeface="Aharoni" panose="020F0502020204030204" pitchFamily="2" charset="-79"/>
                  </a:rPr>
                  <a:t>CONTABILIDAD REVISA Y VALIDA INFORMACIÓN</a:t>
                </a:r>
              </a:p>
            </p:txBody>
          </p:sp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BE789291-47C2-9EF0-8411-D83F757B9966}"/>
                  </a:ext>
                </a:extLst>
              </p:cNvPr>
              <p:cNvSpPr/>
              <p:nvPr/>
            </p:nvSpPr>
            <p:spPr>
              <a:xfrm>
                <a:off x="5300725" y="4262393"/>
                <a:ext cx="1224136" cy="511314"/>
              </a:xfrm>
              <a:prstGeom prst="roundRect">
                <a:avLst/>
              </a:prstGeo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sz="1050" dirty="0">
                    <a:latin typeface="Aharoni" panose="020F0502020204030204" pitchFamily="2" charset="-79"/>
                    <a:cs typeface="Aharoni" panose="020F0502020204030204" pitchFamily="2" charset="-79"/>
                  </a:rPr>
                  <a:t>ALMACEN INGRESA MERCANCIA A S21</a:t>
                </a:r>
              </a:p>
            </p:txBody>
          </p:sp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C62CDC02-5059-77CD-5B9D-76C7C66159A9}"/>
                  </a:ext>
                </a:extLst>
              </p:cNvPr>
              <p:cNvSpPr/>
              <p:nvPr/>
            </p:nvSpPr>
            <p:spPr>
              <a:xfrm>
                <a:off x="6809706" y="4270487"/>
                <a:ext cx="1224136" cy="511314"/>
              </a:xfrm>
              <a:prstGeom prst="roundRect">
                <a:avLst/>
              </a:prstGeo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dirty="0">
                    <a:latin typeface="Aharoni" panose="020F0502020204030204" pitchFamily="2" charset="-79"/>
                    <a:cs typeface="Aharoni" panose="020F0502020204030204" pitchFamily="2" charset="-79"/>
                  </a:rPr>
                  <a:t>CONTABILIDAD INGRESA CXP A S21</a:t>
                </a:r>
              </a:p>
            </p:txBody>
          </p:sp>
          <p:sp>
            <p:nvSpPr>
              <p:cNvPr id="11" name="Rectángulo: esquinas redondeadas 10">
                <a:extLst>
                  <a:ext uri="{FF2B5EF4-FFF2-40B4-BE49-F238E27FC236}">
                    <a16:creationId xmlns:a16="http://schemas.microsoft.com/office/drawing/2014/main" id="{B3F2C048-CA1A-340E-188F-F53F091F9A90}"/>
                  </a:ext>
                </a:extLst>
              </p:cNvPr>
              <p:cNvSpPr/>
              <p:nvPr/>
            </p:nvSpPr>
            <p:spPr>
              <a:xfrm>
                <a:off x="8343505" y="4274779"/>
                <a:ext cx="1224136" cy="511314"/>
              </a:xfrm>
              <a:prstGeom prst="roundRect">
                <a:avLst/>
              </a:prstGeo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dirty="0">
                    <a:latin typeface="Aharoni" panose="020F0502020204030204" pitchFamily="2" charset="-79"/>
                    <a:cs typeface="Aharoni" panose="020F0502020204030204" pitchFamily="2" charset="-79"/>
                  </a:rPr>
                  <a:t>SE LIBERA FACTURA EN ORACLE (ARC’S)</a:t>
                </a:r>
              </a:p>
            </p:txBody>
          </p:sp>
          <p:pic>
            <p:nvPicPr>
              <p:cNvPr id="14" name="Gráfico 13" descr="Flecha abajo contorno">
                <a:extLst>
                  <a:ext uri="{FF2B5EF4-FFF2-40B4-BE49-F238E27FC236}">
                    <a16:creationId xmlns:a16="http://schemas.microsoft.com/office/drawing/2014/main" id="{42670B27-6648-C95D-1996-6C4DC39116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3516029" y="4406814"/>
                <a:ext cx="241767" cy="241767"/>
              </a:xfrm>
              <a:prstGeom prst="rect">
                <a:avLst/>
              </a:prstGeom>
            </p:spPr>
          </p:pic>
          <p:pic>
            <p:nvPicPr>
              <p:cNvPr id="15" name="Gráfico 14" descr="Flecha abajo contorno">
                <a:extLst>
                  <a:ext uri="{FF2B5EF4-FFF2-40B4-BE49-F238E27FC236}">
                    <a16:creationId xmlns:a16="http://schemas.microsoft.com/office/drawing/2014/main" id="{B631DCA0-2514-8990-228B-4250EB8E6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6549198" y="4405260"/>
                <a:ext cx="241767" cy="241767"/>
              </a:xfrm>
              <a:prstGeom prst="rect">
                <a:avLst/>
              </a:prstGeom>
            </p:spPr>
          </p:pic>
          <p:pic>
            <p:nvPicPr>
              <p:cNvPr id="17" name="Gráfico 16" descr="Flecha abajo contorno">
                <a:extLst>
                  <a:ext uri="{FF2B5EF4-FFF2-40B4-BE49-F238E27FC236}">
                    <a16:creationId xmlns:a16="http://schemas.microsoft.com/office/drawing/2014/main" id="{57E09F7B-17C6-7C64-A537-A41169F392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5025010" y="4406814"/>
                <a:ext cx="241767" cy="241767"/>
              </a:xfrm>
              <a:prstGeom prst="rect">
                <a:avLst/>
              </a:prstGeom>
            </p:spPr>
          </p:pic>
          <p:pic>
            <p:nvPicPr>
              <p:cNvPr id="19" name="Gráfico 18" descr="Flecha abajo contorno">
                <a:extLst>
                  <a:ext uri="{FF2B5EF4-FFF2-40B4-BE49-F238E27FC236}">
                    <a16:creationId xmlns:a16="http://schemas.microsoft.com/office/drawing/2014/main" id="{258844AA-72C5-9EC2-8052-05C3DFA9DC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6200000">
                <a:off x="8062177" y="4405260"/>
                <a:ext cx="241767" cy="241767"/>
              </a:xfrm>
              <a:prstGeom prst="rect">
                <a:avLst/>
              </a:prstGeom>
            </p:spPr>
          </p:pic>
        </p:grpSp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E2F7EC1E-BA78-ECAA-09BF-BD74D97D4529}"/>
                </a:ext>
              </a:extLst>
            </p:cNvPr>
            <p:cNvSpPr/>
            <p:nvPr/>
          </p:nvSpPr>
          <p:spPr>
            <a:xfrm>
              <a:off x="10503656" y="4653137"/>
              <a:ext cx="1224136" cy="511314"/>
            </a:xfrm>
            <a:prstGeom prst="roundRect">
              <a:avLst/>
            </a:prstGeo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MX" sz="1000" dirty="0">
                  <a:latin typeface="Aharoni" panose="020F0502020204030204" pitchFamily="2" charset="-79"/>
                  <a:cs typeface="Aharoni" panose="020F0502020204030204" pitchFamily="2" charset="-79"/>
                </a:rPr>
                <a:t>SE PROGRAMA A PAGO </a:t>
              </a:r>
            </a:p>
          </p:txBody>
        </p:sp>
        <p:pic>
          <p:nvPicPr>
            <p:cNvPr id="22" name="Gráfico 21" descr="Flecha abajo contorno">
              <a:extLst>
                <a:ext uri="{FF2B5EF4-FFF2-40B4-BE49-F238E27FC236}">
                  <a16:creationId xmlns:a16="http://schemas.microsoft.com/office/drawing/2014/main" id="{532FD50C-188D-9F02-9788-EB8161229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222328" y="4783617"/>
              <a:ext cx="241767" cy="2417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242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6DBB286-75B4-65F1-DB4D-30C5F3E38500}"/>
              </a:ext>
            </a:extLst>
          </p:cNvPr>
          <p:cNvSpPr txBox="1"/>
          <p:nvPr/>
        </p:nvSpPr>
        <p:spPr>
          <a:xfrm>
            <a:off x="839416" y="1484784"/>
            <a:ext cx="5594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400" dirty="0">
                <a:latin typeface="Agency FB" panose="020B0503020202020204" pitchFamily="34" charset="0"/>
              </a:rPr>
              <a:t>Para todos los ingresos de compras nacionales es necesario proporcionar la siguiente información al área de contabilidad: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91DAF99-2630-A4E6-A1FF-F5C9CF045AC3}"/>
              </a:ext>
            </a:extLst>
          </p:cNvPr>
          <p:cNvSpPr/>
          <p:nvPr/>
        </p:nvSpPr>
        <p:spPr>
          <a:xfrm>
            <a:off x="9336360" y="0"/>
            <a:ext cx="1728192" cy="573325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 descr="Personas mirando un ordenador">
            <a:extLst>
              <a:ext uri="{FF2B5EF4-FFF2-40B4-BE49-F238E27FC236}">
                <a16:creationId xmlns:a16="http://schemas.microsoft.com/office/drawing/2014/main" id="{5F22463A-3821-1D48-52CE-A3F76639EB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824" y="3429000"/>
            <a:ext cx="3672408" cy="24482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reflection blurRad="22860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5254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0BC5F55-6385-71F4-BB23-72F88846536E}"/>
              </a:ext>
            </a:extLst>
          </p:cNvPr>
          <p:cNvSpPr/>
          <p:nvPr/>
        </p:nvSpPr>
        <p:spPr>
          <a:xfrm>
            <a:off x="6096000" y="2420887"/>
            <a:ext cx="4032448" cy="10081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0F8D32D4-9B8C-D319-CD7F-AD8927CFC8DE}"/>
              </a:ext>
            </a:extLst>
          </p:cNvPr>
          <p:cNvGrpSpPr/>
          <p:nvPr/>
        </p:nvGrpSpPr>
        <p:grpSpPr>
          <a:xfrm>
            <a:off x="309682" y="2325038"/>
            <a:ext cx="3857575" cy="1569660"/>
            <a:chOff x="5431872" y="4056176"/>
            <a:chExt cx="3857575" cy="156966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CAA39D5-F42A-F7D6-F70B-892B4BDB04D1}"/>
                </a:ext>
              </a:extLst>
            </p:cNvPr>
            <p:cNvSpPr txBox="1"/>
            <p:nvPr/>
          </p:nvSpPr>
          <p:spPr>
            <a:xfrm>
              <a:off x="5810060" y="4056176"/>
              <a:ext cx="347938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400" dirty="0">
                  <a:latin typeface="Agency FB" panose="020B0503020202020204" pitchFamily="34" charset="0"/>
                </a:rPr>
                <a:t>CFDI (factura) en formato .</a:t>
              </a:r>
              <a:r>
                <a:rPr lang="es-MX" sz="2400" dirty="0" err="1">
                  <a:latin typeface="Agency FB" panose="020B0503020202020204" pitchFamily="34" charset="0"/>
                </a:rPr>
                <a:t>xml</a:t>
              </a:r>
              <a:r>
                <a:rPr lang="es-MX" sz="2400" dirty="0">
                  <a:latin typeface="Agency FB" panose="020B0503020202020204" pitchFamily="34" charset="0"/>
                </a:rPr>
                <a:t> y .</a:t>
              </a:r>
              <a:r>
                <a:rPr lang="es-MX" sz="2400" dirty="0" err="1">
                  <a:latin typeface="Agency FB" panose="020B0503020202020204" pitchFamily="34" charset="0"/>
                </a:rPr>
                <a:t>pdf</a:t>
              </a:r>
              <a:r>
                <a:rPr lang="es-MX" sz="2400" dirty="0">
                  <a:latin typeface="Agency FB" panose="020B0503020202020204" pitchFamily="34" charset="0"/>
                </a:rPr>
                <a:t> previamente validados los datos fiscales y generales de la factura.</a:t>
              </a:r>
            </a:p>
          </p:txBody>
        </p:sp>
        <p:grpSp>
          <p:nvGrpSpPr>
            <p:cNvPr id="18" name="Google Shape;922;p33">
              <a:extLst>
                <a:ext uri="{FF2B5EF4-FFF2-40B4-BE49-F238E27FC236}">
                  <a16:creationId xmlns:a16="http://schemas.microsoft.com/office/drawing/2014/main" id="{B0E468B5-4300-172C-96BC-047A1D51AEC7}"/>
                </a:ext>
              </a:extLst>
            </p:cNvPr>
            <p:cNvGrpSpPr/>
            <p:nvPr/>
          </p:nvGrpSpPr>
          <p:grpSpPr>
            <a:xfrm>
              <a:off x="5431872" y="4446768"/>
              <a:ext cx="320143" cy="392581"/>
              <a:chOff x="3086313" y="2877049"/>
              <a:chExt cx="320143" cy="392581"/>
            </a:xfrm>
            <a:solidFill>
              <a:srgbClr val="FF0000"/>
            </a:solidFill>
          </p:grpSpPr>
          <p:sp>
            <p:nvSpPr>
              <p:cNvPr id="19" name="Google Shape;923;p33">
                <a:extLst>
                  <a:ext uri="{FF2B5EF4-FFF2-40B4-BE49-F238E27FC236}">
                    <a16:creationId xmlns:a16="http://schemas.microsoft.com/office/drawing/2014/main" id="{0ABBED10-4C8F-C2B7-1708-288454C23014}"/>
                  </a:ext>
                </a:extLst>
              </p:cNvPr>
              <p:cNvSpPr/>
              <p:nvPr/>
            </p:nvSpPr>
            <p:spPr>
              <a:xfrm>
                <a:off x="3125749" y="2915371"/>
                <a:ext cx="240505" cy="354259"/>
              </a:xfrm>
              <a:custGeom>
                <a:avLst/>
                <a:gdLst/>
                <a:ahLst/>
                <a:cxnLst/>
                <a:rect l="l" t="t" r="r" b="b"/>
                <a:pathLst>
                  <a:path w="7550" h="11121" extrusionOk="0">
                    <a:moveTo>
                      <a:pt x="3775" y="2929"/>
                    </a:moveTo>
                    <a:lnTo>
                      <a:pt x="3918" y="3120"/>
                    </a:lnTo>
                    <a:cubicBezTo>
                      <a:pt x="3871" y="3144"/>
                      <a:pt x="3823" y="3144"/>
                      <a:pt x="3775" y="3144"/>
                    </a:cubicBezTo>
                    <a:cubicBezTo>
                      <a:pt x="3740" y="3132"/>
                      <a:pt x="3692" y="3120"/>
                      <a:pt x="3644" y="3120"/>
                    </a:cubicBezTo>
                    <a:lnTo>
                      <a:pt x="3775" y="2929"/>
                    </a:lnTo>
                    <a:close/>
                    <a:moveTo>
                      <a:pt x="4168" y="3501"/>
                    </a:moveTo>
                    <a:lnTo>
                      <a:pt x="4299" y="3703"/>
                    </a:lnTo>
                    <a:cubicBezTo>
                      <a:pt x="4126" y="3751"/>
                      <a:pt x="3948" y="3775"/>
                      <a:pt x="3769" y="3775"/>
                    </a:cubicBezTo>
                    <a:cubicBezTo>
                      <a:pt x="3591" y="3775"/>
                      <a:pt x="3412" y="3751"/>
                      <a:pt x="3239" y="3703"/>
                    </a:cubicBezTo>
                    <a:lnTo>
                      <a:pt x="3382" y="3501"/>
                    </a:lnTo>
                    <a:cubicBezTo>
                      <a:pt x="3513" y="3560"/>
                      <a:pt x="3644" y="3572"/>
                      <a:pt x="3775" y="3572"/>
                    </a:cubicBezTo>
                    <a:cubicBezTo>
                      <a:pt x="3918" y="3572"/>
                      <a:pt x="4049" y="3537"/>
                      <a:pt x="4168" y="3501"/>
                    </a:cubicBezTo>
                    <a:close/>
                    <a:moveTo>
                      <a:pt x="3120" y="4132"/>
                    </a:moveTo>
                    <a:cubicBezTo>
                      <a:pt x="3275" y="4180"/>
                      <a:pt x="3418" y="4191"/>
                      <a:pt x="3561" y="4215"/>
                    </a:cubicBezTo>
                    <a:lnTo>
                      <a:pt x="3561" y="8109"/>
                    </a:lnTo>
                    <a:lnTo>
                      <a:pt x="3120" y="8109"/>
                    </a:lnTo>
                    <a:lnTo>
                      <a:pt x="3120" y="4132"/>
                    </a:lnTo>
                    <a:close/>
                    <a:moveTo>
                      <a:pt x="4430" y="4132"/>
                    </a:moveTo>
                    <a:lnTo>
                      <a:pt x="4430" y="8109"/>
                    </a:lnTo>
                    <a:lnTo>
                      <a:pt x="4001" y="8109"/>
                    </a:lnTo>
                    <a:lnTo>
                      <a:pt x="4001" y="4215"/>
                    </a:lnTo>
                    <a:cubicBezTo>
                      <a:pt x="4156" y="4191"/>
                      <a:pt x="4287" y="4180"/>
                      <a:pt x="4430" y="4132"/>
                    </a:cubicBezTo>
                    <a:close/>
                    <a:moveTo>
                      <a:pt x="3799" y="441"/>
                    </a:moveTo>
                    <a:cubicBezTo>
                      <a:pt x="4668" y="441"/>
                      <a:pt x="5490" y="786"/>
                      <a:pt x="6121" y="1394"/>
                    </a:cubicBezTo>
                    <a:cubicBezTo>
                      <a:pt x="6752" y="2025"/>
                      <a:pt x="7097" y="2858"/>
                      <a:pt x="7097" y="3751"/>
                    </a:cubicBezTo>
                    <a:cubicBezTo>
                      <a:pt x="7097" y="4620"/>
                      <a:pt x="6752" y="5442"/>
                      <a:pt x="6157" y="6073"/>
                    </a:cubicBezTo>
                    <a:cubicBezTo>
                      <a:pt x="5609" y="6632"/>
                      <a:pt x="5299" y="7347"/>
                      <a:pt x="5240" y="8109"/>
                    </a:cubicBezTo>
                    <a:lnTo>
                      <a:pt x="4883" y="8109"/>
                    </a:lnTo>
                    <a:lnTo>
                      <a:pt x="4883" y="3822"/>
                    </a:lnTo>
                    <a:cubicBezTo>
                      <a:pt x="4883" y="3775"/>
                      <a:pt x="4871" y="3739"/>
                      <a:pt x="4835" y="3703"/>
                    </a:cubicBezTo>
                    <a:lnTo>
                      <a:pt x="3978" y="2406"/>
                    </a:lnTo>
                    <a:cubicBezTo>
                      <a:pt x="3930" y="2346"/>
                      <a:pt x="3871" y="2310"/>
                      <a:pt x="3799" y="2310"/>
                    </a:cubicBezTo>
                    <a:cubicBezTo>
                      <a:pt x="3716" y="2310"/>
                      <a:pt x="3644" y="2334"/>
                      <a:pt x="3620" y="2406"/>
                    </a:cubicBezTo>
                    <a:lnTo>
                      <a:pt x="2751" y="3703"/>
                    </a:lnTo>
                    <a:cubicBezTo>
                      <a:pt x="2728" y="3739"/>
                      <a:pt x="2704" y="3775"/>
                      <a:pt x="2704" y="3822"/>
                    </a:cubicBezTo>
                    <a:lnTo>
                      <a:pt x="2704" y="8109"/>
                    </a:lnTo>
                    <a:lnTo>
                      <a:pt x="2347" y="8109"/>
                    </a:lnTo>
                    <a:cubicBezTo>
                      <a:pt x="2287" y="7347"/>
                      <a:pt x="1977" y="6632"/>
                      <a:pt x="1430" y="6073"/>
                    </a:cubicBezTo>
                    <a:cubicBezTo>
                      <a:pt x="834" y="5465"/>
                      <a:pt x="501" y="4656"/>
                      <a:pt x="489" y="3810"/>
                    </a:cubicBezTo>
                    <a:cubicBezTo>
                      <a:pt x="477" y="2929"/>
                      <a:pt x="823" y="2096"/>
                      <a:pt x="1430" y="1453"/>
                    </a:cubicBezTo>
                    <a:cubicBezTo>
                      <a:pt x="2049" y="822"/>
                      <a:pt x="2870" y="453"/>
                      <a:pt x="3751" y="441"/>
                    </a:cubicBezTo>
                    <a:close/>
                    <a:moveTo>
                      <a:pt x="5228" y="8561"/>
                    </a:moveTo>
                    <a:lnTo>
                      <a:pt x="5228" y="8835"/>
                    </a:lnTo>
                    <a:lnTo>
                      <a:pt x="5228" y="8883"/>
                    </a:lnTo>
                    <a:lnTo>
                      <a:pt x="2335" y="8883"/>
                    </a:lnTo>
                    <a:lnTo>
                      <a:pt x="2335" y="8835"/>
                    </a:lnTo>
                    <a:lnTo>
                      <a:pt x="2335" y="8561"/>
                    </a:lnTo>
                    <a:close/>
                    <a:moveTo>
                      <a:pt x="5121" y="9311"/>
                    </a:moveTo>
                    <a:cubicBezTo>
                      <a:pt x="4942" y="9752"/>
                      <a:pt x="4525" y="10026"/>
                      <a:pt x="4037" y="10026"/>
                    </a:cubicBezTo>
                    <a:lnTo>
                      <a:pt x="3525" y="10026"/>
                    </a:lnTo>
                    <a:cubicBezTo>
                      <a:pt x="3037" y="10026"/>
                      <a:pt x="2620" y="9728"/>
                      <a:pt x="2442" y="9311"/>
                    </a:cubicBezTo>
                    <a:close/>
                    <a:moveTo>
                      <a:pt x="4049" y="10478"/>
                    </a:moveTo>
                    <a:cubicBezTo>
                      <a:pt x="4061" y="10478"/>
                      <a:pt x="4109" y="10478"/>
                      <a:pt x="4132" y="10490"/>
                    </a:cubicBezTo>
                    <a:cubicBezTo>
                      <a:pt x="4132" y="10597"/>
                      <a:pt x="4049" y="10668"/>
                      <a:pt x="3954" y="10668"/>
                    </a:cubicBezTo>
                    <a:lnTo>
                      <a:pt x="3620" y="10668"/>
                    </a:lnTo>
                    <a:cubicBezTo>
                      <a:pt x="3513" y="10668"/>
                      <a:pt x="3442" y="10585"/>
                      <a:pt x="3442" y="10490"/>
                    </a:cubicBezTo>
                    <a:lnTo>
                      <a:pt x="3442" y="10478"/>
                    </a:lnTo>
                    <a:close/>
                    <a:moveTo>
                      <a:pt x="3762" y="0"/>
                    </a:moveTo>
                    <a:cubicBezTo>
                      <a:pt x="3746" y="0"/>
                      <a:pt x="3731" y="0"/>
                      <a:pt x="3716" y="0"/>
                    </a:cubicBezTo>
                    <a:cubicBezTo>
                      <a:pt x="1656" y="24"/>
                      <a:pt x="1" y="1739"/>
                      <a:pt x="13" y="3810"/>
                    </a:cubicBezTo>
                    <a:cubicBezTo>
                      <a:pt x="25" y="4775"/>
                      <a:pt x="406" y="5680"/>
                      <a:pt x="1073" y="6370"/>
                    </a:cubicBezTo>
                    <a:cubicBezTo>
                      <a:pt x="1596" y="6906"/>
                      <a:pt x="1870" y="7609"/>
                      <a:pt x="1870" y="8335"/>
                    </a:cubicBezTo>
                    <a:lnTo>
                      <a:pt x="1870" y="8835"/>
                    </a:lnTo>
                    <a:cubicBezTo>
                      <a:pt x="1870" y="9549"/>
                      <a:pt x="2335" y="10168"/>
                      <a:pt x="2966" y="10383"/>
                    </a:cubicBezTo>
                    <a:lnTo>
                      <a:pt x="2966" y="10490"/>
                    </a:lnTo>
                    <a:cubicBezTo>
                      <a:pt x="2966" y="10835"/>
                      <a:pt x="3239" y="11121"/>
                      <a:pt x="3585" y="11121"/>
                    </a:cubicBezTo>
                    <a:lnTo>
                      <a:pt x="3930" y="11121"/>
                    </a:lnTo>
                    <a:cubicBezTo>
                      <a:pt x="4275" y="11121"/>
                      <a:pt x="4549" y="10835"/>
                      <a:pt x="4549" y="10490"/>
                    </a:cubicBezTo>
                    <a:lnTo>
                      <a:pt x="4549" y="10383"/>
                    </a:lnTo>
                    <a:cubicBezTo>
                      <a:pt x="5192" y="10168"/>
                      <a:pt x="5645" y="9549"/>
                      <a:pt x="5645" y="8835"/>
                    </a:cubicBezTo>
                    <a:lnTo>
                      <a:pt x="5645" y="8335"/>
                    </a:lnTo>
                    <a:cubicBezTo>
                      <a:pt x="5645" y="7609"/>
                      <a:pt x="5918" y="6918"/>
                      <a:pt x="6442" y="6382"/>
                    </a:cubicBezTo>
                    <a:cubicBezTo>
                      <a:pt x="7133" y="5680"/>
                      <a:pt x="7502" y="4751"/>
                      <a:pt x="7502" y="3763"/>
                    </a:cubicBezTo>
                    <a:cubicBezTo>
                      <a:pt x="7550" y="2751"/>
                      <a:pt x="7145" y="1798"/>
                      <a:pt x="6418" y="1084"/>
                    </a:cubicBezTo>
                    <a:cubicBezTo>
                      <a:pt x="5715" y="380"/>
                      <a:pt x="4757" y="0"/>
                      <a:pt x="376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4;p33">
                <a:extLst>
                  <a:ext uri="{FF2B5EF4-FFF2-40B4-BE49-F238E27FC236}">
                    <a16:creationId xmlns:a16="http://schemas.microsoft.com/office/drawing/2014/main" id="{3EEA71CD-704F-1516-F156-AD7D12709919}"/>
                  </a:ext>
                </a:extLst>
              </p:cNvPr>
              <p:cNvSpPr/>
              <p:nvPr/>
            </p:nvSpPr>
            <p:spPr>
              <a:xfrm>
                <a:off x="3263076" y="2942511"/>
                <a:ext cx="79287" cy="99579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3126" extrusionOk="0">
                    <a:moveTo>
                      <a:pt x="246" y="1"/>
                    </a:moveTo>
                    <a:cubicBezTo>
                      <a:pt x="146" y="1"/>
                      <a:pt x="56" y="59"/>
                      <a:pt x="36" y="161"/>
                    </a:cubicBezTo>
                    <a:cubicBezTo>
                      <a:pt x="0" y="280"/>
                      <a:pt x="60" y="399"/>
                      <a:pt x="179" y="422"/>
                    </a:cubicBezTo>
                    <a:cubicBezTo>
                      <a:pt x="1286" y="744"/>
                      <a:pt x="2048" y="1768"/>
                      <a:pt x="2048" y="2899"/>
                    </a:cubicBezTo>
                    <a:cubicBezTo>
                      <a:pt x="2048" y="3018"/>
                      <a:pt x="2143" y="3125"/>
                      <a:pt x="2262" y="3125"/>
                    </a:cubicBezTo>
                    <a:cubicBezTo>
                      <a:pt x="2381" y="3125"/>
                      <a:pt x="2488" y="3018"/>
                      <a:pt x="2488" y="2899"/>
                    </a:cubicBezTo>
                    <a:cubicBezTo>
                      <a:pt x="2488" y="1577"/>
                      <a:pt x="1595" y="387"/>
                      <a:pt x="298" y="6"/>
                    </a:cubicBezTo>
                    <a:cubicBezTo>
                      <a:pt x="280" y="2"/>
                      <a:pt x="263" y="1"/>
                      <a:pt x="246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5;p33">
                <a:extLst>
                  <a:ext uri="{FF2B5EF4-FFF2-40B4-BE49-F238E27FC236}">
                    <a16:creationId xmlns:a16="http://schemas.microsoft.com/office/drawing/2014/main" id="{26EB649A-C18C-C6EB-3BC4-1E775C353E99}"/>
                  </a:ext>
                </a:extLst>
              </p:cNvPr>
              <p:cNvSpPr/>
              <p:nvPr/>
            </p:nvSpPr>
            <p:spPr>
              <a:xfrm>
                <a:off x="3237656" y="2939262"/>
                <a:ext cx="20897" cy="14462"/>
              </a:xfrm>
              <a:custGeom>
                <a:avLst/>
                <a:gdLst/>
                <a:ahLst/>
                <a:cxnLst/>
                <a:rect l="l" t="t" r="r" b="b"/>
                <a:pathLst>
                  <a:path w="656" h="454" extrusionOk="0">
                    <a:moveTo>
                      <a:pt x="227" y="1"/>
                    </a:moveTo>
                    <a:cubicBezTo>
                      <a:pt x="107" y="1"/>
                      <a:pt x="0" y="108"/>
                      <a:pt x="0" y="227"/>
                    </a:cubicBezTo>
                    <a:cubicBezTo>
                      <a:pt x="0" y="346"/>
                      <a:pt x="107" y="453"/>
                      <a:pt x="227" y="453"/>
                    </a:cubicBezTo>
                    <a:lnTo>
                      <a:pt x="417" y="453"/>
                    </a:lnTo>
                    <a:cubicBezTo>
                      <a:pt x="536" y="453"/>
                      <a:pt x="619" y="358"/>
                      <a:pt x="643" y="251"/>
                    </a:cubicBezTo>
                    <a:cubicBezTo>
                      <a:pt x="655" y="108"/>
                      <a:pt x="560" y="1"/>
                      <a:pt x="429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6;p33">
                <a:extLst>
                  <a:ext uri="{FF2B5EF4-FFF2-40B4-BE49-F238E27FC236}">
                    <a16:creationId xmlns:a16="http://schemas.microsoft.com/office/drawing/2014/main" id="{6BC23AD9-5746-8AD7-0A49-43E1F8B78C56}"/>
                  </a:ext>
                </a:extLst>
              </p:cNvPr>
              <p:cNvSpPr/>
              <p:nvPr/>
            </p:nvSpPr>
            <p:spPr>
              <a:xfrm>
                <a:off x="3379888" y="3029539"/>
                <a:ext cx="2656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41" extrusionOk="0">
                    <a:moveTo>
                      <a:pt x="226" y="0"/>
                    </a:moveTo>
                    <a:cubicBezTo>
                      <a:pt x="107" y="0"/>
                      <a:pt x="0" y="107"/>
                      <a:pt x="0" y="226"/>
                    </a:cubicBezTo>
                    <a:cubicBezTo>
                      <a:pt x="0" y="346"/>
                      <a:pt x="107" y="441"/>
                      <a:pt x="226" y="441"/>
                    </a:cubicBezTo>
                    <a:lnTo>
                      <a:pt x="607" y="441"/>
                    </a:lnTo>
                    <a:cubicBezTo>
                      <a:pt x="726" y="441"/>
                      <a:pt x="834" y="346"/>
                      <a:pt x="834" y="226"/>
                    </a:cubicBezTo>
                    <a:cubicBezTo>
                      <a:pt x="822" y="107"/>
                      <a:pt x="726" y="0"/>
                      <a:pt x="607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7;p33">
                <a:extLst>
                  <a:ext uri="{FF2B5EF4-FFF2-40B4-BE49-F238E27FC236}">
                    <a16:creationId xmlns:a16="http://schemas.microsoft.com/office/drawing/2014/main" id="{81C8A11D-E5B5-FE39-BBA8-C86882B73963}"/>
                  </a:ext>
                </a:extLst>
              </p:cNvPr>
              <p:cNvSpPr/>
              <p:nvPr/>
            </p:nvSpPr>
            <p:spPr>
              <a:xfrm>
                <a:off x="3086313" y="3029539"/>
                <a:ext cx="26599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441" extrusionOk="0">
                    <a:moveTo>
                      <a:pt x="227" y="0"/>
                    </a:moveTo>
                    <a:cubicBezTo>
                      <a:pt x="108" y="0"/>
                      <a:pt x="1" y="107"/>
                      <a:pt x="1" y="226"/>
                    </a:cubicBezTo>
                    <a:cubicBezTo>
                      <a:pt x="1" y="346"/>
                      <a:pt x="108" y="441"/>
                      <a:pt x="227" y="441"/>
                    </a:cubicBezTo>
                    <a:lnTo>
                      <a:pt x="608" y="441"/>
                    </a:lnTo>
                    <a:cubicBezTo>
                      <a:pt x="727" y="441"/>
                      <a:pt x="834" y="346"/>
                      <a:pt x="834" y="226"/>
                    </a:cubicBezTo>
                    <a:cubicBezTo>
                      <a:pt x="834" y="107"/>
                      <a:pt x="727" y="0"/>
                      <a:pt x="608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8;p33">
                <a:extLst>
                  <a:ext uri="{FF2B5EF4-FFF2-40B4-BE49-F238E27FC236}">
                    <a16:creationId xmlns:a16="http://schemas.microsoft.com/office/drawing/2014/main" id="{62ECEAEC-4CBE-EFA0-691D-9546F2EFFAFB}"/>
                  </a:ext>
                </a:extLst>
              </p:cNvPr>
              <p:cNvSpPr/>
              <p:nvPr/>
            </p:nvSpPr>
            <p:spPr>
              <a:xfrm>
                <a:off x="3359788" y="2953469"/>
                <a:ext cx="26567" cy="2035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639" extrusionOk="0">
                    <a:moveTo>
                      <a:pt x="594" y="0"/>
                    </a:moveTo>
                    <a:cubicBezTo>
                      <a:pt x="555" y="0"/>
                      <a:pt x="514" y="13"/>
                      <a:pt x="476" y="43"/>
                    </a:cubicBezTo>
                    <a:lnTo>
                      <a:pt x="155" y="233"/>
                    </a:lnTo>
                    <a:cubicBezTo>
                      <a:pt x="48" y="293"/>
                      <a:pt x="0" y="424"/>
                      <a:pt x="83" y="531"/>
                    </a:cubicBezTo>
                    <a:cubicBezTo>
                      <a:pt x="119" y="602"/>
                      <a:pt x="203" y="638"/>
                      <a:pt x="274" y="638"/>
                    </a:cubicBezTo>
                    <a:cubicBezTo>
                      <a:pt x="310" y="638"/>
                      <a:pt x="345" y="614"/>
                      <a:pt x="381" y="602"/>
                    </a:cubicBezTo>
                    <a:lnTo>
                      <a:pt x="703" y="412"/>
                    </a:lnTo>
                    <a:cubicBezTo>
                      <a:pt x="810" y="352"/>
                      <a:pt x="834" y="221"/>
                      <a:pt x="774" y="114"/>
                    </a:cubicBezTo>
                    <a:cubicBezTo>
                      <a:pt x="735" y="45"/>
                      <a:pt x="667" y="0"/>
                      <a:pt x="594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9;p33">
                <a:extLst>
                  <a:ext uri="{FF2B5EF4-FFF2-40B4-BE49-F238E27FC236}">
                    <a16:creationId xmlns:a16="http://schemas.microsoft.com/office/drawing/2014/main" id="{FFCF1F7E-5C0A-1D35-ADB3-7499C4A45815}"/>
                  </a:ext>
                </a:extLst>
              </p:cNvPr>
              <p:cNvSpPr/>
              <p:nvPr/>
            </p:nvSpPr>
            <p:spPr>
              <a:xfrm>
                <a:off x="3106413" y="3100034"/>
                <a:ext cx="26599" cy="20164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33" extrusionOk="0">
                    <a:moveTo>
                      <a:pt x="590" y="0"/>
                    </a:moveTo>
                    <a:cubicBezTo>
                      <a:pt x="550" y="0"/>
                      <a:pt x="511" y="12"/>
                      <a:pt x="477" y="38"/>
                    </a:cubicBezTo>
                    <a:lnTo>
                      <a:pt x="144" y="228"/>
                    </a:lnTo>
                    <a:cubicBezTo>
                      <a:pt x="36" y="288"/>
                      <a:pt x="1" y="419"/>
                      <a:pt x="72" y="526"/>
                    </a:cubicBezTo>
                    <a:cubicBezTo>
                      <a:pt x="108" y="597"/>
                      <a:pt x="191" y="633"/>
                      <a:pt x="263" y="633"/>
                    </a:cubicBezTo>
                    <a:cubicBezTo>
                      <a:pt x="310" y="633"/>
                      <a:pt x="334" y="609"/>
                      <a:pt x="370" y="597"/>
                    </a:cubicBezTo>
                    <a:lnTo>
                      <a:pt x="691" y="407"/>
                    </a:lnTo>
                    <a:cubicBezTo>
                      <a:pt x="787" y="347"/>
                      <a:pt x="834" y="216"/>
                      <a:pt x="775" y="109"/>
                    </a:cubicBezTo>
                    <a:cubicBezTo>
                      <a:pt x="736" y="40"/>
                      <a:pt x="663" y="0"/>
                      <a:pt x="590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30;p33">
                <a:extLst>
                  <a:ext uri="{FF2B5EF4-FFF2-40B4-BE49-F238E27FC236}">
                    <a16:creationId xmlns:a16="http://schemas.microsoft.com/office/drawing/2014/main" id="{B0C6FB5F-6CBF-B409-A84A-B981D3B44A0C}"/>
                  </a:ext>
                </a:extLst>
              </p:cNvPr>
              <p:cNvSpPr/>
              <p:nvPr/>
            </p:nvSpPr>
            <p:spPr>
              <a:xfrm>
                <a:off x="3308565" y="2897277"/>
                <a:ext cx="22044" cy="24178"/>
              </a:xfrm>
              <a:custGeom>
                <a:avLst/>
                <a:gdLst/>
                <a:ahLst/>
                <a:cxnLst/>
                <a:rect l="l" t="t" r="r" b="b"/>
                <a:pathLst>
                  <a:path w="692" h="759" extrusionOk="0">
                    <a:moveTo>
                      <a:pt x="441" y="1"/>
                    </a:moveTo>
                    <a:cubicBezTo>
                      <a:pt x="369" y="1"/>
                      <a:pt x="301" y="35"/>
                      <a:pt x="263" y="104"/>
                    </a:cubicBezTo>
                    <a:lnTo>
                      <a:pt x="60" y="438"/>
                    </a:lnTo>
                    <a:cubicBezTo>
                      <a:pt x="1" y="533"/>
                      <a:pt x="37" y="676"/>
                      <a:pt x="144" y="735"/>
                    </a:cubicBezTo>
                    <a:cubicBezTo>
                      <a:pt x="167" y="747"/>
                      <a:pt x="215" y="759"/>
                      <a:pt x="239" y="759"/>
                    </a:cubicBezTo>
                    <a:cubicBezTo>
                      <a:pt x="322" y="759"/>
                      <a:pt x="394" y="711"/>
                      <a:pt x="441" y="652"/>
                    </a:cubicBezTo>
                    <a:lnTo>
                      <a:pt x="632" y="330"/>
                    </a:lnTo>
                    <a:cubicBezTo>
                      <a:pt x="691" y="223"/>
                      <a:pt x="656" y="92"/>
                      <a:pt x="560" y="33"/>
                    </a:cubicBezTo>
                    <a:cubicBezTo>
                      <a:pt x="522" y="11"/>
                      <a:pt x="481" y="1"/>
                      <a:pt x="441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31;p33">
                <a:extLst>
                  <a:ext uri="{FF2B5EF4-FFF2-40B4-BE49-F238E27FC236}">
                    <a16:creationId xmlns:a16="http://schemas.microsoft.com/office/drawing/2014/main" id="{AFABA595-C0AC-916D-2195-97F3013D20BA}"/>
                  </a:ext>
                </a:extLst>
              </p:cNvPr>
              <p:cNvSpPr/>
              <p:nvPr/>
            </p:nvSpPr>
            <p:spPr>
              <a:xfrm>
                <a:off x="3239153" y="2877049"/>
                <a:ext cx="14080" cy="26599"/>
              </a:xfrm>
              <a:custGeom>
                <a:avLst/>
                <a:gdLst/>
                <a:ahLst/>
                <a:cxnLst/>
                <a:rect l="l" t="t" r="r" b="b"/>
                <a:pathLst>
                  <a:path w="442" h="835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lnTo>
                      <a:pt x="1" y="608"/>
                    </a:lnTo>
                    <a:cubicBezTo>
                      <a:pt x="1" y="727"/>
                      <a:pt x="96" y="834"/>
                      <a:pt x="215" y="834"/>
                    </a:cubicBezTo>
                    <a:cubicBezTo>
                      <a:pt x="334" y="834"/>
                      <a:pt x="441" y="727"/>
                      <a:pt x="441" y="608"/>
                    </a:cubicBezTo>
                    <a:lnTo>
                      <a:pt x="441" y="215"/>
                    </a:lnTo>
                    <a:cubicBezTo>
                      <a:pt x="441" y="96"/>
                      <a:pt x="358" y="1"/>
                      <a:pt x="215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32;p33">
                <a:extLst>
                  <a:ext uri="{FF2B5EF4-FFF2-40B4-BE49-F238E27FC236}">
                    <a16:creationId xmlns:a16="http://schemas.microsoft.com/office/drawing/2014/main" id="{FF472950-99DF-1EA2-3F22-776804F0FB86}"/>
                  </a:ext>
                </a:extLst>
              </p:cNvPr>
              <p:cNvSpPr/>
              <p:nvPr/>
            </p:nvSpPr>
            <p:spPr>
              <a:xfrm>
                <a:off x="3161809" y="2897500"/>
                <a:ext cx="22394" cy="243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764" extrusionOk="0">
                    <a:moveTo>
                      <a:pt x="262" y="0"/>
                    </a:moveTo>
                    <a:cubicBezTo>
                      <a:pt x="222" y="0"/>
                      <a:pt x="181" y="12"/>
                      <a:pt x="143" y="38"/>
                    </a:cubicBezTo>
                    <a:cubicBezTo>
                      <a:pt x="48" y="97"/>
                      <a:pt x="0" y="228"/>
                      <a:pt x="72" y="335"/>
                    </a:cubicBezTo>
                    <a:lnTo>
                      <a:pt x="262" y="669"/>
                    </a:lnTo>
                    <a:cubicBezTo>
                      <a:pt x="310" y="740"/>
                      <a:pt x="381" y="764"/>
                      <a:pt x="464" y="764"/>
                    </a:cubicBezTo>
                    <a:cubicBezTo>
                      <a:pt x="500" y="764"/>
                      <a:pt x="536" y="752"/>
                      <a:pt x="560" y="740"/>
                    </a:cubicBezTo>
                    <a:cubicBezTo>
                      <a:pt x="667" y="681"/>
                      <a:pt x="703" y="550"/>
                      <a:pt x="643" y="442"/>
                    </a:cubicBezTo>
                    <a:lnTo>
                      <a:pt x="441" y="109"/>
                    </a:lnTo>
                    <a:cubicBezTo>
                      <a:pt x="402" y="40"/>
                      <a:pt x="334" y="0"/>
                      <a:pt x="26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33;p33">
                <a:extLst>
                  <a:ext uri="{FF2B5EF4-FFF2-40B4-BE49-F238E27FC236}">
                    <a16:creationId xmlns:a16="http://schemas.microsoft.com/office/drawing/2014/main" id="{198C903C-A474-AC83-B395-B6D2AD4B5DB7}"/>
                  </a:ext>
                </a:extLst>
              </p:cNvPr>
              <p:cNvSpPr/>
              <p:nvPr/>
            </p:nvSpPr>
            <p:spPr>
              <a:xfrm>
                <a:off x="3106413" y="2953151"/>
                <a:ext cx="26599" cy="19909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25" extrusionOk="0">
                    <a:moveTo>
                      <a:pt x="246" y="0"/>
                    </a:moveTo>
                    <a:cubicBezTo>
                      <a:pt x="168" y="0"/>
                      <a:pt x="92" y="40"/>
                      <a:pt x="60" y="112"/>
                    </a:cubicBezTo>
                    <a:cubicBezTo>
                      <a:pt x="1" y="208"/>
                      <a:pt x="25" y="350"/>
                      <a:pt x="132" y="410"/>
                    </a:cubicBezTo>
                    <a:lnTo>
                      <a:pt x="453" y="600"/>
                    </a:lnTo>
                    <a:cubicBezTo>
                      <a:pt x="489" y="612"/>
                      <a:pt x="537" y="624"/>
                      <a:pt x="560" y="624"/>
                    </a:cubicBezTo>
                    <a:cubicBezTo>
                      <a:pt x="632" y="624"/>
                      <a:pt x="715" y="589"/>
                      <a:pt x="751" y="529"/>
                    </a:cubicBezTo>
                    <a:cubicBezTo>
                      <a:pt x="834" y="422"/>
                      <a:pt x="787" y="291"/>
                      <a:pt x="679" y="231"/>
                    </a:cubicBezTo>
                    <a:lnTo>
                      <a:pt x="358" y="29"/>
                    </a:lnTo>
                    <a:cubicBezTo>
                      <a:pt x="323" y="10"/>
                      <a:pt x="284" y="0"/>
                      <a:pt x="246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34;p33">
                <a:extLst>
                  <a:ext uri="{FF2B5EF4-FFF2-40B4-BE49-F238E27FC236}">
                    <a16:creationId xmlns:a16="http://schemas.microsoft.com/office/drawing/2014/main" id="{C3174BD2-39E8-E8F5-13F5-C8596722CEE1}"/>
                  </a:ext>
                </a:extLst>
              </p:cNvPr>
              <p:cNvSpPr/>
              <p:nvPr/>
            </p:nvSpPr>
            <p:spPr>
              <a:xfrm>
                <a:off x="3360520" y="3099811"/>
                <a:ext cx="25834" cy="20005"/>
              </a:xfrm>
              <a:custGeom>
                <a:avLst/>
                <a:gdLst/>
                <a:ahLst/>
                <a:cxnLst/>
                <a:rect l="l" t="t" r="r" b="b"/>
                <a:pathLst>
                  <a:path w="811" h="628" extrusionOk="0">
                    <a:moveTo>
                      <a:pt x="239" y="1"/>
                    </a:moveTo>
                    <a:cubicBezTo>
                      <a:pt x="167" y="1"/>
                      <a:pt x="99" y="35"/>
                      <a:pt x="60" y="104"/>
                    </a:cubicBezTo>
                    <a:cubicBezTo>
                      <a:pt x="1" y="211"/>
                      <a:pt x="25" y="342"/>
                      <a:pt x="132" y="402"/>
                    </a:cubicBezTo>
                    <a:lnTo>
                      <a:pt x="453" y="592"/>
                    </a:lnTo>
                    <a:cubicBezTo>
                      <a:pt x="489" y="604"/>
                      <a:pt x="537" y="628"/>
                      <a:pt x="561" y="628"/>
                    </a:cubicBezTo>
                    <a:cubicBezTo>
                      <a:pt x="632" y="628"/>
                      <a:pt x="715" y="580"/>
                      <a:pt x="751" y="521"/>
                    </a:cubicBezTo>
                    <a:cubicBezTo>
                      <a:pt x="811" y="426"/>
                      <a:pt x="787" y="283"/>
                      <a:pt x="680" y="223"/>
                    </a:cubicBezTo>
                    <a:lnTo>
                      <a:pt x="358" y="33"/>
                    </a:lnTo>
                    <a:cubicBezTo>
                      <a:pt x="320" y="11"/>
                      <a:pt x="279" y="1"/>
                      <a:pt x="239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2" name="Imagen 31">
            <a:extLst>
              <a:ext uri="{FF2B5EF4-FFF2-40B4-BE49-F238E27FC236}">
                <a16:creationId xmlns:a16="http://schemas.microsoft.com/office/drawing/2014/main" id="{8067783D-D542-1844-3EEA-9E6BCF746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657" y="1145226"/>
            <a:ext cx="5996250" cy="2689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83ABD149-A574-A815-D691-B67B0AAF2332}"/>
              </a:ext>
            </a:extLst>
          </p:cNvPr>
          <p:cNvSpPr txBox="1"/>
          <p:nvPr/>
        </p:nvSpPr>
        <p:spPr>
          <a:xfrm>
            <a:off x="4714502" y="2958614"/>
            <a:ext cx="977632" cy="15125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MX" dirty="0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DBB0ADEE-0048-D93E-6896-236BE1C08AFD}"/>
              </a:ext>
            </a:extLst>
          </p:cNvPr>
          <p:cNvGrpSpPr/>
          <p:nvPr/>
        </p:nvGrpSpPr>
        <p:grpSpPr>
          <a:xfrm>
            <a:off x="9303056" y="2396585"/>
            <a:ext cx="2725594" cy="1966826"/>
            <a:chOff x="9466406" y="2221086"/>
            <a:chExt cx="2725594" cy="1966826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55DC7277-CE6F-21E0-2AFE-803CDC6FE339}"/>
                </a:ext>
              </a:extLst>
            </p:cNvPr>
            <p:cNvGrpSpPr/>
            <p:nvPr/>
          </p:nvGrpSpPr>
          <p:grpSpPr>
            <a:xfrm>
              <a:off x="9466406" y="2221086"/>
              <a:ext cx="1477509" cy="1428217"/>
              <a:chOff x="5066387" y="4543766"/>
              <a:chExt cx="1477509" cy="1428217"/>
            </a:xfrm>
          </p:grpSpPr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6D7B078-A4D4-3D65-E9AB-AED2F0EEAA01}"/>
                  </a:ext>
                </a:extLst>
              </p:cNvPr>
              <p:cNvSpPr txBox="1"/>
              <p:nvPr/>
            </p:nvSpPr>
            <p:spPr>
              <a:xfrm>
                <a:off x="5066387" y="4543766"/>
                <a:ext cx="980519" cy="151254"/>
              </a:xfrm>
              <a:prstGeom prst="rect">
                <a:avLst/>
              </a:prstGeom>
              <a:noFill/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s-MX" dirty="0"/>
              </a:p>
            </p:txBody>
          </p:sp>
          <p:cxnSp>
            <p:nvCxnSpPr>
              <p:cNvPr id="39" name="Conector recto 38">
                <a:extLst>
                  <a:ext uri="{FF2B5EF4-FFF2-40B4-BE49-F238E27FC236}">
                    <a16:creationId xmlns:a16="http://schemas.microsoft.com/office/drawing/2014/main" id="{2C9C7EA7-0C66-78A1-A016-C0A9E49947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46906" y="4695020"/>
                <a:ext cx="0" cy="1276963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>
                <a:extLst>
                  <a:ext uri="{FF2B5EF4-FFF2-40B4-BE49-F238E27FC236}">
                    <a16:creationId xmlns:a16="http://schemas.microsoft.com/office/drawing/2014/main" id="{F9DF10DA-5EDE-23B7-ADB3-0221A14A1D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46906" y="5971983"/>
                <a:ext cx="496990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B2059808-4184-7FC5-018A-CF0345FCDB2A}"/>
                </a:ext>
              </a:extLst>
            </p:cNvPr>
            <p:cNvSpPr txBox="1"/>
            <p:nvPr/>
          </p:nvSpPr>
          <p:spPr>
            <a:xfrm>
              <a:off x="10914202" y="3110694"/>
              <a:ext cx="127779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dirty="0">
                  <a:latin typeface="Agency FB" panose="020B0503020202020204" pitchFamily="34" charset="0"/>
                </a:rPr>
                <a:t>La emisión de la factura no puede ser posterior a 30 días.</a:t>
              </a: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57238416-C58A-F0C4-D7E4-B0857A7FA4D0}"/>
              </a:ext>
            </a:extLst>
          </p:cNvPr>
          <p:cNvGrpSpPr/>
          <p:nvPr/>
        </p:nvGrpSpPr>
        <p:grpSpPr>
          <a:xfrm>
            <a:off x="4714502" y="3588894"/>
            <a:ext cx="5151551" cy="1050344"/>
            <a:chOff x="4870270" y="3429000"/>
            <a:chExt cx="5151551" cy="1050344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5F4CEA54-B7D1-418E-5068-212FE87E74FD}"/>
                </a:ext>
              </a:extLst>
            </p:cNvPr>
            <p:cNvGrpSpPr/>
            <p:nvPr/>
          </p:nvGrpSpPr>
          <p:grpSpPr>
            <a:xfrm>
              <a:off x="4870270" y="3429000"/>
              <a:ext cx="2557629" cy="692770"/>
              <a:chOff x="488523" y="5719642"/>
              <a:chExt cx="2557629" cy="692770"/>
            </a:xfrm>
          </p:grpSpPr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5F222BA7-7E3C-E4BD-AE0F-302676249520}"/>
                  </a:ext>
                </a:extLst>
              </p:cNvPr>
              <p:cNvSpPr txBox="1"/>
              <p:nvPr/>
            </p:nvSpPr>
            <p:spPr>
              <a:xfrm>
                <a:off x="488523" y="5719642"/>
                <a:ext cx="2060639" cy="151254"/>
              </a:xfrm>
              <a:prstGeom prst="rect">
                <a:avLst/>
              </a:prstGeom>
              <a:noFill/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endParaRPr lang="es-MX" dirty="0"/>
              </a:p>
            </p:txBody>
          </p: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67DA924B-21F1-83CD-9A6C-82FD5D37FE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9162" y="5719642"/>
                <a:ext cx="0" cy="688408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" name="Conector recto 48">
                <a:extLst>
                  <a:ext uri="{FF2B5EF4-FFF2-40B4-BE49-F238E27FC236}">
                    <a16:creationId xmlns:a16="http://schemas.microsoft.com/office/drawing/2014/main" id="{36DF91B8-4B0E-9A3E-91F1-E93368FBF7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49162" y="6412412"/>
                <a:ext cx="496990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23AF56A2-544F-C4C6-95B9-699CABD70209}"/>
                </a:ext>
              </a:extLst>
            </p:cNvPr>
            <p:cNvSpPr txBox="1"/>
            <p:nvPr/>
          </p:nvSpPr>
          <p:spPr>
            <a:xfrm>
              <a:off x="7742383" y="3894569"/>
              <a:ext cx="22794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600" dirty="0">
                  <a:latin typeface="Agency FB" panose="020B0503020202020204" pitchFamily="34" charset="0"/>
                </a:rPr>
                <a:t>El “Uso de CFDI” tiene que corresponder al tipo de bien.</a:t>
              </a:r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19F08E34-54BD-5223-CE58-8A99FBFBB3E2}"/>
              </a:ext>
            </a:extLst>
          </p:cNvPr>
          <p:cNvSpPr txBox="1"/>
          <p:nvPr/>
        </p:nvSpPr>
        <p:spPr>
          <a:xfrm>
            <a:off x="626640" y="5672576"/>
            <a:ext cx="102218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latin typeface="Agency FB" panose="020B0503020202020204" pitchFamily="34" charset="0"/>
              </a:rPr>
              <a:t>* Si lo que se ingresa al almacén tiene como finalidad incorporarse a la mercancía de Canon para su venta, la factura debe venir con el Uso de </a:t>
            </a:r>
            <a:r>
              <a:rPr lang="es-MX" sz="1400" b="1" dirty="0">
                <a:latin typeface="Agency FB" panose="020B0503020202020204" pitchFamily="34" charset="0"/>
              </a:rPr>
              <a:t>CFDI: G01 Adquisición de mercancías</a:t>
            </a:r>
          </a:p>
          <a:p>
            <a:r>
              <a:rPr lang="es-MX" sz="1400" dirty="0">
                <a:latin typeface="Agency FB" panose="020B0503020202020204" pitchFamily="34" charset="0"/>
              </a:rPr>
              <a:t>* Si lo que se ingresa al almacén tiene como propósitos utilizarse en algún tipo de eventos, como folletería o promocionales el uso de </a:t>
            </a:r>
            <a:r>
              <a:rPr lang="es-MX" sz="1400" b="1" dirty="0">
                <a:latin typeface="Agency FB" panose="020B0503020202020204" pitchFamily="34" charset="0"/>
              </a:rPr>
              <a:t>CFDI debe ser G03 Gastos en general</a:t>
            </a:r>
          </a:p>
          <a:p>
            <a:endParaRPr lang="es-MX" sz="1600" dirty="0">
              <a:latin typeface="Agency FB" panose="020B0503020202020204" pitchFamily="34" charset="0"/>
            </a:endParaRPr>
          </a:p>
        </p:txBody>
      </p:sp>
      <p:grpSp>
        <p:nvGrpSpPr>
          <p:cNvPr id="58" name="Grupo 57">
            <a:extLst>
              <a:ext uri="{FF2B5EF4-FFF2-40B4-BE49-F238E27FC236}">
                <a16:creationId xmlns:a16="http://schemas.microsoft.com/office/drawing/2014/main" id="{947DACF9-3F78-D4D2-8FFD-7EB5974B2139}"/>
              </a:ext>
            </a:extLst>
          </p:cNvPr>
          <p:cNvGrpSpPr/>
          <p:nvPr/>
        </p:nvGrpSpPr>
        <p:grpSpPr>
          <a:xfrm>
            <a:off x="7451935" y="4472996"/>
            <a:ext cx="211786" cy="224049"/>
            <a:chOff x="4759451" y="962630"/>
            <a:chExt cx="359315" cy="300853"/>
          </a:xfrm>
        </p:grpSpPr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66623DB9-EF03-A031-158B-A573BB29B9E3}"/>
                </a:ext>
              </a:extLst>
            </p:cNvPr>
            <p:cNvSpPr/>
            <p:nvPr/>
          </p:nvSpPr>
          <p:spPr>
            <a:xfrm>
              <a:off x="4759451" y="976116"/>
              <a:ext cx="359315" cy="287367"/>
            </a:xfrm>
            <a:prstGeom prst="ellipse">
              <a:avLst/>
            </a:prstGeom>
            <a:ln w="190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B8147D0A-E55B-CFFB-C197-39AB645BBC12}"/>
                </a:ext>
              </a:extLst>
            </p:cNvPr>
            <p:cNvSpPr txBox="1"/>
            <p:nvPr/>
          </p:nvSpPr>
          <p:spPr>
            <a:xfrm>
              <a:off x="4773913" y="962630"/>
              <a:ext cx="330391" cy="2892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square" rtlCol="0">
              <a:spAutoFit/>
            </a:bodyPr>
            <a:lstStyle/>
            <a:p>
              <a:r>
                <a:rPr lang="es-MX" sz="800" dirty="0">
                  <a:latin typeface="Agency FB" panose="020B0503020202020204" pitchFamily="34" charset="0"/>
                </a:rPr>
                <a:t>1</a:t>
              </a:r>
            </a:p>
          </p:txBody>
        </p:sp>
      </p:grpSp>
      <p:grpSp>
        <p:nvGrpSpPr>
          <p:cNvPr id="64" name="Grupo 63">
            <a:extLst>
              <a:ext uri="{FF2B5EF4-FFF2-40B4-BE49-F238E27FC236}">
                <a16:creationId xmlns:a16="http://schemas.microsoft.com/office/drawing/2014/main" id="{7E732BBC-4092-612A-3F27-023943082A82}"/>
              </a:ext>
            </a:extLst>
          </p:cNvPr>
          <p:cNvGrpSpPr/>
          <p:nvPr/>
        </p:nvGrpSpPr>
        <p:grpSpPr>
          <a:xfrm>
            <a:off x="389651" y="5714816"/>
            <a:ext cx="211786" cy="224049"/>
            <a:chOff x="4759451" y="962630"/>
            <a:chExt cx="359315" cy="300853"/>
          </a:xfrm>
        </p:grpSpPr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E22CD5C0-FF5F-3F0C-0548-81806EB0EAE2}"/>
                </a:ext>
              </a:extLst>
            </p:cNvPr>
            <p:cNvSpPr/>
            <p:nvPr/>
          </p:nvSpPr>
          <p:spPr>
            <a:xfrm>
              <a:off x="4759451" y="976116"/>
              <a:ext cx="359315" cy="287367"/>
            </a:xfrm>
            <a:prstGeom prst="ellipse">
              <a:avLst/>
            </a:prstGeom>
            <a:ln w="190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D914B289-BB16-7A77-C479-01AF530E669A}"/>
                </a:ext>
              </a:extLst>
            </p:cNvPr>
            <p:cNvSpPr txBox="1"/>
            <p:nvPr/>
          </p:nvSpPr>
          <p:spPr>
            <a:xfrm>
              <a:off x="4773913" y="962630"/>
              <a:ext cx="330391" cy="2892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wrap="square" rtlCol="0">
              <a:spAutoFit/>
            </a:bodyPr>
            <a:lstStyle/>
            <a:p>
              <a:r>
                <a:rPr lang="es-MX" sz="800" dirty="0">
                  <a:latin typeface="Agency FB" panose="020B0503020202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5664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2B0EE7A7-3D0F-D487-C722-488C1A471A24}"/>
              </a:ext>
            </a:extLst>
          </p:cNvPr>
          <p:cNvSpPr/>
          <p:nvPr/>
        </p:nvSpPr>
        <p:spPr>
          <a:xfrm>
            <a:off x="9336360" y="0"/>
            <a:ext cx="1728192" cy="573325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6B98D9A-6989-55D6-BD14-0D395556F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909828"/>
            <a:ext cx="8405763" cy="2532559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C2D3F5E9-F544-BAD3-708A-92CDB5BAD78C}"/>
              </a:ext>
            </a:extLst>
          </p:cNvPr>
          <p:cNvGrpSpPr/>
          <p:nvPr/>
        </p:nvGrpSpPr>
        <p:grpSpPr>
          <a:xfrm>
            <a:off x="2948021" y="4187283"/>
            <a:ext cx="6295957" cy="1569660"/>
            <a:chOff x="1775520" y="4240625"/>
            <a:chExt cx="5544616" cy="1569660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FAC5CC8D-B75D-E3FB-325A-B1196DAC433C}"/>
                </a:ext>
              </a:extLst>
            </p:cNvPr>
            <p:cNvSpPr txBox="1"/>
            <p:nvPr/>
          </p:nvSpPr>
          <p:spPr>
            <a:xfrm>
              <a:off x="2495600" y="4240625"/>
              <a:ext cx="4824536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2400" dirty="0">
                  <a:latin typeface="Agency FB" panose="020B0503020202020204" pitchFamily="34" charset="0"/>
                </a:rPr>
                <a:t>Hoja de Validación del portal de PAEBSA.</a:t>
              </a:r>
            </a:p>
            <a:p>
              <a:pPr algn="just"/>
              <a:r>
                <a:rPr lang="es-MX" sz="2400" dirty="0">
                  <a:latin typeface="Agency FB" panose="020B0503020202020204" pitchFamily="34" charset="0"/>
                </a:rPr>
                <a:t>Proveedor: Debe ser ingresado con el 1.4 Compras Nacionales con Orden S21 para poder ser procesado.</a:t>
              </a:r>
            </a:p>
          </p:txBody>
        </p:sp>
        <p:grpSp>
          <p:nvGrpSpPr>
            <p:cNvPr id="9" name="Google Shape;922;p33">
              <a:extLst>
                <a:ext uri="{FF2B5EF4-FFF2-40B4-BE49-F238E27FC236}">
                  <a16:creationId xmlns:a16="http://schemas.microsoft.com/office/drawing/2014/main" id="{F8B83877-B19F-2937-9B54-D456019CAFF1}"/>
                </a:ext>
              </a:extLst>
            </p:cNvPr>
            <p:cNvGrpSpPr/>
            <p:nvPr/>
          </p:nvGrpSpPr>
          <p:grpSpPr>
            <a:xfrm>
              <a:off x="1775520" y="4829164"/>
              <a:ext cx="320143" cy="392581"/>
              <a:chOff x="3086313" y="2877049"/>
              <a:chExt cx="320143" cy="392581"/>
            </a:xfrm>
            <a:solidFill>
              <a:srgbClr val="FF0000"/>
            </a:solidFill>
          </p:grpSpPr>
          <p:sp>
            <p:nvSpPr>
              <p:cNvPr id="10" name="Google Shape;923;p33">
                <a:extLst>
                  <a:ext uri="{FF2B5EF4-FFF2-40B4-BE49-F238E27FC236}">
                    <a16:creationId xmlns:a16="http://schemas.microsoft.com/office/drawing/2014/main" id="{9D3B9E7F-D1D7-F10F-8F4B-0083431AEC45}"/>
                  </a:ext>
                </a:extLst>
              </p:cNvPr>
              <p:cNvSpPr/>
              <p:nvPr/>
            </p:nvSpPr>
            <p:spPr>
              <a:xfrm>
                <a:off x="3125749" y="2915371"/>
                <a:ext cx="240505" cy="354259"/>
              </a:xfrm>
              <a:custGeom>
                <a:avLst/>
                <a:gdLst/>
                <a:ahLst/>
                <a:cxnLst/>
                <a:rect l="l" t="t" r="r" b="b"/>
                <a:pathLst>
                  <a:path w="7550" h="11121" extrusionOk="0">
                    <a:moveTo>
                      <a:pt x="3775" y="2929"/>
                    </a:moveTo>
                    <a:lnTo>
                      <a:pt x="3918" y="3120"/>
                    </a:lnTo>
                    <a:cubicBezTo>
                      <a:pt x="3871" y="3144"/>
                      <a:pt x="3823" y="3144"/>
                      <a:pt x="3775" y="3144"/>
                    </a:cubicBezTo>
                    <a:cubicBezTo>
                      <a:pt x="3740" y="3132"/>
                      <a:pt x="3692" y="3120"/>
                      <a:pt x="3644" y="3120"/>
                    </a:cubicBezTo>
                    <a:lnTo>
                      <a:pt x="3775" y="2929"/>
                    </a:lnTo>
                    <a:close/>
                    <a:moveTo>
                      <a:pt x="4168" y="3501"/>
                    </a:moveTo>
                    <a:lnTo>
                      <a:pt x="4299" y="3703"/>
                    </a:lnTo>
                    <a:cubicBezTo>
                      <a:pt x="4126" y="3751"/>
                      <a:pt x="3948" y="3775"/>
                      <a:pt x="3769" y="3775"/>
                    </a:cubicBezTo>
                    <a:cubicBezTo>
                      <a:pt x="3591" y="3775"/>
                      <a:pt x="3412" y="3751"/>
                      <a:pt x="3239" y="3703"/>
                    </a:cubicBezTo>
                    <a:lnTo>
                      <a:pt x="3382" y="3501"/>
                    </a:lnTo>
                    <a:cubicBezTo>
                      <a:pt x="3513" y="3560"/>
                      <a:pt x="3644" y="3572"/>
                      <a:pt x="3775" y="3572"/>
                    </a:cubicBezTo>
                    <a:cubicBezTo>
                      <a:pt x="3918" y="3572"/>
                      <a:pt x="4049" y="3537"/>
                      <a:pt x="4168" y="3501"/>
                    </a:cubicBezTo>
                    <a:close/>
                    <a:moveTo>
                      <a:pt x="3120" y="4132"/>
                    </a:moveTo>
                    <a:cubicBezTo>
                      <a:pt x="3275" y="4180"/>
                      <a:pt x="3418" y="4191"/>
                      <a:pt x="3561" y="4215"/>
                    </a:cubicBezTo>
                    <a:lnTo>
                      <a:pt x="3561" y="8109"/>
                    </a:lnTo>
                    <a:lnTo>
                      <a:pt x="3120" y="8109"/>
                    </a:lnTo>
                    <a:lnTo>
                      <a:pt x="3120" y="4132"/>
                    </a:lnTo>
                    <a:close/>
                    <a:moveTo>
                      <a:pt x="4430" y="4132"/>
                    </a:moveTo>
                    <a:lnTo>
                      <a:pt x="4430" y="8109"/>
                    </a:lnTo>
                    <a:lnTo>
                      <a:pt x="4001" y="8109"/>
                    </a:lnTo>
                    <a:lnTo>
                      <a:pt x="4001" y="4215"/>
                    </a:lnTo>
                    <a:cubicBezTo>
                      <a:pt x="4156" y="4191"/>
                      <a:pt x="4287" y="4180"/>
                      <a:pt x="4430" y="4132"/>
                    </a:cubicBezTo>
                    <a:close/>
                    <a:moveTo>
                      <a:pt x="3799" y="441"/>
                    </a:moveTo>
                    <a:cubicBezTo>
                      <a:pt x="4668" y="441"/>
                      <a:pt x="5490" y="786"/>
                      <a:pt x="6121" y="1394"/>
                    </a:cubicBezTo>
                    <a:cubicBezTo>
                      <a:pt x="6752" y="2025"/>
                      <a:pt x="7097" y="2858"/>
                      <a:pt x="7097" y="3751"/>
                    </a:cubicBezTo>
                    <a:cubicBezTo>
                      <a:pt x="7097" y="4620"/>
                      <a:pt x="6752" y="5442"/>
                      <a:pt x="6157" y="6073"/>
                    </a:cubicBezTo>
                    <a:cubicBezTo>
                      <a:pt x="5609" y="6632"/>
                      <a:pt x="5299" y="7347"/>
                      <a:pt x="5240" y="8109"/>
                    </a:cubicBezTo>
                    <a:lnTo>
                      <a:pt x="4883" y="8109"/>
                    </a:lnTo>
                    <a:lnTo>
                      <a:pt x="4883" y="3822"/>
                    </a:lnTo>
                    <a:cubicBezTo>
                      <a:pt x="4883" y="3775"/>
                      <a:pt x="4871" y="3739"/>
                      <a:pt x="4835" y="3703"/>
                    </a:cubicBezTo>
                    <a:lnTo>
                      <a:pt x="3978" y="2406"/>
                    </a:lnTo>
                    <a:cubicBezTo>
                      <a:pt x="3930" y="2346"/>
                      <a:pt x="3871" y="2310"/>
                      <a:pt x="3799" y="2310"/>
                    </a:cubicBezTo>
                    <a:cubicBezTo>
                      <a:pt x="3716" y="2310"/>
                      <a:pt x="3644" y="2334"/>
                      <a:pt x="3620" y="2406"/>
                    </a:cubicBezTo>
                    <a:lnTo>
                      <a:pt x="2751" y="3703"/>
                    </a:lnTo>
                    <a:cubicBezTo>
                      <a:pt x="2728" y="3739"/>
                      <a:pt x="2704" y="3775"/>
                      <a:pt x="2704" y="3822"/>
                    </a:cubicBezTo>
                    <a:lnTo>
                      <a:pt x="2704" y="8109"/>
                    </a:lnTo>
                    <a:lnTo>
                      <a:pt x="2347" y="8109"/>
                    </a:lnTo>
                    <a:cubicBezTo>
                      <a:pt x="2287" y="7347"/>
                      <a:pt x="1977" y="6632"/>
                      <a:pt x="1430" y="6073"/>
                    </a:cubicBezTo>
                    <a:cubicBezTo>
                      <a:pt x="834" y="5465"/>
                      <a:pt x="501" y="4656"/>
                      <a:pt x="489" y="3810"/>
                    </a:cubicBezTo>
                    <a:cubicBezTo>
                      <a:pt x="477" y="2929"/>
                      <a:pt x="823" y="2096"/>
                      <a:pt x="1430" y="1453"/>
                    </a:cubicBezTo>
                    <a:cubicBezTo>
                      <a:pt x="2049" y="822"/>
                      <a:pt x="2870" y="453"/>
                      <a:pt x="3751" y="441"/>
                    </a:cubicBezTo>
                    <a:close/>
                    <a:moveTo>
                      <a:pt x="5228" y="8561"/>
                    </a:moveTo>
                    <a:lnTo>
                      <a:pt x="5228" y="8835"/>
                    </a:lnTo>
                    <a:lnTo>
                      <a:pt x="5228" y="8883"/>
                    </a:lnTo>
                    <a:lnTo>
                      <a:pt x="2335" y="8883"/>
                    </a:lnTo>
                    <a:lnTo>
                      <a:pt x="2335" y="8835"/>
                    </a:lnTo>
                    <a:lnTo>
                      <a:pt x="2335" y="8561"/>
                    </a:lnTo>
                    <a:close/>
                    <a:moveTo>
                      <a:pt x="5121" y="9311"/>
                    </a:moveTo>
                    <a:cubicBezTo>
                      <a:pt x="4942" y="9752"/>
                      <a:pt x="4525" y="10026"/>
                      <a:pt x="4037" y="10026"/>
                    </a:cubicBezTo>
                    <a:lnTo>
                      <a:pt x="3525" y="10026"/>
                    </a:lnTo>
                    <a:cubicBezTo>
                      <a:pt x="3037" y="10026"/>
                      <a:pt x="2620" y="9728"/>
                      <a:pt x="2442" y="9311"/>
                    </a:cubicBezTo>
                    <a:close/>
                    <a:moveTo>
                      <a:pt x="4049" y="10478"/>
                    </a:moveTo>
                    <a:cubicBezTo>
                      <a:pt x="4061" y="10478"/>
                      <a:pt x="4109" y="10478"/>
                      <a:pt x="4132" y="10490"/>
                    </a:cubicBezTo>
                    <a:cubicBezTo>
                      <a:pt x="4132" y="10597"/>
                      <a:pt x="4049" y="10668"/>
                      <a:pt x="3954" y="10668"/>
                    </a:cubicBezTo>
                    <a:lnTo>
                      <a:pt x="3620" y="10668"/>
                    </a:lnTo>
                    <a:cubicBezTo>
                      <a:pt x="3513" y="10668"/>
                      <a:pt x="3442" y="10585"/>
                      <a:pt x="3442" y="10490"/>
                    </a:cubicBezTo>
                    <a:lnTo>
                      <a:pt x="3442" y="10478"/>
                    </a:lnTo>
                    <a:close/>
                    <a:moveTo>
                      <a:pt x="3762" y="0"/>
                    </a:moveTo>
                    <a:cubicBezTo>
                      <a:pt x="3746" y="0"/>
                      <a:pt x="3731" y="0"/>
                      <a:pt x="3716" y="0"/>
                    </a:cubicBezTo>
                    <a:cubicBezTo>
                      <a:pt x="1656" y="24"/>
                      <a:pt x="1" y="1739"/>
                      <a:pt x="13" y="3810"/>
                    </a:cubicBezTo>
                    <a:cubicBezTo>
                      <a:pt x="25" y="4775"/>
                      <a:pt x="406" y="5680"/>
                      <a:pt x="1073" y="6370"/>
                    </a:cubicBezTo>
                    <a:cubicBezTo>
                      <a:pt x="1596" y="6906"/>
                      <a:pt x="1870" y="7609"/>
                      <a:pt x="1870" y="8335"/>
                    </a:cubicBezTo>
                    <a:lnTo>
                      <a:pt x="1870" y="8835"/>
                    </a:lnTo>
                    <a:cubicBezTo>
                      <a:pt x="1870" y="9549"/>
                      <a:pt x="2335" y="10168"/>
                      <a:pt x="2966" y="10383"/>
                    </a:cubicBezTo>
                    <a:lnTo>
                      <a:pt x="2966" y="10490"/>
                    </a:lnTo>
                    <a:cubicBezTo>
                      <a:pt x="2966" y="10835"/>
                      <a:pt x="3239" y="11121"/>
                      <a:pt x="3585" y="11121"/>
                    </a:cubicBezTo>
                    <a:lnTo>
                      <a:pt x="3930" y="11121"/>
                    </a:lnTo>
                    <a:cubicBezTo>
                      <a:pt x="4275" y="11121"/>
                      <a:pt x="4549" y="10835"/>
                      <a:pt x="4549" y="10490"/>
                    </a:cubicBezTo>
                    <a:lnTo>
                      <a:pt x="4549" y="10383"/>
                    </a:lnTo>
                    <a:cubicBezTo>
                      <a:pt x="5192" y="10168"/>
                      <a:pt x="5645" y="9549"/>
                      <a:pt x="5645" y="8835"/>
                    </a:cubicBezTo>
                    <a:lnTo>
                      <a:pt x="5645" y="8335"/>
                    </a:lnTo>
                    <a:cubicBezTo>
                      <a:pt x="5645" y="7609"/>
                      <a:pt x="5918" y="6918"/>
                      <a:pt x="6442" y="6382"/>
                    </a:cubicBezTo>
                    <a:cubicBezTo>
                      <a:pt x="7133" y="5680"/>
                      <a:pt x="7502" y="4751"/>
                      <a:pt x="7502" y="3763"/>
                    </a:cubicBezTo>
                    <a:cubicBezTo>
                      <a:pt x="7550" y="2751"/>
                      <a:pt x="7145" y="1798"/>
                      <a:pt x="6418" y="1084"/>
                    </a:cubicBezTo>
                    <a:cubicBezTo>
                      <a:pt x="5715" y="380"/>
                      <a:pt x="4757" y="0"/>
                      <a:pt x="376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4;p33">
                <a:extLst>
                  <a:ext uri="{FF2B5EF4-FFF2-40B4-BE49-F238E27FC236}">
                    <a16:creationId xmlns:a16="http://schemas.microsoft.com/office/drawing/2014/main" id="{6FA4DDC7-73E2-F4E4-8942-66C45B8646C4}"/>
                  </a:ext>
                </a:extLst>
              </p:cNvPr>
              <p:cNvSpPr/>
              <p:nvPr/>
            </p:nvSpPr>
            <p:spPr>
              <a:xfrm>
                <a:off x="3263076" y="2942511"/>
                <a:ext cx="79287" cy="99579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3126" extrusionOk="0">
                    <a:moveTo>
                      <a:pt x="246" y="1"/>
                    </a:moveTo>
                    <a:cubicBezTo>
                      <a:pt x="146" y="1"/>
                      <a:pt x="56" y="59"/>
                      <a:pt x="36" y="161"/>
                    </a:cubicBezTo>
                    <a:cubicBezTo>
                      <a:pt x="0" y="280"/>
                      <a:pt x="60" y="399"/>
                      <a:pt x="179" y="422"/>
                    </a:cubicBezTo>
                    <a:cubicBezTo>
                      <a:pt x="1286" y="744"/>
                      <a:pt x="2048" y="1768"/>
                      <a:pt x="2048" y="2899"/>
                    </a:cubicBezTo>
                    <a:cubicBezTo>
                      <a:pt x="2048" y="3018"/>
                      <a:pt x="2143" y="3125"/>
                      <a:pt x="2262" y="3125"/>
                    </a:cubicBezTo>
                    <a:cubicBezTo>
                      <a:pt x="2381" y="3125"/>
                      <a:pt x="2488" y="3018"/>
                      <a:pt x="2488" y="2899"/>
                    </a:cubicBezTo>
                    <a:cubicBezTo>
                      <a:pt x="2488" y="1577"/>
                      <a:pt x="1595" y="387"/>
                      <a:pt x="298" y="6"/>
                    </a:cubicBezTo>
                    <a:cubicBezTo>
                      <a:pt x="280" y="2"/>
                      <a:pt x="263" y="1"/>
                      <a:pt x="246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5;p33">
                <a:extLst>
                  <a:ext uri="{FF2B5EF4-FFF2-40B4-BE49-F238E27FC236}">
                    <a16:creationId xmlns:a16="http://schemas.microsoft.com/office/drawing/2014/main" id="{4B6C89D9-447A-AEB5-B758-5767939BB54A}"/>
                  </a:ext>
                </a:extLst>
              </p:cNvPr>
              <p:cNvSpPr/>
              <p:nvPr/>
            </p:nvSpPr>
            <p:spPr>
              <a:xfrm>
                <a:off x="3237656" y="2939262"/>
                <a:ext cx="20897" cy="14462"/>
              </a:xfrm>
              <a:custGeom>
                <a:avLst/>
                <a:gdLst/>
                <a:ahLst/>
                <a:cxnLst/>
                <a:rect l="l" t="t" r="r" b="b"/>
                <a:pathLst>
                  <a:path w="656" h="454" extrusionOk="0">
                    <a:moveTo>
                      <a:pt x="227" y="1"/>
                    </a:moveTo>
                    <a:cubicBezTo>
                      <a:pt x="107" y="1"/>
                      <a:pt x="0" y="108"/>
                      <a:pt x="0" y="227"/>
                    </a:cubicBezTo>
                    <a:cubicBezTo>
                      <a:pt x="0" y="346"/>
                      <a:pt x="107" y="453"/>
                      <a:pt x="227" y="453"/>
                    </a:cubicBezTo>
                    <a:lnTo>
                      <a:pt x="417" y="453"/>
                    </a:lnTo>
                    <a:cubicBezTo>
                      <a:pt x="536" y="453"/>
                      <a:pt x="619" y="358"/>
                      <a:pt x="643" y="251"/>
                    </a:cubicBezTo>
                    <a:cubicBezTo>
                      <a:pt x="655" y="108"/>
                      <a:pt x="560" y="1"/>
                      <a:pt x="429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6;p33">
                <a:extLst>
                  <a:ext uri="{FF2B5EF4-FFF2-40B4-BE49-F238E27FC236}">
                    <a16:creationId xmlns:a16="http://schemas.microsoft.com/office/drawing/2014/main" id="{141917BE-E1D0-93DB-F736-1AF24F9C98DE}"/>
                  </a:ext>
                </a:extLst>
              </p:cNvPr>
              <p:cNvSpPr/>
              <p:nvPr/>
            </p:nvSpPr>
            <p:spPr>
              <a:xfrm>
                <a:off x="3379888" y="3029539"/>
                <a:ext cx="2656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41" extrusionOk="0">
                    <a:moveTo>
                      <a:pt x="226" y="0"/>
                    </a:moveTo>
                    <a:cubicBezTo>
                      <a:pt x="107" y="0"/>
                      <a:pt x="0" y="107"/>
                      <a:pt x="0" y="226"/>
                    </a:cubicBezTo>
                    <a:cubicBezTo>
                      <a:pt x="0" y="346"/>
                      <a:pt x="107" y="441"/>
                      <a:pt x="226" y="441"/>
                    </a:cubicBezTo>
                    <a:lnTo>
                      <a:pt x="607" y="441"/>
                    </a:lnTo>
                    <a:cubicBezTo>
                      <a:pt x="726" y="441"/>
                      <a:pt x="834" y="346"/>
                      <a:pt x="834" y="226"/>
                    </a:cubicBezTo>
                    <a:cubicBezTo>
                      <a:pt x="822" y="107"/>
                      <a:pt x="726" y="0"/>
                      <a:pt x="607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7;p33">
                <a:extLst>
                  <a:ext uri="{FF2B5EF4-FFF2-40B4-BE49-F238E27FC236}">
                    <a16:creationId xmlns:a16="http://schemas.microsoft.com/office/drawing/2014/main" id="{C3D91865-85F1-8534-0AE6-4AE08B9E6E72}"/>
                  </a:ext>
                </a:extLst>
              </p:cNvPr>
              <p:cNvSpPr/>
              <p:nvPr/>
            </p:nvSpPr>
            <p:spPr>
              <a:xfrm>
                <a:off x="3086313" y="3029539"/>
                <a:ext cx="26599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441" extrusionOk="0">
                    <a:moveTo>
                      <a:pt x="227" y="0"/>
                    </a:moveTo>
                    <a:cubicBezTo>
                      <a:pt x="108" y="0"/>
                      <a:pt x="1" y="107"/>
                      <a:pt x="1" y="226"/>
                    </a:cubicBezTo>
                    <a:cubicBezTo>
                      <a:pt x="1" y="346"/>
                      <a:pt x="108" y="441"/>
                      <a:pt x="227" y="441"/>
                    </a:cubicBezTo>
                    <a:lnTo>
                      <a:pt x="608" y="441"/>
                    </a:lnTo>
                    <a:cubicBezTo>
                      <a:pt x="727" y="441"/>
                      <a:pt x="834" y="346"/>
                      <a:pt x="834" y="226"/>
                    </a:cubicBezTo>
                    <a:cubicBezTo>
                      <a:pt x="834" y="107"/>
                      <a:pt x="727" y="0"/>
                      <a:pt x="608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8;p33">
                <a:extLst>
                  <a:ext uri="{FF2B5EF4-FFF2-40B4-BE49-F238E27FC236}">
                    <a16:creationId xmlns:a16="http://schemas.microsoft.com/office/drawing/2014/main" id="{EF76DC8E-9AC8-78F8-55E8-E7B9DC529CE4}"/>
                  </a:ext>
                </a:extLst>
              </p:cNvPr>
              <p:cNvSpPr/>
              <p:nvPr/>
            </p:nvSpPr>
            <p:spPr>
              <a:xfrm>
                <a:off x="3359788" y="2953469"/>
                <a:ext cx="26567" cy="2035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639" extrusionOk="0">
                    <a:moveTo>
                      <a:pt x="594" y="0"/>
                    </a:moveTo>
                    <a:cubicBezTo>
                      <a:pt x="555" y="0"/>
                      <a:pt x="514" y="13"/>
                      <a:pt x="476" y="43"/>
                    </a:cubicBezTo>
                    <a:lnTo>
                      <a:pt x="155" y="233"/>
                    </a:lnTo>
                    <a:cubicBezTo>
                      <a:pt x="48" y="293"/>
                      <a:pt x="0" y="424"/>
                      <a:pt x="83" y="531"/>
                    </a:cubicBezTo>
                    <a:cubicBezTo>
                      <a:pt x="119" y="602"/>
                      <a:pt x="203" y="638"/>
                      <a:pt x="274" y="638"/>
                    </a:cubicBezTo>
                    <a:cubicBezTo>
                      <a:pt x="310" y="638"/>
                      <a:pt x="345" y="614"/>
                      <a:pt x="381" y="602"/>
                    </a:cubicBezTo>
                    <a:lnTo>
                      <a:pt x="703" y="412"/>
                    </a:lnTo>
                    <a:cubicBezTo>
                      <a:pt x="810" y="352"/>
                      <a:pt x="834" y="221"/>
                      <a:pt x="774" y="114"/>
                    </a:cubicBezTo>
                    <a:cubicBezTo>
                      <a:pt x="735" y="45"/>
                      <a:pt x="667" y="0"/>
                      <a:pt x="594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9;p33">
                <a:extLst>
                  <a:ext uri="{FF2B5EF4-FFF2-40B4-BE49-F238E27FC236}">
                    <a16:creationId xmlns:a16="http://schemas.microsoft.com/office/drawing/2014/main" id="{623B1574-2596-A825-1052-04FBCAA02213}"/>
                  </a:ext>
                </a:extLst>
              </p:cNvPr>
              <p:cNvSpPr/>
              <p:nvPr/>
            </p:nvSpPr>
            <p:spPr>
              <a:xfrm>
                <a:off x="3106413" y="3100034"/>
                <a:ext cx="26599" cy="20164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33" extrusionOk="0">
                    <a:moveTo>
                      <a:pt x="590" y="0"/>
                    </a:moveTo>
                    <a:cubicBezTo>
                      <a:pt x="550" y="0"/>
                      <a:pt x="511" y="12"/>
                      <a:pt x="477" y="38"/>
                    </a:cubicBezTo>
                    <a:lnTo>
                      <a:pt x="144" y="228"/>
                    </a:lnTo>
                    <a:cubicBezTo>
                      <a:pt x="36" y="288"/>
                      <a:pt x="1" y="419"/>
                      <a:pt x="72" y="526"/>
                    </a:cubicBezTo>
                    <a:cubicBezTo>
                      <a:pt x="108" y="597"/>
                      <a:pt x="191" y="633"/>
                      <a:pt x="263" y="633"/>
                    </a:cubicBezTo>
                    <a:cubicBezTo>
                      <a:pt x="310" y="633"/>
                      <a:pt x="334" y="609"/>
                      <a:pt x="370" y="597"/>
                    </a:cubicBezTo>
                    <a:lnTo>
                      <a:pt x="691" y="407"/>
                    </a:lnTo>
                    <a:cubicBezTo>
                      <a:pt x="787" y="347"/>
                      <a:pt x="834" y="216"/>
                      <a:pt x="775" y="109"/>
                    </a:cubicBezTo>
                    <a:cubicBezTo>
                      <a:pt x="736" y="40"/>
                      <a:pt x="663" y="0"/>
                      <a:pt x="590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30;p33">
                <a:extLst>
                  <a:ext uri="{FF2B5EF4-FFF2-40B4-BE49-F238E27FC236}">
                    <a16:creationId xmlns:a16="http://schemas.microsoft.com/office/drawing/2014/main" id="{0EAA4CED-DE22-C6D9-F39F-82BEA6F78D8C}"/>
                  </a:ext>
                </a:extLst>
              </p:cNvPr>
              <p:cNvSpPr/>
              <p:nvPr/>
            </p:nvSpPr>
            <p:spPr>
              <a:xfrm>
                <a:off x="3308565" y="2897277"/>
                <a:ext cx="22044" cy="24178"/>
              </a:xfrm>
              <a:custGeom>
                <a:avLst/>
                <a:gdLst/>
                <a:ahLst/>
                <a:cxnLst/>
                <a:rect l="l" t="t" r="r" b="b"/>
                <a:pathLst>
                  <a:path w="692" h="759" extrusionOk="0">
                    <a:moveTo>
                      <a:pt x="441" y="1"/>
                    </a:moveTo>
                    <a:cubicBezTo>
                      <a:pt x="369" y="1"/>
                      <a:pt x="301" y="35"/>
                      <a:pt x="263" y="104"/>
                    </a:cubicBezTo>
                    <a:lnTo>
                      <a:pt x="60" y="438"/>
                    </a:lnTo>
                    <a:cubicBezTo>
                      <a:pt x="1" y="533"/>
                      <a:pt x="37" y="676"/>
                      <a:pt x="144" y="735"/>
                    </a:cubicBezTo>
                    <a:cubicBezTo>
                      <a:pt x="167" y="747"/>
                      <a:pt x="215" y="759"/>
                      <a:pt x="239" y="759"/>
                    </a:cubicBezTo>
                    <a:cubicBezTo>
                      <a:pt x="322" y="759"/>
                      <a:pt x="394" y="711"/>
                      <a:pt x="441" y="652"/>
                    </a:cubicBezTo>
                    <a:lnTo>
                      <a:pt x="632" y="330"/>
                    </a:lnTo>
                    <a:cubicBezTo>
                      <a:pt x="691" y="223"/>
                      <a:pt x="656" y="92"/>
                      <a:pt x="560" y="33"/>
                    </a:cubicBezTo>
                    <a:cubicBezTo>
                      <a:pt x="522" y="11"/>
                      <a:pt x="481" y="1"/>
                      <a:pt x="441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31;p33">
                <a:extLst>
                  <a:ext uri="{FF2B5EF4-FFF2-40B4-BE49-F238E27FC236}">
                    <a16:creationId xmlns:a16="http://schemas.microsoft.com/office/drawing/2014/main" id="{3C8CEB76-E53A-86DF-A577-CC90BBA35233}"/>
                  </a:ext>
                </a:extLst>
              </p:cNvPr>
              <p:cNvSpPr/>
              <p:nvPr/>
            </p:nvSpPr>
            <p:spPr>
              <a:xfrm>
                <a:off x="3239153" y="2877049"/>
                <a:ext cx="14080" cy="26599"/>
              </a:xfrm>
              <a:custGeom>
                <a:avLst/>
                <a:gdLst/>
                <a:ahLst/>
                <a:cxnLst/>
                <a:rect l="l" t="t" r="r" b="b"/>
                <a:pathLst>
                  <a:path w="442" h="835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lnTo>
                      <a:pt x="1" y="608"/>
                    </a:lnTo>
                    <a:cubicBezTo>
                      <a:pt x="1" y="727"/>
                      <a:pt x="96" y="834"/>
                      <a:pt x="215" y="834"/>
                    </a:cubicBezTo>
                    <a:cubicBezTo>
                      <a:pt x="334" y="834"/>
                      <a:pt x="441" y="727"/>
                      <a:pt x="441" y="608"/>
                    </a:cubicBezTo>
                    <a:lnTo>
                      <a:pt x="441" y="215"/>
                    </a:lnTo>
                    <a:cubicBezTo>
                      <a:pt x="441" y="96"/>
                      <a:pt x="358" y="1"/>
                      <a:pt x="215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32;p33">
                <a:extLst>
                  <a:ext uri="{FF2B5EF4-FFF2-40B4-BE49-F238E27FC236}">
                    <a16:creationId xmlns:a16="http://schemas.microsoft.com/office/drawing/2014/main" id="{DF9B5C0A-5FB1-66E3-BBEF-DDA2D0E34D74}"/>
                  </a:ext>
                </a:extLst>
              </p:cNvPr>
              <p:cNvSpPr/>
              <p:nvPr/>
            </p:nvSpPr>
            <p:spPr>
              <a:xfrm>
                <a:off x="3161809" y="2897500"/>
                <a:ext cx="22394" cy="243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764" extrusionOk="0">
                    <a:moveTo>
                      <a:pt x="262" y="0"/>
                    </a:moveTo>
                    <a:cubicBezTo>
                      <a:pt x="222" y="0"/>
                      <a:pt x="181" y="12"/>
                      <a:pt x="143" y="38"/>
                    </a:cubicBezTo>
                    <a:cubicBezTo>
                      <a:pt x="48" y="97"/>
                      <a:pt x="0" y="228"/>
                      <a:pt x="72" y="335"/>
                    </a:cubicBezTo>
                    <a:lnTo>
                      <a:pt x="262" y="669"/>
                    </a:lnTo>
                    <a:cubicBezTo>
                      <a:pt x="310" y="740"/>
                      <a:pt x="381" y="764"/>
                      <a:pt x="464" y="764"/>
                    </a:cubicBezTo>
                    <a:cubicBezTo>
                      <a:pt x="500" y="764"/>
                      <a:pt x="536" y="752"/>
                      <a:pt x="560" y="740"/>
                    </a:cubicBezTo>
                    <a:cubicBezTo>
                      <a:pt x="667" y="681"/>
                      <a:pt x="703" y="550"/>
                      <a:pt x="643" y="442"/>
                    </a:cubicBezTo>
                    <a:lnTo>
                      <a:pt x="441" y="109"/>
                    </a:lnTo>
                    <a:cubicBezTo>
                      <a:pt x="402" y="40"/>
                      <a:pt x="334" y="0"/>
                      <a:pt x="26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33;p33">
                <a:extLst>
                  <a:ext uri="{FF2B5EF4-FFF2-40B4-BE49-F238E27FC236}">
                    <a16:creationId xmlns:a16="http://schemas.microsoft.com/office/drawing/2014/main" id="{FCDCE7C1-CB49-3BDE-C23B-FC1F9410EE9D}"/>
                  </a:ext>
                </a:extLst>
              </p:cNvPr>
              <p:cNvSpPr/>
              <p:nvPr/>
            </p:nvSpPr>
            <p:spPr>
              <a:xfrm>
                <a:off x="3106413" y="2953151"/>
                <a:ext cx="26599" cy="19909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25" extrusionOk="0">
                    <a:moveTo>
                      <a:pt x="246" y="0"/>
                    </a:moveTo>
                    <a:cubicBezTo>
                      <a:pt x="168" y="0"/>
                      <a:pt x="92" y="40"/>
                      <a:pt x="60" y="112"/>
                    </a:cubicBezTo>
                    <a:cubicBezTo>
                      <a:pt x="1" y="208"/>
                      <a:pt x="25" y="350"/>
                      <a:pt x="132" y="410"/>
                    </a:cubicBezTo>
                    <a:lnTo>
                      <a:pt x="453" y="600"/>
                    </a:lnTo>
                    <a:cubicBezTo>
                      <a:pt x="489" y="612"/>
                      <a:pt x="537" y="624"/>
                      <a:pt x="560" y="624"/>
                    </a:cubicBezTo>
                    <a:cubicBezTo>
                      <a:pt x="632" y="624"/>
                      <a:pt x="715" y="589"/>
                      <a:pt x="751" y="529"/>
                    </a:cubicBezTo>
                    <a:cubicBezTo>
                      <a:pt x="834" y="422"/>
                      <a:pt x="787" y="291"/>
                      <a:pt x="679" y="231"/>
                    </a:cubicBezTo>
                    <a:lnTo>
                      <a:pt x="358" y="29"/>
                    </a:lnTo>
                    <a:cubicBezTo>
                      <a:pt x="323" y="10"/>
                      <a:pt x="284" y="0"/>
                      <a:pt x="246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34;p33">
                <a:extLst>
                  <a:ext uri="{FF2B5EF4-FFF2-40B4-BE49-F238E27FC236}">
                    <a16:creationId xmlns:a16="http://schemas.microsoft.com/office/drawing/2014/main" id="{ED3FF6C3-A3C3-E722-5883-E613413884A6}"/>
                  </a:ext>
                </a:extLst>
              </p:cNvPr>
              <p:cNvSpPr/>
              <p:nvPr/>
            </p:nvSpPr>
            <p:spPr>
              <a:xfrm>
                <a:off x="3360520" y="3099811"/>
                <a:ext cx="25834" cy="20005"/>
              </a:xfrm>
              <a:custGeom>
                <a:avLst/>
                <a:gdLst/>
                <a:ahLst/>
                <a:cxnLst/>
                <a:rect l="l" t="t" r="r" b="b"/>
                <a:pathLst>
                  <a:path w="811" h="628" extrusionOk="0">
                    <a:moveTo>
                      <a:pt x="239" y="1"/>
                    </a:moveTo>
                    <a:cubicBezTo>
                      <a:pt x="167" y="1"/>
                      <a:pt x="99" y="35"/>
                      <a:pt x="60" y="104"/>
                    </a:cubicBezTo>
                    <a:cubicBezTo>
                      <a:pt x="1" y="211"/>
                      <a:pt x="25" y="342"/>
                      <a:pt x="132" y="402"/>
                    </a:cubicBezTo>
                    <a:lnTo>
                      <a:pt x="453" y="592"/>
                    </a:lnTo>
                    <a:cubicBezTo>
                      <a:pt x="489" y="604"/>
                      <a:pt x="537" y="628"/>
                      <a:pt x="561" y="628"/>
                    </a:cubicBezTo>
                    <a:cubicBezTo>
                      <a:pt x="632" y="628"/>
                      <a:pt x="715" y="580"/>
                      <a:pt x="751" y="521"/>
                    </a:cubicBezTo>
                    <a:cubicBezTo>
                      <a:pt x="811" y="426"/>
                      <a:pt x="787" y="283"/>
                      <a:pt x="680" y="223"/>
                    </a:cubicBezTo>
                    <a:lnTo>
                      <a:pt x="358" y="33"/>
                    </a:lnTo>
                    <a:cubicBezTo>
                      <a:pt x="320" y="11"/>
                      <a:pt x="279" y="1"/>
                      <a:pt x="239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2A10A46-AB87-B87F-1B9B-22D5B531AFE4}"/>
              </a:ext>
            </a:extLst>
          </p:cNvPr>
          <p:cNvSpPr txBox="1"/>
          <p:nvPr/>
        </p:nvSpPr>
        <p:spPr>
          <a:xfrm>
            <a:off x="1775520" y="2276872"/>
            <a:ext cx="2060639" cy="15125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407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F8FECFF-7F40-D780-37E9-EB9F8329E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1464901"/>
            <a:ext cx="3096344" cy="3928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1141199-48DC-A8F0-BB5B-2EB3A43A0FCD}"/>
              </a:ext>
            </a:extLst>
          </p:cNvPr>
          <p:cNvGrpSpPr/>
          <p:nvPr/>
        </p:nvGrpSpPr>
        <p:grpSpPr>
          <a:xfrm>
            <a:off x="5935928" y="3013500"/>
            <a:ext cx="5272640" cy="830997"/>
            <a:chOff x="5935928" y="3013500"/>
            <a:chExt cx="5272640" cy="83099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B234E987-BD55-2C00-0C8D-E0A68DA79C1B}"/>
                </a:ext>
              </a:extLst>
            </p:cNvPr>
            <p:cNvSpPr txBox="1"/>
            <p:nvPr/>
          </p:nvSpPr>
          <p:spPr>
            <a:xfrm>
              <a:off x="6384032" y="3013500"/>
              <a:ext cx="48245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2400" dirty="0">
                  <a:latin typeface="Agency FB" panose="020B0503020202020204" pitchFamily="34" charset="0"/>
                </a:rPr>
                <a:t>Orden de compra emitida por S21 con sello de recepción física del almacén correspondiente.</a:t>
              </a:r>
            </a:p>
          </p:txBody>
        </p:sp>
        <p:grpSp>
          <p:nvGrpSpPr>
            <p:cNvPr id="7" name="Google Shape;922;p33">
              <a:extLst>
                <a:ext uri="{FF2B5EF4-FFF2-40B4-BE49-F238E27FC236}">
                  <a16:creationId xmlns:a16="http://schemas.microsoft.com/office/drawing/2014/main" id="{5EFC0BE1-5986-ECF7-809B-B3751EEDD939}"/>
                </a:ext>
              </a:extLst>
            </p:cNvPr>
            <p:cNvGrpSpPr/>
            <p:nvPr/>
          </p:nvGrpSpPr>
          <p:grpSpPr>
            <a:xfrm>
              <a:off x="5935928" y="3232707"/>
              <a:ext cx="320143" cy="392581"/>
              <a:chOff x="3086313" y="2877049"/>
              <a:chExt cx="320143" cy="392581"/>
            </a:xfrm>
            <a:solidFill>
              <a:srgbClr val="FF0000"/>
            </a:solidFill>
          </p:grpSpPr>
          <p:sp>
            <p:nvSpPr>
              <p:cNvPr id="8" name="Google Shape;923;p33">
                <a:extLst>
                  <a:ext uri="{FF2B5EF4-FFF2-40B4-BE49-F238E27FC236}">
                    <a16:creationId xmlns:a16="http://schemas.microsoft.com/office/drawing/2014/main" id="{362918BA-7E36-D223-8F8D-4DA537A3F259}"/>
                  </a:ext>
                </a:extLst>
              </p:cNvPr>
              <p:cNvSpPr/>
              <p:nvPr/>
            </p:nvSpPr>
            <p:spPr>
              <a:xfrm>
                <a:off x="3125749" y="2915371"/>
                <a:ext cx="240505" cy="354259"/>
              </a:xfrm>
              <a:custGeom>
                <a:avLst/>
                <a:gdLst/>
                <a:ahLst/>
                <a:cxnLst/>
                <a:rect l="l" t="t" r="r" b="b"/>
                <a:pathLst>
                  <a:path w="7550" h="11121" extrusionOk="0">
                    <a:moveTo>
                      <a:pt x="3775" y="2929"/>
                    </a:moveTo>
                    <a:lnTo>
                      <a:pt x="3918" y="3120"/>
                    </a:lnTo>
                    <a:cubicBezTo>
                      <a:pt x="3871" y="3144"/>
                      <a:pt x="3823" y="3144"/>
                      <a:pt x="3775" y="3144"/>
                    </a:cubicBezTo>
                    <a:cubicBezTo>
                      <a:pt x="3740" y="3132"/>
                      <a:pt x="3692" y="3120"/>
                      <a:pt x="3644" y="3120"/>
                    </a:cubicBezTo>
                    <a:lnTo>
                      <a:pt x="3775" y="2929"/>
                    </a:lnTo>
                    <a:close/>
                    <a:moveTo>
                      <a:pt x="4168" y="3501"/>
                    </a:moveTo>
                    <a:lnTo>
                      <a:pt x="4299" y="3703"/>
                    </a:lnTo>
                    <a:cubicBezTo>
                      <a:pt x="4126" y="3751"/>
                      <a:pt x="3948" y="3775"/>
                      <a:pt x="3769" y="3775"/>
                    </a:cubicBezTo>
                    <a:cubicBezTo>
                      <a:pt x="3591" y="3775"/>
                      <a:pt x="3412" y="3751"/>
                      <a:pt x="3239" y="3703"/>
                    </a:cubicBezTo>
                    <a:lnTo>
                      <a:pt x="3382" y="3501"/>
                    </a:lnTo>
                    <a:cubicBezTo>
                      <a:pt x="3513" y="3560"/>
                      <a:pt x="3644" y="3572"/>
                      <a:pt x="3775" y="3572"/>
                    </a:cubicBezTo>
                    <a:cubicBezTo>
                      <a:pt x="3918" y="3572"/>
                      <a:pt x="4049" y="3537"/>
                      <a:pt x="4168" y="3501"/>
                    </a:cubicBezTo>
                    <a:close/>
                    <a:moveTo>
                      <a:pt x="3120" y="4132"/>
                    </a:moveTo>
                    <a:cubicBezTo>
                      <a:pt x="3275" y="4180"/>
                      <a:pt x="3418" y="4191"/>
                      <a:pt x="3561" y="4215"/>
                    </a:cubicBezTo>
                    <a:lnTo>
                      <a:pt x="3561" y="8109"/>
                    </a:lnTo>
                    <a:lnTo>
                      <a:pt x="3120" y="8109"/>
                    </a:lnTo>
                    <a:lnTo>
                      <a:pt x="3120" y="4132"/>
                    </a:lnTo>
                    <a:close/>
                    <a:moveTo>
                      <a:pt x="4430" y="4132"/>
                    </a:moveTo>
                    <a:lnTo>
                      <a:pt x="4430" y="8109"/>
                    </a:lnTo>
                    <a:lnTo>
                      <a:pt x="4001" y="8109"/>
                    </a:lnTo>
                    <a:lnTo>
                      <a:pt x="4001" y="4215"/>
                    </a:lnTo>
                    <a:cubicBezTo>
                      <a:pt x="4156" y="4191"/>
                      <a:pt x="4287" y="4180"/>
                      <a:pt x="4430" y="4132"/>
                    </a:cubicBezTo>
                    <a:close/>
                    <a:moveTo>
                      <a:pt x="3799" y="441"/>
                    </a:moveTo>
                    <a:cubicBezTo>
                      <a:pt x="4668" y="441"/>
                      <a:pt x="5490" y="786"/>
                      <a:pt x="6121" y="1394"/>
                    </a:cubicBezTo>
                    <a:cubicBezTo>
                      <a:pt x="6752" y="2025"/>
                      <a:pt x="7097" y="2858"/>
                      <a:pt x="7097" y="3751"/>
                    </a:cubicBezTo>
                    <a:cubicBezTo>
                      <a:pt x="7097" y="4620"/>
                      <a:pt x="6752" y="5442"/>
                      <a:pt x="6157" y="6073"/>
                    </a:cubicBezTo>
                    <a:cubicBezTo>
                      <a:pt x="5609" y="6632"/>
                      <a:pt x="5299" y="7347"/>
                      <a:pt x="5240" y="8109"/>
                    </a:cubicBezTo>
                    <a:lnTo>
                      <a:pt x="4883" y="8109"/>
                    </a:lnTo>
                    <a:lnTo>
                      <a:pt x="4883" y="3822"/>
                    </a:lnTo>
                    <a:cubicBezTo>
                      <a:pt x="4883" y="3775"/>
                      <a:pt x="4871" y="3739"/>
                      <a:pt x="4835" y="3703"/>
                    </a:cubicBezTo>
                    <a:lnTo>
                      <a:pt x="3978" y="2406"/>
                    </a:lnTo>
                    <a:cubicBezTo>
                      <a:pt x="3930" y="2346"/>
                      <a:pt x="3871" y="2310"/>
                      <a:pt x="3799" y="2310"/>
                    </a:cubicBezTo>
                    <a:cubicBezTo>
                      <a:pt x="3716" y="2310"/>
                      <a:pt x="3644" y="2334"/>
                      <a:pt x="3620" y="2406"/>
                    </a:cubicBezTo>
                    <a:lnTo>
                      <a:pt x="2751" y="3703"/>
                    </a:lnTo>
                    <a:cubicBezTo>
                      <a:pt x="2728" y="3739"/>
                      <a:pt x="2704" y="3775"/>
                      <a:pt x="2704" y="3822"/>
                    </a:cubicBezTo>
                    <a:lnTo>
                      <a:pt x="2704" y="8109"/>
                    </a:lnTo>
                    <a:lnTo>
                      <a:pt x="2347" y="8109"/>
                    </a:lnTo>
                    <a:cubicBezTo>
                      <a:pt x="2287" y="7347"/>
                      <a:pt x="1977" y="6632"/>
                      <a:pt x="1430" y="6073"/>
                    </a:cubicBezTo>
                    <a:cubicBezTo>
                      <a:pt x="834" y="5465"/>
                      <a:pt x="501" y="4656"/>
                      <a:pt x="489" y="3810"/>
                    </a:cubicBezTo>
                    <a:cubicBezTo>
                      <a:pt x="477" y="2929"/>
                      <a:pt x="823" y="2096"/>
                      <a:pt x="1430" y="1453"/>
                    </a:cubicBezTo>
                    <a:cubicBezTo>
                      <a:pt x="2049" y="822"/>
                      <a:pt x="2870" y="453"/>
                      <a:pt x="3751" y="441"/>
                    </a:cubicBezTo>
                    <a:close/>
                    <a:moveTo>
                      <a:pt x="5228" y="8561"/>
                    </a:moveTo>
                    <a:lnTo>
                      <a:pt x="5228" y="8835"/>
                    </a:lnTo>
                    <a:lnTo>
                      <a:pt x="5228" y="8883"/>
                    </a:lnTo>
                    <a:lnTo>
                      <a:pt x="2335" y="8883"/>
                    </a:lnTo>
                    <a:lnTo>
                      <a:pt x="2335" y="8835"/>
                    </a:lnTo>
                    <a:lnTo>
                      <a:pt x="2335" y="8561"/>
                    </a:lnTo>
                    <a:close/>
                    <a:moveTo>
                      <a:pt x="5121" y="9311"/>
                    </a:moveTo>
                    <a:cubicBezTo>
                      <a:pt x="4942" y="9752"/>
                      <a:pt x="4525" y="10026"/>
                      <a:pt x="4037" y="10026"/>
                    </a:cubicBezTo>
                    <a:lnTo>
                      <a:pt x="3525" y="10026"/>
                    </a:lnTo>
                    <a:cubicBezTo>
                      <a:pt x="3037" y="10026"/>
                      <a:pt x="2620" y="9728"/>
                      <a:pt x="2442" y="9311"/>
                    </a:cubicBezTo>
                    <a:close/>
                    <a:moveTo>
                      <a:pt x="4049" y="10478"/>
                    </a:moveTo>
                    <a:cubicBezTo>
                      <a:pt x="4061" y="10478"/>
                      <a:pt x="4109" y="10478"/>
                      <a:pt x="4132" y="10490"/>
                    </a:cubicBezTo>
                    <a:cubicBezTo>
                      <a:pt x="4132" y="10597"/>
                      <a:pt x="4049" y="10668"/>
                      <a:pt x="3954" y="10668"/>
                    </a:cubicBezTo>
                    <a:lnTo>
                      <a:pt x="3620" y="10668"/>
                    </a:lnTo>
                    <a:cubicBezTo>
                      <a:pt x="3513" y="10668"/>
                      <a:pt x="3442" y="10585"/>
                      <a:pt x="3442" y="10490"/>
                    </a:cubicBezTo>
                    <a:lnTo>
                      <a:pt x="3442" y="10478"/>
                    </a:lnTo>
                    <a:close/>
                    <a:moveTo>
                      <a:pt x="3762" y="0"/>
                    </a:moveTo>
                    <a:cubicBezTo>
                      <a:pt x="3746" y="0"/>
                      <a:pt x="3731" y="0"/>
                      <a:pt x="3716" y="0"/>
                    </a:cubicBezTo>
                    <a:cubicBezTo>
                      <a:pt x="1656" y="24"/>
                      <a:pt x="1" y="1739"/>
                      <a:pt x="13" y="3810"/>
                    </a:cubicBezTo>
                    <a:cubicBezTo>
                      <a:pt x="25" y="4775"/>
                      <a:pt x="406" y="5680"/>
                      <a:pt x="1073" y="6370"/>
                    </a:cubicBezTo>
                    <a:cubicBezTo>
                      <a:pt x="1596" y="6906"/>
                      <a:pt x="1870" y="7609"/>
                      <a:pt x="1870" y="8335"/>
                    </a:cubicBezTo>
                    <a:lnTo>
                      <a:pt x="1870" y="8835"/>
                    </a:lnTo>
                    <a:cubicBezTo>
                      <a:pt x="1870" y="9549"/>
                      <a:pt x="2335" y="10168"/>
                      <a:pt x="2966" y="10383"/>
                    </a:cubicBezTo>
                    <a:lnTo>
                      <a:pt x="2966" y="10490"/>
                    </a:lnTo>
                    <a:cubicBezTo>
                      <a:pt x="2966" y="10835"/>
                      <a:pt x="3239" y="11121"/>
                      <a:pt x="3585" y="11121"/>
                    </a:cubicBezTo>
                    <a:lnTo>
                      <a:pt x="3930" y="11121"/>
                    </a:lnTo>
                    <a:cubicBezTo>
                      <a:pt x="4275" y="11121"/>
                      <a:pt x="4549" y="10835"/>
                      <a:pt x="4549" y="10490"/>
                    </a:cubicBezTo>
                    <a:lnTo>
                      <a:pt x="4549" y="10383"/>
                    </a:lnTo>
                    <a:cubicBezTo>
                      <a:pt x="5192" y="10168"/>
                      <a:pt x="5645" y="9549"/>
                      <a:pt x="5645" y="8835"/>
                    </a:cubicBezTo>
                    <a:lnTo>
                      <a:pt x="5645" y="8335"/>
                    </a:lnTo>
                    <a:cubicBezTo>
                      <a:pt x="5645" y="7609"/>
                      <a:pt x="5918" y="6918"/>
                      <a:pt x="6442" y="6382"/>
                    </a:cubicBezTo>
                    <a:cubicBezTo>
                      <a:pt x="7133" y="5680"/>
                      <a:pt x="7502" y="4751"/>
                      <a:pt x="7502" y="3763"/>
                    </a:cubicBezTo>
                    <a:cubicBezTo>
                      <a:pt x="7550" y="2751"/>
                      <a:pt x="7145" y="1798"/>
                      <a:pt x="6418" y="1084"/>
                    </a:cubicBezTo>
                    <a:cubicBezTo>
                      <a:pt x="5715" y="380"/>
                      <a:pt x="4757" y="0"/>
                      <a:pt x="376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924;p33">
                <a:extLst>
                  <a:ext uri="{FF2B5EF4-FFF2-40B4-BE49-F238E27FC236}">
                    <a16:creationId xmlns:a16="http://schemas.microsoft.com/office/drawing/2014/main" id="{1B59BEE5-9284-CDFD-8E15-EAE3E08D267E}"/>
                  </a:ext>
                </a:extLst>
              </p:cNvPr>
              <p:cNvSpPr/>
              <p:nvPr/>
            </p:nvSpPr>
            <p:spPr>
              <a:xfrm>
                <a:off x="3263076" y="2942511"/>
                <a:ext cx="79287" cy="99579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3126" extrusionOk="0">
                    <a:moveTo>
                      <a:pt x="246" y="1"/>
                    </a:moveTo>
                    <a:cubicBezTo>
                      <a:pt x="146" y="1"/>
                      <a:pt x="56" y="59"/>
                      <a:pt x="36" y="161"/>
                    </a:cubicBezTo>
                    <a:cubicBezTo>
                      <a:pt x="0" y="280"/>
                      <a:pt x="60" y="399"/>
                      <a:pt x="179" y="422"/>
                    </a:cubicBezTo>
                    <a:cubicBezTo>
                      <a:pt x="1286" y="744"/>
                      <a:pt x="2048" y="1768"/>
                      <a:pt x="2048" y="2899"/>
                    </a:cubicBezTo>
                    <a:cubicBezTo>
                      <a:pt x="2048" y="3018"/>
                      <a:pt x="2143" y="3125"/>
                      <a:pt x="2262" y="3125"/>
                    </a:cubicBezTo>
                    <a:cubicBezTo>
                      <a:pt x="2381" y="3125"/>
                      <a:pt x="2488" y="3018"/>
                      <a:pt x="2488" y="2899"/>
                    </a:cubicBezTo>
                    <a:cubicBezTo>
                      <a:pt x="2488" y="1577"/>
                      <a:pt x="1595" y="387"/>
                      <a:pt x="298" y="6"/>
                    </a:cubicBezTo>
                    <a:cubicBezTo>
                      <a:pt x="280" y="2"/>
                      <a:pt x="263" y="1"/>
                      <a:pt x="246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5;p33">
                <a:extLst>
                  <a:ext uri="{FF2B5EF4-FFF2-40B4-BE49-F238E27FC236}">
                    <a16:creationId xmlns:a16="http://schemas.microsoft.com/office/drawing/2014/main" id="{0D13761F-BC79-0FFB-F657-B209707CECA7}"/>
                  </a:ext>
                </a:extLst>
              </p:cNvPr>
              <p:cNvSpPr/>
              <p:nvPr/>
            </p:nvSpPr>
            <p:spPr>
              <a:xfrm>
                <a:off x="3237656" y="2939262"/>
                <a:ext cx="20897" cy="14462"/>
              </a:xfrm>
              <a:custGeom>
                <a:avLst/>
                <a:gdLst/>
                <a:ahLst/>
                <a:cxnLst/>
                <a:rect l="l" t="t" r="r" b="b"/>
                <a:pathLst>
                  <a:path w="656" h="454" extrusionOk="0">
                    <a:moveTo>
                      <a:pt x="227" y="1"/>
                    </a:moveTo>
                    <a:cubicBezTo>
                      <a:pt x="107" y="1"/>
                      <a:pt x="0" y="108"/>
                      <a:pt x="0" y="227"/>
                    </a:cubicBezTo>
                    <a:cubicBezTo>
                      <a:pt x="0" y="346"/>
                      <a:pt x="107" y="453"/>
                      <a:pt x="227" y="453"/>
                    </a:cubicBezTo>
                    <a:lnTo>
                      <a:pt x="417" y="453"/>
                    </a:lnTo>
                    <a:cubicBezTo>
                      <a:pt x="536" y="453"/>
                      <a:pt x="619" y="358"/>
                      <a:pt x="643" y="251"/>
                    </a:cubicBezTo>
                    <a:cubicBezTo>
                      <a:pt x="655" y="108"/>
                      <a:pt x="560" y="1"/>
                      <a:pt x="429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6;p33">
                <a:extLst>
                  <a:ext uri="{FF2B5EF4-FFF2-40B4-BE49-F238E27FC236}">
                    <a16:creationId xmlns:a16="http://schemas.microsoft.com/office/drawing/2014/main" id="{3913DADE-A987-5867-86D7-890FE780F0D4}"/>
                  </a:ext>
                </a:extLst>
              </p:cNvPr>
              <p:cNvSpPr/>
              <p:nvPr/>
            </p:nvSpPr>
            <p:spPr>
              <a:xfrm>
                <a:off x="3379888" y="3029539"/>
                <a:ext cx="2656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41" extrusionOk="0">
                    <a:moveTo>
                      <a:pt x="226" y="0"/>
                    </a:moveTo>
                    <a:cubicBezTo>
                      <a:pt x="107" y="0"/>
                      <a:pt x="0" y="107"/>
                      <a:pt x="0" y="226"/>
                    </a:cubicBezTo>
                    <a:cubicBezTo>
                      <a:pt x="0" y="346"/>
                      <a:pt x="107" y="441"/>
                      <a:pt x="226" y="441"/>
                    </a:cubicBezTo>
                    <a:lnTo>
                      <a:pt x="607" y="441"/>
                    </a:lnTo>
                    <a:cubicBezTo>
                      <a:pt x="726" y="441"/>
                      <a:pt x="834" y="346"/>
                      <a:pt x="834" y="226"/>
                    </a:cubicBezTo>
                    <a:cubicBezTo>
                      <a:pt x="822" y="107"/>
                      <a:pt x="726" y="0"/>
                      <a:pt x="607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7;p33">
                <a:extLst>
                  <a:ext uri="{FF2B5EF4-FFF2-40B4-BE49-F238E27FC236}">
                    <a16:creationId xmlns:a16="http://schemas.microsoft.com/office/drawing/2014/main" id="{9D39FAE8-B5FA-471C-9802-C2748889CD16}"/>
                  </a:ext>
                </a:extLst>
              </p:cNvPr>
              <p:cNvSpPr/>
              <p:nvPr/>
            </p:nvSpPr>
            <p:spPr>
              <a:xfrm>
                <a:off x="3086313" y="3029539"/>
                <a:ext cx="26599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441" extrusionOk="0">
                    <a:moveTo>
                      <a:pt x="227" y="0"/>
                    </a:moveTo>
                    <a:cubicBezTo>
                      <a:pt x="108" y="0"/>
                      <a:pt x="1" y="107"/>
                      <a:pt x="1" y="226"/>
                    </a:cubicBezTo>
                    <a:cubicBezTo>
                      <a:pt x="1" y="346"/>
                      <a:pt x="108" y="441"/>
                      <a:pt x="227" y="441"/>
                    </a:cubicBezTo>
                    <a:lnTo>
                      <a:pt x="608" y="441"/>
                    </a:lnTo>
                    <a:cubicBezTo>
                      <a:pt x="727" y="441"/>
                      <a:pt x="834" y="346"/>
                      <a:pt x="834" y="226"/>
                    </a:cubicBezTo>
                    <a:cubicBezTo>
                      <a:pt x="834" y="107"/>
                      <a:pt x="727" y="0"/>
                      <a:pt x="608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8;p33">
                <a:extLst>
                  <a:ext uri="{FF2B5EF4-FFF2-40B4-BE49-F238E27FC236}">
                    <a16:creationId xmlns:a16="http://schemas.microsoft.com/office/drawing/2014/main" id="{4BCC11C9-23B3-185B-FB6C-18B163BFE9EB}"/>
                  </a:ext>
                </a:extLst>
              </p:cNvPr>
              <p:cNvSpPr/>
              <p:nvPr/>
            </p:nvSpPr>
            <p:spPr>
              <a:xfrm>
                <a:off x="3359788" y="2953469"/>
                <a:ext cx="26567" cy="2035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639" extrusionOk="0">
                    <a:moveTo>
                      <a:pt x="594" y="0"/>
                    </a:moveTo>
                    <a:cubicBezTo>
                      <a:pt x="555" y="0"/>
                      <a:pt x="514" y="13"/>
                      <a:pt x="476" y="43"/>
                    </a:cubicBezTo>
                    <a:lnTo>
                      <a:pt x="155" y="233"/>
                    </a:lnTo>
                    <a:cubicBezTo>
                      <a:pt x="48" y="293"/>
                      <a:pt x="0" y="424"/>
                      <a:pt x="83" y="531"/>
                    </a:cubicBezTo>
                    <a:cubicBezTo>
                      <a:pt x="119" y="602"/>
                      <a:pt x="203" y="638"/>
                      <a:pt x="274" y="638"/>
                    </a:cubicBezTo>
                    <a:cubicBezTo>
                      <a:pt x="310" y="638"/>
                      <a:pt x="345" y="614"/>
                      <a:pt x="381" y="602"/>
                    </a:cubicBezTo>
                    <a:lnTo>
                      <a:pt x="703" y="412"/>
                    </a:lnTo>
                    <a:cubicBezTo>
                      <a:pt x="810" y="352"/>
                      <a:pt x="834" y="221"/>
                      <a:pt x="774" y="114"/>
                    </a:cubicBezTo>
                    <a:cubicBezTo>
                      <a:pt x="735" y="45"/>
                      <a:pt x="667" y="0"/>
                      <a:pt x="594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9;p33">
                <a:extLst>
                  <a:ext uri="{FF2B5EF4-FFF2-40B4-BE49-F238E27FC236}">
                    <a16:creationId xmlns:a16="http://schemas.microsoft.com/office/drawing/2014/main" id="{AE1E9486-F7AE-7CCB-A83C-0EEC8D8FC322}"/>
                  </a:ext>
                </a:extLst>
              </p:cNvPr>
              <p:cNvSpPr/>
              <p:nvPr/>
            </p:nvSpPr>
            <p:spPr>
              <a:xfrm>
                <a:off x="3106413" y="3100034"/>
                <a:ext cx="26599" cy="20164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33" extrusionOk="0">
                    <a:moveTo>
                      <a:pt x="590" y="0"/>
                    </a:moveTo>
                    <a:cubicBezTo>
                      <a:pt x="550" y="0"/>
                      <a:pt x="511" y="12"/>
                      <a:pt x="477" y="38"/>
                    </a:cubicBezTo>
                    <a:lnTo>
                      <a:pt x="144" y="228"/>
                    </a:lnTo>
                    <a:cubicBezTo>
                      <a:pt x="36" y="288"/>
                      <a:pt x="1" y="419"/>
                      <a:pt x="72" y="526"/>
                    </a:cubicBezTo>
                    <a:cubicBezTo>
                      <a:pt x="108" y="597"/>
                      <a:pt x="191" y="633"/>
                      <a:pt x="263" y="633"/>
                    </a:cubicBezTo>
                    <a:cubicBezTo>
                      <a:pt x="310" y="633"/>
                      <a:pt x="334" y="609"/>
                      <a:pt x="370" y="597"/>
                    </a:cubicBezTo>
                    <a:lnTo>
                      <a:pt x="691" y="407"/>
                    </a:lnTo>
                    <a:cubicBezTo>
                      <a:pt x="787" y="347"/>
                      <a:pt x="834" y="216"/>
                      <a:pt x="775" y="109"/>
                    </a:cubicBezTo>
                    <a:cubicBezTo>
                      <a:pt x="736" y="40"/>
                      <a:pt x="663" y="0"/>
                      <a:pt x="590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30;p33">
                <a:extLst>
                  <a:ext uri="{FF2B5EF4-FFF2-40B4-BE49-F238E27FC236}">
                    <a16:creationId xmlns:a16="http://schemas.microsoft.com/office/drawing/2014/main" id="{548FE2B8-2B17-103E-3F60-A793C9A581D0}"/>
                  </a:ext>
                </a:extLst>
              </p:cNvPr>
              <p:cNvSpPr/>
              <p:nvPr/>
            </p:nvSpPr>
            <p:spPr>
              <a:xfrm>
                <a:off x="3308565" y="2897277"/>
                <a:ext cx="22044" cy="24178"/>
              </a:xfrm>
              <a:custGeom>
                <a:avLst/>
                <a:gdLst/>
                <a:ahLst/>
                <a:cxnLst/>
                <a:rect l="l" t="t" r="r" b="b"/>
                <a:pathLst>
                  <a:path w="692" h="759" extrusionOk="0">
                    <a:moveTo>
                      <a:pt x="441" y="1"/>
                    </a:moveTo>
                    <a:cubicBezTo>
                      <a:pt x="369" y="1"/>
                      <a:pt x="301" y="35"/>
                      <a:pt x="263" y="104"/>
                    </a:cubicBezTo>
                    <a:lnTo>
                      <a:pt x="60" y="438"/>
                    </a:lnTo>
                    <a:cubicBezTo>
                      <a:pt x="1" y="533"/>
                      <a:pt x="37" y="676"/>
                      <a:pt x="144" y="735"/>
                    </a:cubicBezTo>
                    <a:cubicBezTo>
                      <a:pt x="167" y="747"/>
                      <a:pt x="215" y="759"/>
                      <a:pt x="239" y="759"/>
                    </a:cubicBezTo>
                    <a:cubicBezTo>
                      <a:pt x="322" y="759"/>
                      <a:pt x="394" y="711"/>
                      <a:pt x="441" y="652"/>
                    </a:cubicBezTo>
                    <a:lnTo>
                      <a:pt x="632" y="330"/>
                    </a:lnTo>
                    <a:cubicBezTo>
                      <a:pt x="691" y="223"/>
                      <a:pt x="656" y="92"/>
                      <a:pt x="560" y="33"/>
                    </a:cubicBezTo>
                    <a:cubicBezTo>
                      <a:pt x="522" y="11"/>
                      <a:pt x="481" y="1"/>
                      <a:pt x="441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31;p33">
                <a:extLst>
                  <a:ext uri="{FF2B5EF4-FFF2-40B4-BE49-F238E27FC236}">
                    <a16:creationId xmlns:a16="http://schemas.microsoft.com/office/drawing/2014/main" id="{028983E4-5095-6AB4-6352-499F970EE152}"/>
                  </a:ext>
                </a:extLst>
              </p:cNvPr>
              <p:cNvSpPr/>
              <p:nvPr/>
            </p:nvSpPr>
            <p:spPr>
              <a:xfrm>
                <a:off x="3239153" y="2877049"/>
                <a:ext cx="14080" cy="26599"/>
              </a:xfrm>
              <a:custGeom>
                <a:avLst/>
                <a:gdLst/>
                <a:ahLst/>
                <a:cxnLst/>
                <a:rect l="l" t="t" r="r" b="b"/>
                <a:pathLst>
                  <a:path w="442" h="835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lnTo>
                      <a:pt x="1" y="608"/>
                    </a:lnTo>
                    <a:cubicBezTo>
                      <a:pt x="1" y="727"/>
                      <a:pt x="96" y="834"/>
                      <a:pt x="215" y="834"/>
                    </a:cubicBezTo>
                    <a:cubicBezTo>
                      <a:pt x="334" y="834"/>
                      <a:pt x="441" y="727"/>
                      <a:pt x="441" y="608"/>
                    </a:cubicBezTo>
                    <a:lnTo>
                      <a:pt x="441" y="215"/>
                    </a:lnTo>
                    <a:cubicBezTo>
                      <a:pt x="441" y="96"/>
                      <a:pt x="358" y="1"/>
                      <a:pt x="215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32;p33">
                <a:extLst>
                  <a:ext uri="{FF2B5EF4-FFF2-40B4-BE49-F238E27FC236}">
                    <a16:creationId xmlns:a16="http://schemas.microsoft.com/office/drawing/2014/main" id="{C14079D8-D2B6-CF8D-5595-DAB39AB08A07}"/>
                  </a:ext>
                </a:extLst>
              </p:cNvPr>
              <p:cNvSpPr/>
              <p:nvPr/>
            </p:nvSpPr>
            <p:spPr>
              <a:xfrm>
                <a:off x="3161809" y="2897500"/>
                <a:ext cx="22394" cy="243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764" extrusionOk="0">
                    <a:moveTo>
                      <a:pt x="262" y="0"/>
                    </a:moveTo>
                    <a:cubicBezTo>
                      <a:pt x="222" y="0"/>
                      <a:pt x="181" y="12"/>
                      <a:pt x="143" y="38"/>
                    </a:cubicBezTo>
                    <a:cubicBezTo>
                      <a:pt x="48" y="97"/>
                      <a:pt x="0" y="228"/>
                      <a:pt x="72" y="335"/>
                    </a:cubicBezTo>
                    <a:lnTo>
                      <a:pt x="262" y="669"/>
                    </a:lnTo>
                    <a:cubicBezTo>
                      <a:pt x="310" y="740"/>
                      <a:pt x="381" y="764"/>
                      <a:pt x="464" y="764"/>
                    </a:cubicBezTo>
                    <a:cubicBezTo>
                      <a:pt x="500" y="764"/>
                      <a:pt x="536" y="752"/>
                      <a:pt x="560" y="740"/>
                    </a:cubicBezTo>
                    <a:cubicBezTo>
                      <a:pt x="667" y="681"/>
                      <a:pt x="703" y="550"/>
                      <a:pt x="643" y="442"/>
                    </a:cubicBezTo>
                    <a:lnTo>
                      <a:pt x="441" y="109"/>
                    </a:lnTo>
                    <a:cubicBezTo>
                      <a:pt x="402" y="40"/>
                      <a:pt x="334" y="0"/>
                      <a:pt x="26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33;p33">
                <a:extLst>
                  <a:ext uri="{FF2B5EF4-FFF2-40B4-BE49-F238E27FC236}">
                    <a16:creationId xmlns:a16="http://schemas.microsoft.com/office/drawing/2014/main" id="{838B9545-46D1-FAFD-B957-A8FB30A454C9}"/>
                  </a:ext>
                </a:extLst>
              </p:cNvPr>
              <p:cNvSpPr/>
              <p:nvPr/>
            </p:nvSpPr>
            <p:spPr>
              <a:xfrm>
                <a:off x="3106413" y="2953151"/>
                <a:ext cx="26599" cy="19909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25" extrusionOk="0">
                    <a:moveTo>
                      <a:pt x="246" y="0"/>
                    </a:moveTo>
                    <a:cubicBezTo>
                      <a:pt x="168" y="0"/>
                      <a:pt x="92" y="40"/>
                      <a:pt x="60" y="112"/>
                    </a:cubicBezTo>
                    <a:cubicBezTo>
                      <a:pt x="1" y="208"/>
                      <a:pt x="25" y="350"/>
                      <a:pt x="132" y="410"/>
                    </a:cubicBezTo>
                    <a:lnTo>
                      <a:pt x="453" y="600"/>
                    </a:lnTo>
                    <a:cubicBezTo>
                      <a:pt x="489" y="612"/>
                      <a:pt x="537" y="624"/>
                      <a:pt x="560" y="624"/>
                    </a:cubicBezTo>
                    <a:cubicBezTo>
                      <a:pt x="632" y="624"/>
                      <a:pt x="715" y="589"/>
                      <a:pt x="751" y="529"/>
                    </a:cubicBezTo>
                    <a:cubicBezTo>
                      <a:pt x="834" y="422"/>
                      <a:pt x="787" y="291"/>
                      <a:pt x="679" y="231"/>
                    </a:cubicBezTo>
                    <a:lnTo>
                      <a:pt x="358" y="29"/>
                    </a:lnTo>
                    <a:cubicBezTo>
                      <a:pt x="323" y="10"/>
                      <a:pt x="284" y="0"/>
                      <a:pt x="246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34;p33">
                <a:extLst>
                  <a:ext uri="{FF2B5EF4-FFF2-40B4-BE49-F238E27FC236}">
                    <a16:creationId xmlns:a16="http://schemas.microsoft.com/office/drawing/2014/main" id="{B2873831-9F2D-5294-EC7A-47B908E0F988}"/>
                  </a:ext>
                </a:extLst>
              </p:cNvPr>
              <p:cNvSpPr/>
              <p:nvPr/>
            </p:nvSpPr>
            <p:spPr>
              <a:xfrm>
                <a:off x="3360520" y="3099811"/>
                <a:ext cx="25834" cy="20005"/>
              </a:xfrm>
              <a:custGeom>
                <a:avLst/>
                <a:gdLst/>
                <a:ahLst/>
                <a:cxnLst/>
                <a:rect l="l" t="t" r="r" b="b"/>
                <a:pathLst>
                  <a:path w="811" h="628" extrusionOk="0">
                    <a:moveTo>
                      <a:pt x="239" y="1"/>
                    </a:moveTo>
                    <a:cubicBezTo>
                      <a:pt x="167" y="1"/>
                      <a:pt x="99" y="35"/>
                      <a:pt x="60" y="104"/>
                    </a:cubicBezTo>
                    <a:cubicBezTo>
                      <a:pt x="1" y="211"/>
                      <a:pt x="25" y="342"/>
                      <a:pt x="132" y="402"/>
                    </a:cubicBezTo>
                    <a:lnTo>
                      <a:pt x="453" y="592"/>
                    </a:lnTo>
                    <a:cubicBezTo>
                      <a:pt x="489" y="604"/>
                      <a:pt x="537" y="628"/>
                      <a:pt x="561" y="628"/>
                    </a:cubicBezTo>
                    <a:cubicBezTo>
                      <a:pt x="632" y="628"/>
                      <a:pt x="715" y="580"/>
                      <a:pt x="751" y="521"/>
                    </a:cubicBezTo>
                    <a:cubicBezTo>
                      <a:pt x="811" y="426"/>
                      <a:pt x="787" y="283"/>
                      <a:pt x="680" y="223"/>
                    </a:cubicBezTo>
                    <a:lnTo>
                      <a:pt x="358" y="33"/>
                    </a:lnTo>
                    <a:cubicBezTo>
                      <a:pt x="320" y="11"/>
                      <a:pt x="279" y="1"/>
                      <a:pt x="239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868863F-4163-2F19-EA4E-61649A7FDEAD}"/>
              </a:ext>
            </a:extLst>
          </p:cNvPr>
          <p:cNvSpPr txBox="1"/>
          <p:nvPr/>
        </p:nvSpPr>
        <p:spPr>
          <a:xfrm>
            <a:off x="2855640" y="4509120"/>
            <a:ext cx="1219736" cy="807326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717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744B0F1-0DE7-BAD5-529B-F613DDCE8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432115" y="495814"/>
            <a:ext cx="2808311" cy="4713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BBF86452-EC6D-B7BA-1A68-F4BBC649E2CB}"/>
              </a:ext>
            </a:extLst>
          </p:cNvPr>
          <p:cNvGrpSpPr/>
          <p:nvPr/>
        </p:nvGrpSpPr>
        <p:grpSpPr>
          <a:xfrm>
            <a:off x="1847528" y="4710335"/>
            <a:ext cx="5272640" cy="830997"/>
            <a:chOff x="5935928" y="3013500"/>
            <a:chExt cx="5272640" cy="83099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C4A2BF3-3DA7-EA9D-1002-BFB95B461D05}"/>
                </a:ext>
              </a:extLst>
            </p:cNvPr>
            <p:cNvSpPr txBox="1"/>
            <p:nvPr/>
          </p:nvSpPr>
          <p:spPr>
            <a:xfrm>
              <a:off x="6384032" y="3013500"/>
              <a:ext cx="48245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2400" dirty="0">
                  <a:latin typeface="Agency FB" panose="020B0503020202020204" pitchFamily="34" charset="0"/>
                </a:rPr>
                <a:t>Evidencia física con fotografía de la recepción del producto emitido en la factura.</a:t>
              </a:r>
            </a:p>
          </p:txBody>
        </p:sp>
        <p:grpSp>
          <p:nvGrpSpPr>
            <p:cNvPr id="7" name="Google Shape;922;p33">
              <a:extLst>
                <a:ext uri="{FF2B5EF4-FFF2-40B4-BE49-F238E27FC236}">
                  <a16:creationId xmlns:a16="http://schemas.microsoft.com/office/drawing/2014/main" id="{E4E43BC4-6625-A018-DDE8-89C2F9200C29}"/>
                </a:ext>
              </a:extLst>
            </p:cNvPr>
            <p:cNvGrpSpPr/>
            <p:nvPr/>
          </p:nvGrpSpPr>
          <p:grpSpPr>
            <a:xfrm>
              <a:off x="5935928" y="3232707"/>
              <a:ext cx="320143" cy="392581"/>
              <a:chOff x="3086313" y="2877049"/>
              <a:chExt cx="320143" cy="392581"/>
            </a:xfrm>
            <a:solidFill>
              <a:srgbClr val="FF0000"/>
            </a:solidFill>
          </p:grpSpPr>
          <p:sp>
            <p:nvSpPr>
              <p:cNvPr id="8" name="Google Shape;923;p33">
                <a:extLst>
                  <a:ext uri="{FF2B5EF4-FFF2-40B4-BE49-F238E27FC236}">
                    <a16:creationId xmlns:a16="http://schemas.microsoft.com/office/drawing/2014/main" id="{EF71768F-78FF-DE55-D606-3E2EB4101D09}"/>
                  </a:ext>
                </a:extLst>
              </p:cNvPr>
              <p:cNvSpPr/>
              <p:nvPr/>
            </p:nvSpPr>
            <p:spPr>
              <a:xfrm>
                <a:off x="3125749" y="2915371"/>
                <a:ext cx="240505" cy="354259"/>
              </a:xfrm>
              <a:custGeom>
                <a:avLst/>
                <a:gdLst/>
                <a:ahLst/>
                <a:cxnLst/>
                <a:rect l="l" t="t" r="r" b="b"/>
                <a:pathLst>
                  <a:path w="7550" h="11121" extrusionOk="0">
                    <a:moveTo>
                      <a:pt x="3775" y="2929"/>
                    </a:moveTo>
                    <a:lnTo>
                      <a:pt x="3918" y="3120"/>
                    </a:lnTo>
                    <a:cubicBezTo>
                      <a:pt x="3871" y="3144"/>
                      <a:pt x="3823" y="3144"/>
                      <a:pt x="3775" y="3144"/>
                    </a:cubicBezTo>
                    <a:cubicBezTo>
                      <a:pt x="3740" y="3132"/>
                      <a:pt x="3692" y="3120"/>
                      <a:pt x="3644" y="3120"/>
                    </a:cubicBezTo>
                    <a:lnTo>
                      <a:pt x="3775" y="2929"/>
                    </a:lnTo>
                    <a:close/>
                    <a:moveTo>
                      <a:pt x="4168" y="3501"/>
                    </a:moveTo>
                    <a:lnTo>
                      <a:pt x="4299" y="3703"/>
                    </a:lnTo>
                    <a:cubicBezTo>
                      <a:pt x="4126" y="3751"/>
                      <a:pt x="3948" y="3775"/>
                      <a:pt x="3769" y="3775"/>
                    </a:cubicBezTo>
                    <a:cubicBezTo>
                      <a:pt x="3591" y="3775"/>
                      <a:pt x="3412" y="3751"/>
                      <a:pt x="3239" y="3703"/>
                    </a:cubicBezTo>
                    <a:lnTo>
                      <a:pt x="3382" y="3501"/>
                    </a:lnTo>
                    <a:cubicBezTo>
                      <a:pt x="3513" y="3560"/>
                      <a:pt x="3644" y="3572"/>
                      <a:pt x="3775" y="3572"/>
                    </a:cubicBezTo>
                    <a:cubicBezTo>
                      <a:pt x="3918" y="3572"/>
                      <a:pt x="4049" y="3537"/>
                      <a:pt x="4168" y="3501"/>
                    </a:cubicBezTo>
                    <a:close/>
                    <a:moveTo>
                      <a:pt x="3120" y="4132"/>
                    </a:moveTo>
                    <a:cubicBezTo>
                      <a:pt x="3275" y="4180"/>
                      <a:pt x="3418" y="4191"/>
                      <a:pt x="3561" y="4215"/>
                    </a:cubicBezTo>
                    <a:lnTo>
                      <a:pt x="3561" y="8109"/>
                    </a:lnTo>
                    <a:lnTo>
                      <a:pt x="3120" y="8109"/>
                    </a:lnTo>
                    <a:lnTo>
                      <a:pt x="3120" y="4132"/>
                    </a:lnTo>
                    <a:close/>
                    <a:moveTo>
                      <a:pt x="4430" y="4132"/>
                    </a:moveTo>
                    <a:lnTo>
                      <a:pt x="4430" y="8109"/>
                    </a:lnTo>
                    <a:lnTo>
                      <a:pt x="4001" y="8109"/>
                    </a:lnTo>
                    <a:lnTo>
                      <a:pt x="4001" y="4215"/>
                    </a:lnTo>
                    <a:cubicBezTo>
                      <a:pt x="4156" y="4191"/>
                      <a:pt x="4287" y="4180"/>
                      <a:pt x="4430" y="4132"/>
                    </a:cubicBezTo>
                    <a:close/>
                    <a:moveTo>
                      <a:pt x="3799" y="441"/>
                    </a:moveTo>
                    <a:cubicBezTo>
                      <a:pt x="4668" y="441"/>
                      <a:pt x="5490" y="786"/>
                      <a:pt x="6121" y="1394"/>
                    </a:cubicBezTo>
                    <a:cubicBezTo>
                      <a:pt x="6752" y="2025"/>
                      <a:pt x="7097" y="2858"/>
                      <a:pt x="7097" y="3751"/>
                    </a:cubicBezTo>
                    <a:cubicBezTo>
                      <a:pt x="7097" y="4620"/>
                      <a:pt x="6752" y="5442"/>
                      <a:pt x="6157" y="6073"/>
                    </a:cubicBezTo>
                    <a:cubicBezTo>
                      <a:pt x="5609" y="6632"/>
                      <a:pt x="5299" y="7347"/>
                      <a:pt x="5240" y="8109"/>
                    </a:cubicBezTo>
                    <a:lnTo>
                      <a:pt x="4883" y="8109"/>
                    </a:lnTo>
                    <a:lnTo>
                      <a:pt x="4883" y="3822"/>
                    </a:lnTo>
                    <a:cubicBezTo>
                      <a:pt x="4883" y="3775"/>
                      <a:pt x="4871" y="3739"/>
                      <a:pt x="4835" y="3703"/>
                    </a:cubicBezTo>
                    <a:lnTo>
                      <a:pt x="3978" y="2406"/>
                    </a:lnTo>
                    <a:cubicBezTo>
                      <a:pt x="3930" y="2346"/>
                      <a:pt x="3871" y="2310"/>
                      <a:pt x="3799" y="2310"/>
                    </a:cubicBezTo>
                    <a:cubicBezTo>
                      <a:pt x="3716" y="2310"/>
                      <a:pt x="3644" y="2334"/>
                      <a:pt x="3620" y="2406"/>
                    </a:cubicBezTo>
                    <a:lnTo>
                      <a:pt x="2751" y="3703"/>
                    </a:lnTo>
                    <a:cubicBezTo>
                      <a:pt x="2728" y="3739"/>
                      <a:pt x="2704" y="3775"/>
                      <a:pt x="2704" y="3822"/>
                    </a:cubicBezTo>
                    <a:lnTo>
                      <a:pt x="2704" y="8109"/>
                    </a:lnTo>
                    <a:lnTo>
                      <a:pt x="2347" y="8109"/>
                    </a:lnTo>
                    <a:cubicBezTo>
                      <a:pt x="2287" y="7347"/>
                      <a:pt x="1977" y="6632"/>
                      <a:pt x="1430" y="6073"/>
                    </a:cubicBezTo>
                    <a:cubicBezTo>
                      <a:pt x="834" y="5465"/>
                      <a:pt x="501" y="4656"/>
                      <a:pt x="489" y="3810"/>
                    </a:cubicBezTo>
                    <a:cubicBezTo>
                      <a:pt x="477" y="2929"/>
                      <a:pt x="823" y="2096"/>
                      <a:pt x="1430" y="1453"/>
                    </a:cubicBezTo>
                    <a:cubicBezTo>
                      <a:pt x="2049" y="822"/>
                      <a:pt x="2870" y="453"/>
                      <a:pt x="3751" y="441"/>
                    </a:cubicBezTo>
                    <a:close/>
                    <a:moveTo>
                      <a:pt x="5228" y="8561"/>
                    </a:moveTo>
                    <a:lnTo>
                      <a:pt x="5228" y="8835"/>
                    </a:lnTo>
                    <a:lnTo>
                      <a:pt x="5228" y="8883"/>
                    </a:lnTo>
                    <a:lnTo>
                      <a:pt x="2335" y="8883"/>
                    </a:lnTo>
                    <a:lnTo>
                      <a:pt x="2335" y="8835"/>
                    </a:lnTo>
                    <a:lnTo>
                      <a:pt x="2335" y="8561"/>
                    </a:lnTo>
                    <a:close/>
                    <a:moveTo>
                      <a:pt x="5121" y="9311"/>
                    </a:moveTo>
                    <a:cubicBezTo>
                      <a:pt x="4942" y="9752"/>
                      <a:pt x="4525" y="10026"/>
                      <a:pt x="4037" y="10026"/>
                    </a:cubicBezTo>
                    <a:lnTo>
                      <a:pt x="3525" y="10026"/>
                    </a:lnTo>
                    <a:cubicBezTo>
                      <a:pt x="3037" y="10026"/>
                      <a:pt x="2620" y="9728"/>
                      <a:pt x="2442" y="9311"/>
                    </a:cubicBezTo>
                    <a:close/>
                    <a:moveTo>
                      <a:pt x="4049" y="10478"/>
                    </a:moveTo>
                    <a:cubicBezTo>
                      <a:pt x="4061" y="10478"/>
                      <a:pt x="4109" y="10478"/>
                      <a:pt x="4132" y="10490"/>
                    </a:cubicBezTo>
                    <a:cubicBezTo>
                      <a:pt x="4132" y="10597"/>
                      <a:pt x="4049" y="10668"/>
                      <a:pt x="3954" y="10668"/>
                    </a:cubicBezTo>
                    <a:lnTo>
                      <a:pt x="3620" y="10668"/>
                    </a:lnTo>
                    <a:cubicBezTo>
                      <a:pt x="3513" y="10668"/>
                      <a:pt x="3442" y="10585"/>
                      <a:pt x="3442" y="10490"/>
                    </a:cubicBezTo>
                    <a:lnTo>
                      <a:pt x="3442" y="10478"/>
                    </a:lnTo>
                    <a:close/>
                    <a:moveTo>
                      <a:pt x="3762" y="0"/>
                    </a:moveTo>
                    <a:cubicBezTo>
                      <a:pt x="3746" y="0"/>
                      <a:pt x="3731" y="0"/>
                      <a:pt x="3716" y="0"/>
                    </a:cubicBezTo>
                    <a:cubicBezTo>
                      <a:pt x="1656" y="24"/>
                      <a:pt x="1" y="1739"/>
                      <a:pt x="13" y="3810"/>
                    </a:cubicBezTo>
                    <a:cubicBezTo>
                      <a:pt x="25" y="4775"/>
                      <a:pt x="406" y="5680"/>
                      <a:pt x="1073" y="6370"/>
                    </a:cubicBezTo>
                    <a:cubicBezTo>
                      <a:pt x="1596" y="6906"/>
                      <a:pt x="1870" y="7609"/>
                      <a:pt x="1870" y="8335"/>
                    </a:cubicBezTo>
                    <a:lnTo>
                      <a:pt x="1870" y="8835"/>
                    </a:lnTo>
                    <a:cubicBezTo>
                      <a:pt x="1870" y="9549"/>
                      <a:pt x="2335" y="10168"/>
                      <a:pt x="2966" y="10383"/>
                    </a:cubicBezTo>
                    <a:lnTo>
                      <a:pt x="2966" y="10490"/>
                    </a:lnTo>
                    <a:cubicBezTo>
                      <a:pt x="2966" y="10835"/>
                      <a:pt x="3239" y="11121"/>
                      <a:pt x="3585" y="11121"/>
                    </a:cubicBezTo>
                    <a:lnTo>
                      <a:pt x="3930" y="11121"/>
                    </a:lnTo>
                    <a:cubicBezTo>
                      <a:pt x="4275" y="11121"/>
                      <a:pt x="4549" y="10835"/>
                      <a:pt x="4549" y="10490"/>
                    </a:cubicBezTo>
                    <a:lnTo>
                      <a:pt x="4549" y="10383"/>
                    </a:lnTo>
                    <a:cubicBezTo>
                      <a:pt x="5192" y="10168"/>
                      <a:pt x="5645" y="9549"/>
                      <a:pt x="5645" y="8835"/>
                    </a:cubicBezTo>
                    <a:lnTo>
                      <a:pt x="5645" y="8335"/>
                    </a:lnTo>
                    <a:cubicBezTo>
                      <a:pt x="5645" y="7609"/>
                      <a:pt x="5918" y="6918"/>
                      <a:pt x="6442" y="6382"/>
                    </a:cubicBezTo>
                    <a:cubicBezTo>
                      <a:pt x="7133" y="5680"/>
                      <a:pt x="7502" y="4751"/>
                      <a:pt x="7502" y="3763"/>
                    </a:cubicBezTo>
                    <a:cubicBezTo>
                      <a:pt x="7550" y="2751"/>
                      <a:pt x="7145" y="1798"/>
                      <a:pt x="6418" y="1084"/>
                    </a:cubicBezTo>
                    <a:cubicBezTo>
                      <a:pt x="5715" y="380"/>
                      <a:pt x="4757" y="0"/>
                      <a:pt x="376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924;p33">
                <a:extLst>
                  <a:ext uri="{FF2B5EF4-FFF2-40B4-BE49-F238E27FC236}">
                    <a16:creationId xmlns:a16="http://schemas.microsoft.com/office/drawing/2014/main" id="{2A02FB1D-CDD1-3D77-9136-D0F91C2A4152}"/>
                  </a:ext>
                </a:extLst>
              </p:cNvPr>
              <p:cNvSpPr/>
              <p:nvPr/>
            </p:nvSpPr>
            <p:spPr>
              <a:xfrm>
                <a:off x="3263076" y="2942511"/>
                <a:ext cx="79287" cy="99579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3126" extrusionOk="0">
                    <a:moveTo>
                      <a:pt x="246" y="1"/>
                    </a:moveTo>
                    <a:cubicBezTo>
                      <a:pt x="146" y="1"/>
                      <a:pt x="56" y="59"/>
                      <a:pt x="36" y="161"/>
                    </a:cubicBezTo>
                    <a:cubicBezTo>
                      <a:pt x="0" y="280"/>
                      <a:pt x="60" y="399"/>
                      <a:pt x="179" y="422"/>
                    </a:cubicBezTo>
                    <a:cubicBezTo>
                      <a:pt x="1286" y="744"/>
                      <a:pt x="2048" y="1768"/>
                      <a:pt x="2048" y="2899"/>
                    </a:cubicBezTo>
                    <a:cubicBezTo>
                      <a:pt x="2048" y="3018"/>
                      <a:pt x="2143" y="3125"/>
                      <a:pt x="2262" y="3125"/>
                    </a:cubicBezTo>
                    <a:cubicBezTo>
                      <a:pt x="2381" y="3125"/>
                      <a:pt x="2488" y="3018"/>
                      <a:pt x="2488" y="2899"/>
                    </a:cubicBezTo>
                    <a:cubicBezTo>
                      <a:pt x="2488" y="1577"/>
                      <a:pt x="1595" y="387"/>
                      <a:pt x="298" y="6"/>
                    </a:cubicBezTo>
                    <a:cubicBezTo>
                      <a:pt x="280" y="2"/>
                      <a:pt x="263" y="1"/>
                      <a:pt x="246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5;p33">
                <a:extLst>
                  <a:ext uri="{FF2B5EF4-FFF2-40B4-BE49-F238E27FC236}">
                    <a16:creationId xmlns:a16="http://schemas.microsoft.com/office/drawing/2014/main" id="{AD8E5D8C-09B2-8CE1-23B3-40B873DB274F}"/>
                  </a:ext>
                </a:extLst>
              </p:cNvPr>
              <p:cNvSpPr/>
              <p:nvPr/>
            </p:nvSpPr>
            <p:spPr>
              <a:xfrm>
                <a:off x="3237656" y="2939262"/>
                <a:ext cx="20897" cy="14462"/>
              </a:xfrm>
              <a:custGeom>
                <a:avLst/>
                <a:gdLst/>
                <a:ahLst/>
                <a:cxnLst/>
                <a:rect l="l" t="t" r="r" b="b"/>
                <a:pathLst>
                  <a:path w="656" h="454" extrusionOk="0">
                    <a:moveTo>
                      <a:pt x="227" y="1"/>
                    </a:moveTo>
                    <a:cubicBezTo>
                      <a:pt x="107" y="1"/>
                      <a:pt x="0" y="108"/>
                      <a:pt x="0" y="227"/>
                    </a:cubicBezTo>
                    <a:cubicBezTo>
                      <a:pt x="0" y="346"/>
                      <a:pt x="107" y="453"/>
                      <a:pt x="227" y="453"/>
                    </a:cubicBezTo>
                    <a:lnTo>
                      <a:pt x="417" y="453"/>
                    </a:lnTo>
                    <a:cubicBezTo>
                      <a:pt x="536" y="453"/>
                      <a:pt x="619" y="358"/>
                      <a:pt x="643" y="251"/>
                    </a:cubicBezTo>
                    <a:cubicBezTo>
                      <a:pt x="655" y="108"/>
                      <a:pt x="560" y="1"/>
                      <a:pt x="429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6;p33">
                <a:extLst>
                  <a:ext uri="{FF2B5EF4-FFF2-40B4-BE49-F238E27FC236}">
                    <a16:creationId xmlns:a16="http://schemas.microsoft.com/office/drawing/2014/main" id="{1C39355E-74F4-073B-8851-376FB1FBB707}"/>
                  </a:ext>
                </a:extLst>
              </p:cNvPr>
              <p:cNvSpPr/>
              <p:nvPr/>
            </p:nvSpPr>
            <p:spPr>
              <a:xfrm>
                <a:off x="3379888" y="3029539"/>
                <a:ext cx="26567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834" h="441" extrusionOk="0">
                    <a:moveTo>
                      <a:pt x="226" y="0"/>
                    </a:moveTo>
                    <a:cubicBezTo>
                      <a:pt x="107" y="0"/>
                      <a:pt x="0" y="107"/>
                      <a:pt x="0" y="226"/>
                    </a:cubicBezTo>
                    <a:cubicBezTo>
                      <a:pt x="0" y="346"/>
                      <a:pt x="107" y="441"/>
                      <a:pt x="226" y="441"/>
                    </a:cubicBezTo>
                    <a:lnTo>
                      <a:pt x="607" y="441"/>
                    </a:lnTo>
                    <a:cubicBezTo>
                      <a:pt x="726" y="441"/>
                      <a:pt x="834" y="346"/>
                      <a:pt x="834" y="226"/>
                    </a:cubicBezTo>
                    <a:cubicBezTo>
                      <a:pt x="822" y="107"/>
                      <a:pt x="726" y="0"/>
                      <a:pt x="607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7;p33">
                <a:extLst>
                  <a:ext uri="{FF2B5EF4-FFF2-40B4-BE49-F238E27FC236}">
                    <a16:creationId xmlns:a16="http://schemas.microsoft.com/office/drawing/2014/main" id="{A91E6CAF-1BA6-C07A-5E04-175BDD0F4F50}"/>
                  </a:ext>
                </a:extLst>
              </p:cNvPr>
              <p:cNvSpPr/>
              <p:nvPr/>
            </p:nvSpPr>
            <p:spPr>
              <a:xfrm>
                <a:off x="3086313" y="3029539"/>
                <a:ext cx="26599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835" h="441" extrusionOk="0">
                    <a:moveTo>
                      <a:pt x="227" y="0"/>
                    </a:moveTo>
                    <a:cubicBezTo>
                      <a:pt x="108" y="0"/>
                      <a:pt x="1" y="107"/>
                      <a:pt x="1" y="226"/>
                    </a:cubicBezTo>
                    <a:cubicBezTo>
                      <a:pt x="1" y="346"/>
                      <a:pt x="108" y="441"/>
                      <a:pt x="227" y="441"/>
                    </a:cubicBezTo>
                    <a:lnTo>
                      <a:pt x="608" y="441"/>
                    </a:lnTo>
                    <a:cubicBezTo>
                      <a:pt x="727" y="441"/>
                      <a:pt x="834" y="346"/>
                      <a:pt x="834" y="226"/>
                    </a:cubicBezTo>
                    <a:cubicBezTo>
                      <a:pt x="834" y="107"/>
                      <a:pt x="727" y="0"/>
                      <a:pt x="608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8;p33">
                <a:extLst>
                  <a:ext uri="{FF2B5EF4-FFF2-40B4-BE49-F238E27FC236}">
                    <a16:creationId xmlns:a16="http://schemas.microsoft.com/office/drawing/2014/main" id="{631305D6-272E-DA87-897F-6797F685F6A8}"/>
                  </a:ext>
                </a:extLst>
              </p:cNvPr>
              <p:cNvSpPr/>
              <p:nvPr/>
            </p:nvSpPr>
            <p:spPr>
              <a:xfrm>
                <a:off x="3359788" y="2953469"/>
                <a:ext cx="26567" cy="2035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639" extrusionOk="0">
                    <a:moveTo>
                      <a:pt x="594" y="0"/>
                    </a:moveTo>
                    <a:cubicBezTo>
                      <a:pt x="555" y="0"/>
                      <a:pt x="514" y="13"/>
                      <a:pt x="476" y="43"/>
                    </a:cubicBezTo>
                    <a:lnTo>
                      <a:pt x="155" y="233"/>
                    </a:lnTo>
                    <a:cubicBezTo>
                      <a:pt x="48" y="293"/>
                      <a:pt x="0" y="424"/>
                      <a:pt x="83" y="531"/>
                    </a:cubicBezTo>
                    <a:cubicBezTo>
                      <a:pt x="119" y="602"/>
                      <a:pt x="203" y="638"/>
                      <a:pt x="274" y="638"/>
                    </a:cubicBezTo>
                    <a:cubicBezTo>
                      <a:pt x="310" y="638"/>
                      <a:pt x="345" y="614"/>
                      <a:pt x="381" y="602"/>
                    </a:cubicBezTo>
                    <a:lnTo>
                      <a:pt x="703" y="412"/>
                    </a:lnTo>
                    <a:cubicBezTo>
                      <a:pt x="810" y="352"/>
                      <a:pt x="834" y="221"/>
                      <a:pt x="774" y="114"/>
                    </a:cubicBezTo>
                    <a:cubicBezTo>
                      <a:pt x="735" y="45"/>
                      <a:pt x="667" y="0"/>
                      <a:pt x="594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9;p33">
                <a:extLst>
                  <a:ext uri="{FF2B5EF4-FFF2-40B4-BE49-F238E27FC236}">
                    <a16:creationId xmlns:a16="http://schemas.microsoft.com/office/drawing/2014/main" id="{26B8EC90-D3D7-7038-0FFF-56F76D7BB4F9}"/>
                  </a:ext>
                </a:extLst>
              </p:cNvPr>
              <p:cNvSpPr/>
              <p:nvPr/>
            </p:nvSpPr>
            <p:spPr>
              <a:xfrm>
                <a:off x="3106413" y="3100034"/>
                <a:ext cx="26599" cy="20164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33" extrusionOk="0">
                    <a:moveTo>
                      <a:pt x="590" y="0"/>
                    </a:moveTo>
                    <a:cubicBezTo>
                      <a:pt x="550" y="0"/>
                      <a:pt x="511" y="12"/>
                      <a:pt x="477" y="38"/>
                    </a:cubicBezTo>
                    <a:lnTo>
                      <a:pt x="144" y="228"/>
                    </a:lnTo>
                    <a:cubicBezTo>
                      <a:pt x="36" y="288"/>
                      <a:pt x="1" y="419"/>
                      <a:pt x="72" y="526"/>
                    </a:cubicBezTo>
                    <a:cubicBezTo>
                      <a:pt x="108" y="597"/>
                      <a:pt x="191" y="633"/>
                      <a:pt x="263" y="633"/>
                    </a:cubicBezTo>
                    <a:cubicBezTo>
                      <a:pt x="310" y="633"/>
                      <a:pt x="334" y="609"/>
                      <a:pt x="370" y="597"/>
                    </a:cubicBezTo>
                    <a:lnTo>
                      <a:pt x="691" y="407"/>
                    </a:lnTo>
                    <a:cubicBezTo>
                      <a:pt x="787" y="347"/>
                      <a:pt x="834" y="216"/>
                      <a:pt x="775" y="109"/>
                    </a:cubicBezTo>
                    <a:cubicBezTo>
                      <a:pt x="736" y="40"/>
                      <a:pt x="663" y="0"/>
                      <a:pt x="590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30;p33">
                <a:extLst>
                  <a:ext uri="{FF2B5EF4-FFF2-40B4-BE49-F238E27FC236}">
                    <a16:creationId xmlns:a16="http://schemas.microsoft.com/office/drawing/2014/main" id="{497828E9-FD3B-31E1-8E68-E4AA24A35913}"/>
                  </a:ext>
                </a:extLst>
              </p:cNvPr>
              <p:cNvSpPr/>
              <p:nvPr/>
            </p:nvSpPr>
            <p:spPr>
              <a:xfrm>
                <a:off x="3308565" y="2897277"/>
                <a:ext cx="22044" cy="24178"/>
              </a:xfrm>
              <a:custGeom>
                <a:avLst/>
                <a:gdLst/>
                <a:ahLst/>
                <a:cxnLst/>
                <a:rect l="l" t="t" r="r" b="b"/>
                <a:pathLst>
                  <a:path w="692" h="759" extrusionOk="0">
                    <a:moveTo>
                      <a:pt x="441" y="1"/>
                    </a:moveTo>
                    <a:cubicBezTo>
                      <a:pt x="369" y="1"/>
                      <a:pt x="301" y="35"/>
                      <a:pt x="263" y="104"/>
                    </a:cubicBezTo>
                    <a:lnTo>
                      <a:pt x="60" y="438"/>
                    </a:lnTo>
                    <a:cubicBezTo>
                      <a:pt x="1" y="533"/>
                      <a:pt x="37" y="676"/>
                      <a:pt x="144" y="735"/>
                    </a:cubicBezTo>
                    <a:cubicBezTo>
                      <a:pt x="167" y="747"/>
                      <a:pt x="215" y="759"/>
                      <a:pt x="239" y="759"/>
                    </a:cubicBezTo>
                    <a:cubicBezTo>
                      <a:pt x="322" y="759"/>
                      <a:pt x="394" y="711"/>
                      <a:pt x="441" y="652"/>
                    </a:cubicBezTo>
                    <a:lnTo>
                      <a:pt x="632" y="330"/>
                    </a:lnTo>
                    <a:cubicBezTo>
                      <a:pt x="691" y="223"/>
                      <a:pt x="656" y="92"/>
                      <a:pt x="560" y="33"/>
                    </a:cubicBezTo>
                    <a:cubicBezTo>
                      <a:pt x="522" y="11"/>
                      <a:pt x="481" y="1"/>
                      <a:pt x="441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31;p33">
                <a:extLst>
                  <a:ext uri="{FF2B5EF4-FFF2-40B4-BE49-F238E27FC236}">
                    <a16:creationId xmlns:a16="http://schemas.microsoft.com/office/drawing/2014/main" id="{4A3DA97B-9F94-72F5-FD82-435C9A4BCB2B}"/>
                  </a:ext>
                </a:extLst>
              </p:cNvPr>
              <p:cNvSpPr/>
              <p:nvPr/>
            </p:nvSpPr>
            <p:spPr>
              <a:xfrm>
                <a:off x="3239153" y="2877049"/>
                <a:ext cx="14080" cy="26599"/>
              </a:xfrm>
              <a:custGeom>
                <a:avLst/>
                <a:gdLst/>
                <a:ahLst/>
                <a:cxnLst/>
                <a:rect l="l" t="t" r="r" b="b"/>
                <a:pathLst>
                  <a:path w="442" h="835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lnTo>
                      <a:pt x="1" y="608"/>
                    </a:lnTo>
                    <a:cubicBezTo>
                      <a:pt x="1" y="727"/>
                      <a:pt x="96" y="834"/>
                      <a:pt x="215" y="834"/>
                    </a:cubicBezTo>
                    <a:cubicBezTo>
                      <a:pt x="334" y="834"/>
                      <a:pt x="441" y="727"/>
                      <a:pt x="441" y="608"/>
                    </a:cubicBezTo>
                    <a:lnTo>
                      <a:pt x="441" y="215"/>
                    </a:lnTo>
                    <a:cubicBezTo>
                      <a:pt x="441" y="96"/>
                      <a:pt x="358" y="1"/>
                      <a:pt x="215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32;p33">
                <a:extLst>
                  <a:ext uri="{FF2B5EF4-FFF2-40B4-BE49-F238E27FC236}">
                    <a16:creationId xmlns:a16="http://schemas.microsoft.com/office/drawing/2014/main" id="{95C2AAFC-161C-480B-35F8-EB626F9C6EC3}"/>
                  </a:ext>
                </a:extLst>
              </p:cNvPr>
              <p:cNvSpPr/>
              <p:nvPr/>
            </p:nvSpPr>
            <p:spPr>
              <a:xfrm>
                <a:off x="3161809" y="2897500"/>
                <a:ext cx="22394" cy="24337"/>
              </a:xfrm>
              <a:custGeom>
                <a:avLst/>
                <a:gdLst/>
                <a:ahLst/>
                <a:cxnLst/>
                <a:rect l="l" t="t" r="r" b="b"/>
                <a:pathLst>
                  <a:path w="703" h="764" extrusionOk="0">
                    <a:moveTo>
                      <a:pt x="262" y="0"/>
                    </a:moveTo>
                    <a:cubicBezTo>
                      <a:pt x="222" y="0"/>
                      <a:pt x="181" y="12"/>
                      <a:pt x="143" y="38"/>
                    </a:cubicBezTo>
                    <a:cubicBezTo>
                      <a:pt x="48" y="97"/>
                      <a:pt x="0" y="228"/>
                      <a:pt x="72" y="335"/>
                    </a:cubicBezTo>
                    <a:lnTo>
                      <a:pt x="262" y="669"/>
                    </a:lnTo>
                    <a:cubicBezTo>
                      <a:pt x="310" y="740"/>
                      <a:pt x="381" y="764"/>
                      <a:pt x="464" y="764"/>
                    </a:cubicBezTo>
                    <a:cubicBezTo>
                      <a:pt x="500" y="764"/>
                      <a:pt x="536" y="752"/>
                      <a:pt x="560" y="740"/>
                    </a:cubicBezTo>
                    <a:cubicBezTo>
                      <a:pt x="667" y="681"/>
                      <a:pt x="703" y="550"/>
                      <a:pt x="643" y="442"/>
                    </a:cubicBezTo>
                    <a:lnTo>
                      <a:pt x="441" y="109"/>
                    </a:lnTo>
                    <a:cubicBezTo>
                      <a:pt x="402" y="40"/>
                      <a:pt x="334" y="0"/>
                      <a:pt x="262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33;p33">
                <a:extLst>
                  <a:ext uri="{FF2B5EF4-FFF2-40B4-BE49-F238E27FC236}">
                    <a16:creationId xmlns:a16="http://schemas.microsoft.com/office/drawing/2014/main" id="{16370110-2FE4-F786-B3BC-D32E418C4143}"/>
                  </a:ext>
                </a:extLst>
              </p:cNvPr>
              <p:cNvSpPr/>
              <p:nvPr/>
            </p:nvSpPr>
            <p:spPr>
              <a:xfrm>
                <a:off x="3106413" y="2953151"/>
                <a:ext cx="26599" cy="19909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25" extrusionOk="0">
                    <a:moveTo>
                      <a:pt x="246" y="0"/>
                    </a:moveTo>
                    <a:cubicBezTo>
                      <a:pt x="168" y="0"/>
                      <a:pt x="92" y="40"/>
                      <a:pt x="60" y="112"/>
                    </a:cubicBezTo>
                    <a:cubicBezTo>
                      <a:pt x="1" y="208"/>
                      <a:pt x="25" y="350"/>
                      <a:pt x="132" y="410"/>
                    </a:cubicBezTo>
                    <a:lnTo>
                      <a:pt x="453" y="600"/>
                    </a:lnTo>
                    <a:cubicBezTo>
                      <a:pt x="489" y="612"/>
                      <a:pt x="537" y="624"/>
                      <a:pt x="560" y="624"/>
                    </a:cubicBezTo>
                    <a:cubicBezTo>
                      <a:pt x="632" y="624"/>
                      <a:pt x="715" y="589"/>
                      <a:pt x="751" y="529"/>
                    </a:cubicBezTo>
                    <a:cubicBezTo>
                      <a:pt x="834" y="422"/>
                      <a:pt x="787" y="291"/>
                      <a:pt x="679" y="231"/>
                    </a:cubicBezTo>
                    <a:lnTo>
                      <a:pt x="358" y="29"/>
                    </a:lnTo>
                    <a:cubicBezTo>
                      <a:pt x="323" y="10"/>
                      <a:pt x="284" y="0"/>
                      <a:pt x="246" y="0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34;p33">
                <a:extLst>
                  <a:ext uri="{FF2B5EF4-FFF2-40B4-BE49-F238E27FC236}">
                    <a16:creationId xmlns:a16="http://schemas.microsoft.com/office/drawing/2014/main" id="{E05DFB89-5785-DE44-158B-AB1262096AF9}"/>
                  </a:ext>
                </a:extLst>
              </p:cNvPr>
              <p:cNvSpPr/>
              <p:nvPr/>
            </p:nvSpPr>
            <p:spPr>
              <a:xfrm>
                <a:off x="3360520" y="3099811"/>
                <a:ext cx="25834" cy="20005"/>
              </a:xfrm>
              <a:custGeom>
                <a:avLst/>
                <a:gdLst/>
                <a:ahLst/>
                <a:cxnLst/>
                <a:rect l="l" t="t" r="r" b="b"/>
                <a:pathLst>
                  <a:path w="811" h="628" extrusionOk="0">
                    <a:moveTo>
                      <a:pt x="239" y="1"/>
                    </a:moveTo>
                    <a:cubicBezTo>
                      <a:pt x="167" y="1"/>
                      <a:pt x="99" y="35"/>
                      <a:pt x="60" y="104"/>
                    </a:cubicBezTo>
                    <a:cubicBezTo>
                      <a:pt x="1" y="211"/>
                      <a:pt x="25" y="342"/>
                      <a:pt x="132" y="402"/>
                    </a:cubicBezTo>
                    <a:lnTo>
                      <a:pt x="453" y="592"/>
                    </a:lnTo>
                    <a:cubicBezTo>
                      <a:pt x="489" y="604"/>
                      <a:pt x="537" y="628"/>
                      <a:pt x="561" y="628"/>
                    </a:cubicBezTo>
                    <a:cubicBezTo>
                      <a:pt x="632" y="628"/>
                      <a:pt x="715" y="580"/>
                      <a:pt x="751" y="521"/>
                    </a:cubicBezTo>
                    <a:cubicBezTo>
                      <a:pt x="811" y="426"/>
                      <a:pt x="787" y="283"/>
                      <a:pt x="680" y="223"/>
                    </a:cubicBezTo>
                    <a:lnTo>
                      <a:pt x="358" y="33"/>
                    </a:lnTo>
                    <a:cubicBezTo>
                      <a:pt x="320" y="11"/>
                      <a:pt x="279" y="1"/>
                      <a:pt x="239" y="1"/>
                    </a:cubicBezTo>
                    <a:close/>
                  </a:path>
                </a:pathLst>
              </a:custGeom>
              <a:grp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019368F-35E6-1792-BD8B-9A2BF694048F}"/>
              </a:ext>
            </a:extLst>
          </p:cNvPr>
          <p:cNvSpPr/>
          <p:nvPr/>
        </p:nvSpPr>
        <p:spPr>
          <a:xfrm>
            <a:off x="9336360" y="0"/>
            <a:ext cx="1728192" cy="573325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F55FC6D-5E71-5A3C-53E3-971D4BB38508}"/>
              </a:ext>
            </a:extLst>
          </p:cNvPr>
          <p:cNvSpPr txBox="1"/>
          <p:nvPr/>
        </p:nvSpPr>
        <p:spPr>
          <a:xfrm>
            <a:off x="9303613" y="3102703"/>
            <a:ext cx="1728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Agency FB" panose="020B0503020202020204" pitchFamily="34" charset="0"/>
              </a:rPr>
              <a:t>SE ENVIA UN CORREO ELECTRONICO CON COPIA AL ÁREA DE CONTABILIDAD: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latin typeface="Agency FB" panose="020B0503020202020204" pitchFamily="34" charset="0"/>
            </a:endParaRPr>
          </a:p>
          <a:p>
            <a:r>
              <a:rPr lang="es-MX" b="1" dirty="0">
                <a:latin typeface="Agency FB" panose="020B0503020202020204" pitchFamily="34" charset="0"/>
              </a:rPr>
              <a:t>ISABEL ALCANTARA</a:t>
            </a:r>
          </a:p>
          <a:p>
            <a:r>
              <a:rPr lang="es-MX" b="1" dirty="0">
                <a:latin typeface="Agency FB" panose="020B0503020202020204" pitchFamily="34" charset="0"/>
              </a:rPr>
              <a:t>ALEJANDRA URIBE</a:t>
            </a:r>
          </a:p>
        </p:txBody>
      </p:sp>
    </p:spTree>
    <p:extLst>
      <p:ext uri="{BB962C8B-B14F-4D97-AF65-F5344CB8AC3E}">
        <p14:creationId xmlns:p14="http://schemas.microsoft.com/office/powerpoint/2010/main" val="2184692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conector fuera de página 3">
            <a:extLst>
              <a:ext uri="{FF2B5EF4-FFF2-40B4-BE49-F238E27FC236}">
                <a16:creationId xmlns:a16="http://schemas.microsoft.com/office/drawing/2014/main" id="{9352ADB9-6C27-ECFB-A94C-2FBE27E52408}"/>
              </a:ext>
            </a:extLst>
          </p:cNvPr>
          <p:cNvSpPr/>
          <p:nvPr/>
        </p:nvSpPr>
        <p:spPr>
          <a:xfrm rot="16200000">
            <a:off x="2326191" y="-916876"/>
            <a:ext cx="1418938" cy="5256584"/>
          </a:xfrm>
          <a:prstGeom prst="flowChartOffpage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69C16BD-46B6-D917-E0C3-117D692550BA}"/>
              </a:ext>
            </a:extLst>
          </p:cNvPr>
          <p:cNvGrpSpPr/>
          <p:nvPr/>
        </p:nvGrpSpPr>
        <p:grpSpPr>
          <a:xfrm>
            <a:off x="623392" y="1388251"/>
            <a:ext cx="4104455" cy="646331"/>
            <a:chOff x="839416" y="1388252"/>
            <a:chExt cx="4104455" cy="646331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A6DE96E-B20E-DE37-475C-7381D1F1042F}"/>
                </a:ext>
              </a:extLst>
            </p:cNvPr>
            <p:cNvSpPr txBox="1"/>
            <p:nvPr/>
          </p:nvSpPr>
          <p:spPr>
            <a:xfrm>
              <a:off x="1277840" y="1388252"/>
              <a:ext cx="36660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>
                  <a:latin typeface="Agency FB" panose="020B0503020202020204" pitchFamily="34" charset="0"/>
                </a:rPr>
                <a:t>CONTABILIDAD REVISA, VALIDA, Y LIBERA LA INFORMACIÓN.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3B8233D-099E-AC36-03C4-26BBF0E9184E}"/>
                </a:ext>
              </a:extLst>
            </p:cNvPr>
            <p:cNvSpPr txBox="1"/>
            <p:nvPr/>
          </p:nvSpPr>
          <p:spPr>
            <a:xfrm>
              <a:off x="839416" y="1472891"/>
              <a:ext cx="43842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500" b="1" dirty="0">
                  <a:latin typeface="Agency FB" panose="020B0503020202020204" pitchFamily="34" charset="0"/>
                </a:rPr>
                <a:t>2.</a:t>
              </a:r>
            </a:p>
          </p:txBody>
        </p:sp>
      </p:grpSp>
      <p:pic>
        <p:nvPicPr>
          <p:cNvPr id="9" name="Imagen 8" descr="Trabajador escribiendo en un portátil">
            <a:extLst>
              <a:ext uri="{FF2B5EF4-FFF2-40B4-BE49-F238E27FC236}">
                <a16:creationId xmlns:a16="http://schemas.microsoft.com/office/drawing/2014/main" id="{BBDF08AA-05D5-BD85-7DBF-AD583214DD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545" y="2937430"/>
            <a:ext cx="2660302" cy="1995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C9C48C9-A8E0-7684-364F-7A8E7E980030}"/>
              </a:ext>
            </a:extLst>
          </p:cNvPr>
          <p:cNvSpPr txBox="1"/>
          <p:nvPr/>
        </p:nvSpPr>
        <p:spPr>
          <a:xfrm>
            <a:off x="5663952" y="2937430"/>
            <a:ext cx="52565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Agency FB" panose="020B0503020202020204" pitchFamily="34" charset="0"/>
              </a:rPr>
              <a:t>El área contable revisa la información proporcionada y detona el proceso de ingreso a S21. </a:t>
            </a:r>
          </a:p>
          <a:p>
            <a:pPr algn="ctr"/>
            <a:endParaRPr lang="es-MX" sz="2400" dirty="0">
              <a:latin typeface="Agency FB" panose="020B0503020202020204" pitchFamily="34" charset="0"/>
            </a:endParaRPr>
          </a:p>
          <a:p>
            <a:pPr algn="ctr"/>
            <a:r>
              <a:rPr lang="es-MX" sz="2400" dirty="0">
                <a:latin typeface="Agency FB" panose="020B0503020202020204" pitchFamily="34" charset="0"/>
              </a:rPr>
              <a:t>1- Da luz verde al área de almacén para su ingreso al S21 como existencia de almacén.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9452A90-2C5E-B356-708A-7F6778949B56}"/>
              </a:ext>
            </a:extLst>
          </p:cNvPr>
          <p:cNvGrpSpPr/>
          <p:nvPr/>
        </p:nvGrpSpPr>
        <p:grpSpPr>
          <a:xfrm>
            <a:off x="10632505" y="4797152"/>
            <a:ext cx="1080120" cy="1080120"/>
            <a:chOff x="10621385" y="2204864"/>
            <a:chExt cx="1080120" cy="1080120"/>
          </a:xfrm>
        </p:grpSpPr>
        <p:pic>
          <p:nvPicPr>
            <p:cNvPr id="3" name="Gráfico 2" descr="Semáforo contorno">
              <a:extLst>
                <a:ext uri="{FF2B5EF4-FFF2-40B4-BE49-F238E27FC236}">
                  <a16:creationId xmlns:a16="http://schemas.microsoft.com/office/drawing/2014/main" id="{723B4D0A-401E-9CF1-DCF7-44FEA631E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621385" y="2204864"/>
              <a:ext cx="1080120" cy="1080120"/>
            </a:xfrm>
            <a:prstGeom prst="rect">
              <a:avLst/>
            </a:prstGeom>
          </p:spPr>
        </p:pic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BC4F8C98-916A-CF1F-4BDB-604F0E9C5A1B}"/>
                </a:ext>
              </a:extLst>
            </p:cNvPr>
            <p:cNvSpPr/>
            <p:nvPr/>
          </p:nvSpPr>
          <p:spPr>
            <a:xfrm>
              <a:off x="11053433" y="2876179"/>
              <a:ext cx="216024" cy="216023"/>
            </a:xfrm>
            <a:prstGeom prst="ellipse">
              <a:avLst/>
            </a:prstGeom>
            <a:solidFill>
              <a:srgbClr val="00CC0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pic>
        <p:nvPicPr>
          <p:cNvPr id="13" name="Gráfico 12" descr="Atrás contorno">
            <a:extLst>
              <a:ext uri="{FF2B5EF4-FFF2-40B4-BE49-F238E27FC236}">
                <a16:creationId xmlns:a16="http://schemas.microsoft.com/office/drawing/2014/main" id="{A0513A1B-E635-65F3-C13C-C1D17F62A1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0749" y="4055529"/>
            <a:ext cx="403203" cy="40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5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A20D386-14A9-9FCF-453F-636DFE9D5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009" y="3019696"/>
            <a:ext cx="6559669" cy="15696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30F7797-B501-C12A-2F39-98114D26993F}"/>
              </a:ext>
            </a:extLst>
          </p:cNvPr>
          <p:cNvSpPr txBox="1"/>
          <p:nvPr/>
        </p:nvSpPr>
        <p:spPr>
          <a:xfrm>
            <a:off x="1038930" y="933434"/>
            <a:ext cx="67132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gency FB" panose="020B0503020202020204" pitchFamily="34" charset="0"/>
              </a:rPr>
              <a:t>2. Una vez que Almacén Ingresa la mercancía en S21, contabilidad podrá visualizar el ingreso de la compra 24 horas después.</a:t>
            </a:r>
          </a:p>
          <a:p>
            <a:r>
              <a:rPr lang="es-MX" sz="2400" b="1" dirty="0">
                <a:latin typeface="Agency FB" panose="020B0503020202020204" pitchFamily="34" charset="0"/>
              </a:rPr>
              <a:t>Almacén debe confirmar vía correo electrónico que ya ingreso la existencia para que Contabilidad pueda validarla.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BDEDC7-1CF5-6CCD-26A9-03367103982B}"/>
              </a:ext>
            </a:extLst>
          </p:cNvPr>
          <p:cNvSpPr txBox="1"/>
          <p:nvPr/>
        </p:nvSpPr>
        <p:spPr>
          <a:xfrm>
            <a:off x="6112886" y="4736626"/>
            <a:ext cx="4824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latin typeface="Agency FB" panose="020B0503020202020204" pitchFamily="34" charset="0"/>
              </a:rPr>
              <a:t>Visualizado el ingreso de mercancía Contabilidad ingresa la </a:t>
            </a:r>
            <a:r>
              <a:rPr lang="es-MX" sz="2400" dirty="0" err="1">
                <a:latin typeface="Agency FB" panose="020B0503020202020204" pitchFamily="34" charset="0"/>
              </a:rPr>
              <a:t>CxP</a:t>
            </a:r>
            <a:r>
              <a:rPr lang="es-MX" sz="2400" dirty="0">
                <a:latin typeface="Agency FB" panose="020B0503020202020204" pitchFamily="34" charset="0"/>
              </a:rPr>
              <a:t> a S21 creando un vínculo con Oracle (</a:t>
            </a:r>
            <a:r>
              <a:rPr lang="es-MX" sz="2400" dirty="0" err="1">
                <a:latin typeface="Agency FB" panose="020B0503020202020204" pitchFamily="34" charset="0"/>
              </a:rPr>
              <a:t>Arc’s</a:t>
            </a:r>
            <a:r>
              <a:rPr lang="es-MX" sz="2400" dirty="0">
                <a:latin typeface="Agency FB" panose="020B0503020202020204" pitchFamily="34" charset="0"/>
              </a:rPr>
              <a:t>) para la creación de la solicitud de pago que podrá ser visible posterior al corte de sistema.</a:t>
            </a:r>
          </a:p>
        </p:txBody>
      </p:sp>
      <p:pic>
        <p:nvPicPr>
          <p:cNvPr id="8" name="Gráfico 7" descr="Atrás contorno">
            <a:extLst>
              <a:ext uri="{FF2B5EF4-FFF2-40B4-BE49-F238E27FC236}">
                <a16:creationId xmlns:a16="http://schemas.microsoft.com/office/drawing/2014/main" id="{4907BCE2-80B4-5CC7-5824-4D637D464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728" y="933434"/>
            <a:ext cx="403203" cy="403203"/>
          </a:xfrm>
          <a:prstGeom prst="rect">
            <a:avLst/>
          </a:prstGeom>
        </p:spPr>
      </p:pic>
      <p:pic>
        <p:nvPicPr>
          <p:cNvPr id="9" name="Gráfico 8" descr="Atrás contorno">
            <a:extLst>
              <a:ext uri="{FF2B5EF4-FFF2-40B4-BE49-F238E27FC236}">
                <a16:creationId xmlns:a16="http://schemas.microsoft.com/office/drawing/2014/main" id="{CA3D0634-1BAA-0DFE-FA74-94DC2DF58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5641" y="4736626"/>
            <a:ext cx="403203" cy="40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042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B5B07F7-F815-368C-030D-1D86D9A7149B}"/>
              </a:ext>
            </a:extLst>
          </p:cNvPr>
          <p:cNvSpPr/>
          <p:nvPr/>
        </p:nvSpPr>
        <p:spPr>
          <a:xfrm>
            <a:off x="9336360" y="0"/>
            <a:ext cx="1728192" cy="573325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D12ACF-BBE1-F6C8-6654-BC0737479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98" y="3775580"/>
            <a:ext cx="7129606" cy="1260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6DC2FCB-845E-CA03-75D3-FC15775BCB8A}"/>
              </a:ext>
            </a:extLst>
          </p:cNvPr>
          <p:cNvSpPr txBox="1"/>
          <p:nvPr/>
        </p:nvSpPr>
        <p:spPr>
          <a:xfrm>
            <a:off x="1091958" y="1124744"/>
            <a:ext cx="70202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latin typeface="Agency FB" panose="020B0503020202020204" pitchFamily="34" charset="0"/>
              </a:rPr>
              <a:t>IMPORTANTE.</a:t>
            </a:r>
          </a:p>
          <a:p>
            <a:pPr algn="ctr"/>
            <a:r>
              <a:rPr lang="es-MX" sz="2400" dirty="0">
                <a:latin typeface="Agency FB" panose="020B0503020202020204" pitchFamily="34" charset="0"/>
              </a:rPr>
              <a:t>El sistema ejecuta el enlace automáticamente en los cortes de sistema que se realizan a las 7:00 am. y 2:30 pm. </a:t>
            </a:r>
          </a:p>
          <a:p>
            <a:pPr algn="ctr"/>
            <a:r>
              <a:rPr lang="es-MX" sz="2400" dirty="0">
                <a:latin typeface="Agency FB" panose="020B0503020202020204" pitchFamily="34" charset="0"/>
              </a:rPr>
              <a:t>No se debe realizar el ingreso de la </a:t>
            </a:r>
            <a:r>
              <a:rPr lang="es-MX" sz="2400" dirty="0" err="1">
                <a:latin typeface="Agency FB" panose="020B0503020202020204" pitchFamily="34" charset="0"/>
              </a:rPr>
              <a:t>CxP</a:t>
            </a:r>
            <a:r>
              <a:rPr lang="es-MX" sz="2400" dirty="0">
                <a:latin typeface="Agency FB" panose="020B0503020202020204" pitchFamily="34" charset="0"/>
              </a:rPr>
              <a:t> de forma manual directamente en el sistema Oracle (</a:t>
            </a:r>
            <a:r>
              <a:rPr lang="es-MX" sz="2400" dirty="0" err="1">
                <a:latin typeface="Agency FB" panose="020B0503020202020204" pitchFamily="34" charset="0"/>
              </a:rPr>
              <a:t>Arc’s</a:t>
            </a:r>
            <a:r>
              <a:rPr lang="es-MX" sz="2400" dirty="0">
                <a:latin typeface="Agency FB" panose="020B0503020202020204" pitchFamily="34" charset="0"/>
              </a:rPr>
              <a:t>) esto generar un error al ejecutar la interface entre sistemas.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0781D57-0004-2033-214D-72DA4F6C44AC}"/>
              </a:ext>
            </a:extLst>
          </p:cNvPr>
          <p:cNvGrpSpPr/>
          <p:nvPr/>
        </p:nvGrpSpPr>
        <p:grpSpPr>
          <a:xfrm>
            <a:off x="1487488" y="4189912"/>
            <a:ext cx="6192688" cy="216029"/>
            <a:chOff x="2207568" y="3710771"/>
            <a:chExt cx="4628350" cy="193314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5C19397E-20A1-7404-9562-FDD95694F2E5}"/>
                </a:ext>
              </a:extLst>
            </p:cNvPr>
            <p:cNvSpPr txBox="1"/>
            <p:nvPr/>
          </p:nvSpPr>
          <p:spPr>
            <a:xfrm>
              <a:off x="2207569" y="3710771"/>
              <a:ext cx="1345451" cy="193314"/>
            </a:xfrm>
            <a:prstGeom prst="rect">
              <a:avLst/>
            </a:prstGeom>
            <a:noFill/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s-MX" dirty="0"/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8D5C0F62-FE33-F96A-11BE-91E3F4CA97F4}"/>
                </a:ext>
              </a:extLst>
            </p:cNvPr>
            <p:cNvCxnSpPr>
              <a:cxnSpLocks/>
            </p:cNvCxnSpPr>
            <p:nvPr/>
          </p:nvCxnSpPr>
          <p:spPr>
            <a:xfrm>
              <a:off x="2207568" y="3902041"/>
              <a:ext cx="4628350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B0B2461-C5BA-09FA-9D8C-7D739CDFCCBC}"/>
              </a:ext>
            </a:extLst>
          </p:cNvPr>
          <p:cNvSpPr txBox="1"/>
          <p:nvPr/>
        </p:nvSpPr>
        <p:spPr>
          <a:xfrm>
            <a:off x="7693227" y="3697475"/>
            <a:ext cx="1728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gency FB" panose="020B0503020202020204" pitchFamily="34" charset="0"/>
              </a:rPr>
              <a:t>La forma de identificar los ingresos de Compras Nacionales ya liberados por el área contable tiene el lote “CMX COST MANAGEMENT”</a:t>
            </a:r>
          </a:p>
        </p:txBody>
      </p:sp>
    </p:spTree>
    <p:extLst>
      <p:ext uri="{BB962C8B-B14F-4D97-AF65-F5344CB8AC3E}">
        <p14:creationId xmlns:p14="http://schemas.microsoft.com/office/powerpoint/2010/main" val="352460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conector fuera de página 3">
            <a:extLst>
              <a:ext uri="{FF2B5EF4-FFF2-40B4-BE49-F238E27FC236}">
                <a16:creationId xmlns:a16="http://schemas.microsoft.com/office/drawing/2014/main" id="{731AAB0B-CFA7-54FF-A684-76E07D2D7E11}"/>
              </a:ext>
            </a:extLst>
          </p:cNvPr>
          <p:cNvSpPr/>
          <p:nvPr/>
        </p:nvSpPr>
        <p:spPr>
          <a:xfrm rot="16200000">
            <a:off x="2326191" y="-938095"/>
            <a:ext cx="1418938" cy="5256584"/>
          </a:xfrm>
          <a:prstGeom prst="flowChartOffpage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0BE4F43-201C-4AEE-4633-365823AE4746}"/>
              </a:ext>
            </a:extLst>
          </p:cNvPr>
          <p:cNvGrpSpPr/>
          <p:nvPr/>
        </p:nvGrpSpPr>
        <p:grpSpPr>
          <a:xfrm>
            <a:off x="623392" y="1472890"/>
            <a:ext cx="4104455" cy="477054"/>
            <a:chOff x="839416" y="1472891"/>
            <a:chExt cx="4104455" cy="477054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9A072E9-777F-B968-21E7-C415D4CA626D}"/>
                </a:ext>
              </a:extLst>
            </p:cNvPr>
            <p:cNvSpPr txBox="1"/>
            <p:nvPr/>
          </p:nvSpPr>
          <p:spPr>
            <a:xfrm>
              <a:off x="1277840" y="1505531"/>
              <a:ext cx="3666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>
                  <a:latin typeface="Agency FB" panose="020B0503020202020204" pitchFamily="34" charset="0"/>
                </a:rPr>
                <a:t>ADICIONALES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707C97C-A7A0-A9A2-2952-1ED5E23E9AFB}"/>
                </a:ext>
              </a:extLst>
            </p:cNvPr>
            <p:cNvSpPr txBox="1"/>
            <p:nvPr/>
          </p:nvSpPr>
          <p:spPr>
            <a:xfrm>
              <a:off x="839416" y="1472891"/>
              <a:ext cx="43842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500" b="1" dirty="0">
                  <a:latin typeface="Agency FB" panose="020B0503020202020204" pitchFamily="34" charset="0"/>
                </a:rPr>
                <a:t>3.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10C0CF1-61CC-9B5B-099B-7335121EFC8B}"/>
              </a:ext>
            </a:extLst>
          </p:cNvPr>
          <p:cNvGrpSpPr/>
          <p:nvPr/>
        </p:nvGrpSpPr>
        <p:grpSpPr>
          <a:xfrm>
            <a:off x="811939" y="2709660"/>
            <a:ext cx="7732333" cy="1015663"/>
            <a:chOff x="811939" y="2709660"/>
            <a:chExt cx="7732333" cy="1015663"/>
          </a:xfrm>
        </p:grpSpPr>
        <p:grpSp>
          <p:nvGrpSpPr>
            <p:cNvPr id="9" name="Google Shape;905;p32">
              <a:extLst>
                <a:ext uri="{FF2B5EF4-FFF2-40B4-BE49-F238E27FC236}">
                  <a16:creationId xmlns:a16="http://schemas.microsoft.com/office/drawing/2014/main" id="{1704E5A3-B4C9-25A8-7351-A38DEB9B715C}"/>
                </a:ext>
              </a:extLst>
            </p:cNvPr>
            <p:cNvGrpSpPr/>
            <p:nvPr/>
          </p:nvGrpSpPr>
          <p:grpSpPr>
            <a:xfrm>
              <a:off x="811939" y="3065905"/>
              <a:ext cx="360039" cy="360040"/>
              <a:chOff x="1750887" y="2425727"/>
              <a:chExt cx="320143" cy="343269"/>
            </a:xfrm>
            <a:solidFill>
              <a:srgbClr val="FF0000"/>
            </a:solidFill>
          </p:grpSpPr>
          <p:sp>
            <p:nvSpPr>
              <p:cNvPr id="10" name="Google Shape;906;p32">
                <a:extLst>
                  <a:ext uri="{FF2B5EF4-FFF2-40B4-BE49-F238E27FC236}">
                    <a16:creationId xmlns:a16="http://schemas.microsoft.com/office/drawing/2014/main" id="{4A2C63D5-3124-937D-2B13-83DE74853CEA}"/>
                  </a:ext>
                </a:extLst>
              </p:cNvPr>
              <p:cNvSpPr/>
              <p:nvPr/>
            </p:nvSpPr>
            <p:spPr>
              <a:xfrm>
                <a:off x="1750887" y="2425727"/>
                <a:ext cx="320143" cy="289052"/>
              </a:xfrm>
              <a:custGeom>
                <a:avLst/>
                <a:gdLst/>
                <a:ahLst/>
                <a:cxnLst/>
                <a:rect l="l" t="t" r="r" b="b"/>
                <a:pathLst>
                  <a:path w="10050" h="9074" extrusionOk="0">
                    <a:moveTo>
                      <a:pt x="1668" y="322"/>
                    </a:moveTo>
                    <a:cubicBezTo>
                      <a:pt x="1834" y="322"/>
                      <a:pt x="1953" y="453"/>
                      <a:pt x="1953" y="608"/>
                    </a:cubicBezTo>
                    <a:lnTo>
                      <a:pt x="1953" y="1275"/>
                    </a:lnTo>
                    <a:cubicBezTo>
                      <a:pt x="1953" y="1441"/>
                      <a:pt x="1811" y="1560"/>
                      <a:pt x="1668" y="1560"/>
                    </a:cubicBezTo>
                    <a:cubicBezTo>
                      <a:pt x="1513" y="1560"/>
                      <a:pt x="1382" y="1429"/>
                      <a:pt x="1382" y="1275"/>
                    </a:cubicBezTo>
                    <a:lnTo>
                      <a:pt x="1382" y="929"/>
                    </a:lnTo>
                    <a:lnTo>
                      <a:pt x="1382" y="608"/>
                    </a:lnTo>
                    <a:cubicBezTo>
                      <a:pt x="1370" y="453"/>
                      <a:pt x="1501" y="322"/>
                      <a:pt x="1668" y="322"/>
                    </a:cubicBezTo>
                    <a:close/>
                    <a:moveTo>
                      <a:pt x="3918" y="322"/>
                    </a:moveTo>
                    <a:cubicBezTo>
                      <a:pt x="4061" y="322"/>
                      <a:pt x="4192" y="453"/>
                      <a:pt x="4192" y="608"/>
                    </a:cubicBezTo>
                    <a:lnTo>
                      <a:pt x="4192" y="1275"/>
                    </a:lnTo>
                    <a:cubicBezTo>
                      <a:pt x="4192" y="1441"/>
                      <a:pt x="4061" y="1560"/>
                      <a:pt x="3918" y="1560"/>
                    </a:cubicBezTo>
                    <a:cubicBezTo>
                      <a:pt x="3763" y="1560"/>
                      <a:pt x="3632" y="1429"/>
                      <a:pt x="3632" y="1275"/>
                    </a:cubicBezTo>
                    <a:lnTo>
                      <a:pt x="3632" y="608"/>
                    </a:lnTo>
                    <a:cubicBezTo>
                      <a:pt x="3632" y="441"/>
                      <a:pt x="3763" y="322"/>
                      <a:pt x="3918" y="322"/>
                    </a:cubicBezTo>
                    <a:close/>
                    <a:moveTo>
                      <a:pt x="6180" y="322"/>
                    </a:moveTo>
                    <a:cubicBezTo>
                      <a:pt x="6323" y="322"/>
                      <a:pt x="6454" y="453"/>
                      <a:pt x="6454" y="608"/>
                    </a:cubicBezTo>
                    <a:lnTo>
                      <a:pt x="6454" y="1275"/>
                    </a:lnTo>
                    <a:cubicBezTo>
                      <a:pt x="6454" y="1441"/>
                      <a:pt x="6323" y="1560"/>
                      <a:pt x="6180" y="1560"/>
                    </a:cubicBezTo>
                    <a:cubicBezTo>
                      <a:pt x="6025" y="1560"/>
                      <a:pt x="5894" y="1429"/>
                      <a:pt x="5894" y="1275"/>
                    </a:cubicBezTo>
                    <a:lnTo>
                      <a:pt x="5894" y="608"/>
                    </a:lnTo>
                    <a:cubicBezTo>
                      <a:pt x="5894" y="441"/>
                      <a:pt x="6025" y="322"/>
                      <a:pt x="6180" y="322"/>
                    </a:cubicBezTo>
                    <a:close/>
                    <a:moveTo>
                      <a:pt x="8419" y="322"/>
                    </a:moveTo>
                    <a:cubicBezTo>
                      <a:pt x="8573" y="322"/>
                      <a:pt x="8704" y="453"/>
                      <a:pt x="8704" y="608"/>
                    </a:cubicBezTo>
                    <a:lnTo>
                      <a:pt x="8704" y="929"/>
                    </a:lnTo>
                    <a:lnTo>
                      <a:pt x="8704" y="1275"/>
                    </a:lnTo>
                    <a:cubicBezTo>
                      <a:pt x="8704" y="1441"/>
                      <a:pt x="8573" y="1560"/>
                      <a:pt x="8419" y="1560"/>
                    </a:cubicBezTo>
                    <a:cubicBezTo>
                      <a:pt x="8276" y="1560"/>
                      <a:pt x="8145" y="1429"/>
                      <a:pt x="8145" y="1275"/>
                    </a:cubicBezTo>
                    <a:lnTo>
                      <a:pt x="8145" y="608"/>
                    </a:lnTo>
                    <a:cubicBezTo>
                      <a:pt x="8145" y="441"/>
                      <a:pt x="8276" y="322"/>
                      <a:pt x="8419" y="322"/>
                    </a:cubicBezTo>
                    <a:close/>
                    <a:moveTo>
                      <a:pt x="9526" y="1096"/>
                    </a:moveTo>
                    <a:cubicBezTo>
                      <a:pt x="9669" y="1096"/>
                      <a:pt x="9788" y="1215"/>
                      <a:pt x="9788" y="1370"/>
                    </a:cubicBezTo>
                    <a:lnTo>
                      <a:pt x="9788" y="2525"/>
                    </a:lnTo>
                    <a:lnTo>
                      <a:pt x="370" y="2525"/>
                    </a:lnTo>
                    <a:lnTo>
                      <a:pt x="370" y="1370"/>
                    </a:lnTo>
                    <a:cubicBezTo>
                      <a:pt x="370" y="1215"/>
                      <a:pt x="489" y="1096"/>
                      <a:pt x="644" y="1096"/>
                    </a:cubicBezTo>
                    <a:lnTo>
                      <a:pt x="1060" y="1096"/>
                    </a:lnTo>
                    <a:lnTo>
                      <a:pt x="1060" y="1275"/>
                    </a:lnTo>
                    <a:cubicBezTo>
                      <a:pt x="1060" y="1596"/>
                      <a:pt x="1322" y="1882"/>
                      <a:pt x="1668" y="1882"/>
                    </a:cubicBezTo>
                    <a:cubicBezTo>
                      <a:pt x="1989" y="1882"/>
                      <a:pt x="2275" y="1620"/>
                      <a:pt x="2275" y="1275"/>
                    </a:cubicBezTo>
                    <a:lnTo>
                      <a:pt x="2275" y="1096"/>
                    </a:lnTo>
                    <a:lnTo>
                      <a:pt x="3335" y="1096"/>
                    </a:lnTo>
                    <a:lnTo>
                      <a:pt x="3335" y="1275"/>
                    </a:lnTo>
                    <a:cubicBezTo>
                      <a:pt x="3335" y="1596"/>
                      <a:pt x="3597" y="1882"/>
                      <a:pt x="3942" y="1882"/>
                    </a:cubicBezTo>
                    <a:cubicBezTo>
                      <a:pt x="4287" y="1882"/>
                      <a:pt x="4549" y="1620"/>
                      <a:pt x="4549" y="1275"/>
                    </a:cubicBezTo>
                    <a:lnTo>
                      <a:pt x="4549" y="1096"/>
                    </a:lnTo>
                    <a:lnTo>
                      <a:pt x="5609" y="1096"/>
                    </a:lnTo>
                    <a:lnTo>
                      <a:pt x="5609" y="1275"/>
                    </a:lnTo>
                    <a:cubicBezTo>
                      <a:pt x="5609" y="1596"/>
                      <a:pt x="5883" y="1882"/>
                      <a:pt x="6216" y="1882"/>
                    </a:cubicBezTo>
                    <a:cubicBezTo>
                      <a:pt x="6561" y="1882"/>
                      <a:pt x="6835" y="1620"/>
                      <a:pt x="6835" y="1275"/>
                    </a:cubicBezTo>
                    <a:lnTo>
                      <a:pt x="6835" y="1096"/>
                    </a:lnTo>
                    <a:lnTo>
                      <a:pt x="7883" y="1096"/>
                    </a:lnTo>
                    <a:lnTo>
                      <a:pt x="7883" y="1275"/>
                    </a:lnTo>
                    <a:cubicBezTo>
                      <a:pt x="7883" y="1596"/>
                      <a:pt x="8157" y="1882"/>
                      <a:pt x="8502" y="1882"/>
                    </a:cubicBezTo>
                    <a:cubicBezTo>
                      <a:pt x="8823" y="1882"/>
                      <a:pt x="9109" y="1620"/>
                      <a:pt x="9109" y="1275"/>
                    </a:cubicBezTo>
                    <a:lnTo>
                      <a:pt x="9109" y="1096"/>
                    </a:lnTo>
                    <a:close/>
                    <a:moveTo>
                      <a:pt x="1608" y="1"/>
                    </a:moveTo>
                    <a:cubicBezTo>
                      <a:pt x="1275" y="1"/>
                      <a:pt x="989" y="262"/>
                      <a:pt x="989" y="608"/>
                    </a:cubicBezTo>
                    <a:lnTo>
                      <a:pt x="989" y="786"/>
                    </a:lnTo>
                    <a:lnTo>
                      <a:pt x="572" y="786"/>
                    </a:lnTo>
                    <a:cubicBezTo>
                      <a:pt x="251" y="786"/>
                      <a:pt x="1" y="1048"/>
                      <a:pt x="1" y="1370"/>
                    </a:cubicBezTo>
                    <a:lnTo>
                      <a:pt x="1" y="3584"/>
                    </a:lnTo>
                    <a:cubicBezTo>
                      <a:pt x="1" y="3668"/>
                      <a:pt x="72" y="3751"/>
                      <a:pt x="156" y="3751"/>
                    </a:cubicBezTo>
                    <a:cubicBezTo>
                      <a:pt x="251" y="3751"/>
                      <a:pt x="322" y="3668"/>
                      <a:pt x="322" y="3584"/>
                    </a:cubicBezTo>
                    <a:lnTo>
                      <a:pt x="322" y="2834"/>
                    </a:lnTo>
                    <a:lnTo>
                      <a:pt x="9681" y="2834"/>
                    </a:lnTo>
                    <a:lnTo>
                      <a:pt x="9681" y="8906"/>
                    </a:lnTo>
                    <a:cubicBezTo>
                      <a:pt x="9681" y="9002"/>
                      <a:pt x="9764" y="9073"/>
                      <a:pt x="9847" y="9073"/>
                    </a:cubicBezTo>
                    <a:cubicBezTo>
                      <a:pt x="9943" y="9073"/>
                      <a:pt x="10014" y="9002"/>
                      <a:pt x="10014" y="8906"/>
                    </a:cubicBezTo>
                    <a:lnTo>
                      <a:pt x="10014" y="1346"/>
                    </a:lnTo>
                    <a:cubicBezTo>
                      <a:pt x="10050" y="1036"/>
                      <a:pt x="9776" y="786"/>
                      <a:pt x="9466" y="786"/>
                    </a:cubicBezTo>
                    <a:lnTo>
                      <a:pt x="9050" y="786"/>
                    </a:lnTo>
                    <a:lnTo>
                      <a:pt x="9050" y="608"/>
                    </a:lnTo>
                    <a:cubicBezTo>
                      <a:pt x="9050" y="274"/>
                      <a:pt x="8776" y="1"/>
                      <a:pt x="8430" y="1"/>
                    </a:cubicBezTo>
                    <a:cubicBezTo>
                      <a:pt x="8109" y="1"/>
                      <a:pt x="7823" y="262"/>
                      <a:pt x="7823" y="608"/>
                    </a:cubicBezTo>
                    <a:lnTo>
                      <a:pt x="7823" y="786"/>
                    </a:lnTo>
                    <a:lnTo>
                      <a:pt x="6764" y="786"/>
                    </a:lnTo>
                    <a:lnTo>
                      <a:pt x="6764" y="608"/>
                    </a:lnTo>
                    <a:cubicBezTo>
                      <a:pt x="6764" y="274"/>
                      <a:pt x="6502" y="1"/>
                      <a:pt x="6156" y="1"/>
                    </a:cubicBezTo>
                    <a:cubicBezTo>
                      <a:pt x="5811" y="1"/>
                      <a:pt x="5549" y="262"/>
                      <a:pt x="5549" y="608"/>
                    </a:cubicBezTo>
                    <a:lnTo>
                      <a:pt x="5549" y="786"/>
                    </a:lnTo>
                    <a:lnTo>
                      <a:pt x="4489" y="786"/>
                    </a:lnTo>
                    <a:lnTo>
                      <a:pt x="4489" y="608"/>
                    </a:lnTo>
                    <a:cubicBezTo>
                      <a:pt x="4489" y="274"/>
                      <a:pt x="4228" y="1"/>
                      <a:pt x="3882" y="1"/>
                    </a:cubicBezTo>
                    <a:cubicBezTo>
                      <a:pt x="3549" y="1"/>
                      <a:pt x="3275" y="262"/>
                      <a:pt x="3275" y="608"/>
                    </a:cubicBezTo>
                    <a:lnTo>
                      <a:pt x="3275" y="786"/>
                    </a:lnTo>
                    <a:lnTo>
                      <a:pt x="2215" y="786"/>
                    </a:lnTo>
                    <a:lnTo>
                      <a:pt x="2215" y="608"/>
                    </a:lnTo>
                    <a:cubicBezTo>
                      <a:pt x="2215" y="274"/>
                      <a:pt x="1942" y="1"/>
                      <a:pt x="160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Google Shape;907;p32">
                <a:extLst>
                  <a:ext uri="{FF2B5EF4-FFF2-40B4-BE49-F238E27FC236}">
                    <a16:creationId xmlns:a16="http://schemas.microsoft.com/office/drawing/2014/main" id="{BB29CDFA-C666-609B-6BAE-F4CD56D466F5}"/>
                  </a:ext>
                </a:extLst>
              </p:cNvPr>
              <p:cNvSpPr/>
              <p:nvPr/>
            </p:nvSpPr>
            <p:spPr>
              <a:xfrm>
                <a:off x="1751652" y="2558467"/>
                <a:ext cx="319378" cy="210530"/>
              </a:xfrm>
              <a:custGeom>
                <a:avLst/>
                <a:gdLst/>
                <a:ahLst/>
                <a:cxnLst/>
                <a:rect l="l" t="t" r="r" b="b"/>
                <a:pathLst>
                  <a:path w="10026" h="6609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6025"/>
                    </a:lnTo>
                    <a:cubicBezTo>
                      <a:pt x="1" y="6347"/>
                      <a:pt x="274" y="6609"/>
                      <a:pt x="584" y="6609"/>
                    </a:cubicBezTo>
                    <a:lnTo>
                      <a:pt x="9407" y="6609"/>
                    </a:lnTo>
                    <a:cubicBezTo>
                      <a:pt x="9740" y="6609"/>
                      <a:pt x="9990" y="6335"/>
                      <a:pt x="9990" y="6025"/>
                    </a:cubicBezTo>
                    <a:lnTo>
                      <a:pt x="9990" y="5501"/>
                    </a:lnTo>
                    <a:cubicBezTo>
                      <a:pt x="10026" y="5418"/>
                      <a:pt x="9942" y="5335"/>
                      <a:pt x="9859" y="5335"/>
                    </a:cubicBezTo>
                    <a:cubicBezTo>
                      <a:pt x="9764" y="5335"/>
                      <a:pt x="9692" y="5418"/>
                      <a:pt x="9692" y="5501"/>
                    </a:cubicBezTo>
                    <a:lnTo>
                      <a:pt x="9692" y="6025"/>
                    </a:lnTo>
                    <a:cubicBezTo>
                      <a:pt x="9692" y="6168"/>
                      <a:pt x="9573" y="6287"/>
                      <a:pt x="9430" y="6287"/>
                    </a:cubicBezTo>
                    <a:lnTo>
                      <a:pt x="596" y="6287"/>
                    </a:lnTo>
                    <a:cubicBezTo>
                      <a:pt x="453" y="6287"/>
                      <a:pt x="334" y="6168"/>
                      <a:pt x="334" y="6025"/>
                    </a:cubicBezTo>
                    <a:lnTo>
                      <a:pt x="334" y="156"/>
                    </a:lnTo>
                    <a:cubicBezTo>
                      <a:pt x="334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F0E0878-8BFF-2050-8724-6A91ED6B5997}"/>
                </a:ext>
              </a:extLst>
            </p:cNvPr>
            <p:cNvSpPr txBox="1"/>
            <p:nvPr/>
          </p:nvSpPr>
          <p:spPr>
            <a:xfrm>
              <a:off x="1559496" y="2709660"/>
              <a:ext cx="69847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2000" dirty="0">
                  <a:latin typeface="Agency FB" panose="020B0503020202020204" pitchFamily="34" charset="0"/>
                </a:rPr>
                <a:t>Cuando posterior al corte y confirmación del área de contabilidad la factura no aparece en sistema, se tiene que notificar a contabilidad para validar su liberación; no se debe intentar ingresar la entrada de forma manual.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026C5F5-B02A-36B6-52D9-DC091E5A3938}"/>
              </a:ext>
            </a:extLst>
          </p:cNvPr>
          <p:cNvGrpSpPr/>
          <p:nvPr/>
        </p:nvGrpSpPr>
        <p:grpSpPr>
          <a:xfrm>
            <a:off x="3287688" y="3962889"/>
            <a:ext cx="7704855" cy="1015663"/>
            <a:chOff x="3287688" y="3962889"/>
            <a:chExt cx="7704855" cy="1015663"/>
          </a:xfrm>
        </p:grpSpPr>
        <p:grpSp>
          <p:nvGrpSpPr>
            <p:cNvPr id="13" name="Google Shape;905;p32">
              <a:extLst>
                <a:ext uri="{FF2B5EF4-FFF2-40B4-BE49-F238E27FC236}">
                  <a16:creationId xmlns:a16="http://schemas.microsoft.com/office/drawing/2014/main" id="{EA55F632-923F-E15A-631D-CAEBCDFA62FA}"/>
                </a:ext>
              </a:extLst>
            </p:cNvPr>
            <p:cNvGrpSpPr/>
            <p:nvPr/>
          </p:nvGrpSpPr>
          <p:grpSpPr>
            <a:xfrm>
              <a:off x="10632504" y="4290700"/>
              <a:ext cx="360039" cy="360040"/>
              <a:chOff x="1750887" y="2425727"/>
              <a:chExt cx="320143" cy="343269"/>
            </a:xfrm>
            <a:solidFill>
              <a:srgbClr val="FF0000"/>
            </a:solidFill>
          </p:grpSpPr>
          <p:sp>
            <p:nvSpPr>
              <p:cNvPr id="14" name="Google Shape;906;p32">
                <a:extLst>
                  <a:ext uri="{FF2B5EF4-FFF2-40B4-BE49-F238E27FC236}">
                    <a16:creationId xmlns:a16="http://schemas.microsoft.com/office/drawing/2014/main" id="{9C781B57-3039-8AA0-5390-88174179B839}"/>
                  </a:ext>
                </a:extLst>
              </p:cNvPr>
              <p:cNvSpPr/>
              <p:nvPr/>
            </p:nvSpPr>
            <p:spPr>
              <a:xfrm>
                <a:off x="1750887" y="2425727"/>
                <a:ext cx="320143" cy="289052"/>
              </a:xfrm>
              <a:custGeom>
                <a:avLst/>
                <a:gdLst/>
                <a:ahLst/>
                <a:cxnLst/>
                <a:rect l="l" t="t" r="r" b="b"/>
                <a:pathLst>
                  <a:path w="10050" h="9074" extrusionOk="0">
                    <a:moveTo>
                      <a:pt x="1668" y="322"/>
                    </a:moveTo>
                    <a:cubicBezTo>
                      <a:pt x="1834" y="322"/>
                      <a:pt x="1953" y="453"/>
                      <a:pt x="1953" y="608"/>
                    </a:cubicBezTo>
                    <a:lnTo>
                      <a:pt x="1953" y="1275"/>
                    </a:lnTo>
                    <a:cubicBezTo>
                      <a:pt x="1953" y="1441"/>
                      <a:pt x="1811" y="1560"/>
                      <a:pt x="1668" y="1560"/>
                    </a:cubicBezTo>
                    <a:cubicBezTo>
                      <a:pt x="1513" y="1560"/>
                      <a:pt x="1382" y="1429"/>
                      <a:pt x="1382" y="1275"/>
                    </a:cubicBezTo>
                    <a:lnTo>
                      <a:pt x="1382" y="929"/>
                    </a:lnTo>
                    <a:lnTo>
                      <a:pt x="1382" y="608"/>
                    </a:lnTo>
                    <a:cubicBezTo>
                      <a:pt x="1370" y="453"/>
                      <a:pt x="1501" y="322"/>
                      <a:pt x="1668" y="322"/>
                    </a:cubicBezTo>
                    <a:close/>
                    <a:moveTo>
                      <a:pt x="3918" y="322"/>
                    </a:moveTo>
                    <a:cubicBezTo>
                      <a:pt x="4061" y="322"/>
                      <a:pt x="4192" y="453"/>
                      <a:pt x="4192" y="608"/>
                    </a:cubicBezTo>
                    <a:lnTo>
                      <a:pt x="4192" y="1275"/>
                    </a:lnTo>
                    <a:cubicBezTo>
                      <a:pt x="4192" y="1441"/>
                      <a:pt x="4061" y="1560"/>
                      <a:pt x="3918" y="1560"/>
                    </a:cubicBezTo>
                    <a:cubicBezTo>
                      <a:pt x="3763" y="1560"/>
                      <a:pt x="3632" y="1429"/>
                      <a:pt x="3632" y="1275"/>
                    </a:cubicBezTo>
                    <a:lnTo>
                      <a:pt x="3632" y="608"/>
                    </a:lnTo>
                    <a:cubicBezTo>
                      <a:pt x="3632" y="441"/>
                      <a:pt x="3763" y="322"/>
                      <a:pt x="3918" y="322"/>
                    </a:cubicBezTo>
                    <a:close/>
                    <a:moveTo>
                      <a:pt x="6180" y="322"/>
                    </a:moveTo>
                    <a:cubicBezTo>
                      <a:pt x="6323" y="322"/>
                      <a:pt x="6454" y="453"/>
                      <a:pt x="6454" y="608"/>
                    </a:cubicBezTo>
                    <a:lnTo>
                      <a:pt x="6454" y="1275"/>
                    </a:lnTo>
                    <a:cubicBezTo>
                      <a:pt x="6454" y="1441"/>
                      <a:pt x="6323" y="1560"/>
                      <a:pt x="6180" y="1560"/>
                    </a:cubicBezTo>
                    <a:cubicBezTo>
                      <a:pt x="6025" y="1560"/>
                      <a:pt x="5894" y="1429"/>
                      <a:pt x="5894" y="1275"/>
                    </a:cubicBezTo>
                    <a:lnTo>
                      <a:pt x="5894" y="608"/>
                    </a:lnTo>
                    <a:cubicBezTo>
                      <a:pt x="5894" y="441"/>
                      <a:pt x="6025" y="322"/>
                      <a:pt x="6180" y="322"/>
                    </a:cubicBezTo>
                    <a:close/>
                    <a:moveTo>
                      <a:pt x="8419" y="322"/>
                    </a:moveTo>
                    <a:cubicBezTo>
                      <a:pt x="8573" y="322"/>
                      <a:pt x="8704" y="453"/>
                      <a:pt x="8704" y="608"/>
                    </a:cubicBezTo>
                    <a:lnTo>
                      <a:pt x="8704" y="929"/>
                    </a:lnTo>
                    <a:lnTo>
                      <a:pt x="8704" y="1275"/>
                    </a:lnTo>
                    <a:cubicBezTo>
                      <a:pt x="8704" y="1441"/>
                      <a:pt x="8573" y="1560"/>
                      <a:pt x="8419" y="1560"/>
                    </a:cubicBezTo>
                    <a:cubicBezTo>
                      <a:pt x="8276" y="1560"/>
                      <a:pt x="8145" y="1429"/>
                      <a:pt x="8145" y="1275"/>
                    </a:cubicBezTo>
                    <a:lnTo>
                      <a:pt x="8145" y="608"/>
                    </a:lnTo>
                    <a:cubicBezTo>
                      <a:pt x="8145" y="441"/>
                      <a:pt x="8276" y="322"/>
                      <a:pt x="8419" y="322"/>
                    </a:cubicBezTo>
                    <a:close/>
                    <a:moveTo>
                      <a:pt x="9526" y="1096"/>
                    </a:moveTo>
                    <a:cubicBezTo>
                      <a:pt x="9669" y="1096"/>
                      <a:pt x="9788" y="1215"/>
                      <a:pt x="9788" y="1370"/>
                    </a:cubicBezTo>
                    <a:lnTo>
                      <a:pt x="9788" y="2525"/>
                    </a:lnTo>
                    <a:lnTo>
                      <a:pt x="370" y="2525"/>
                    </a:lnTo>
                    <a:lnTo>
                      <a:pt x="370" y="1370"/>
                    </a:lnTo>
                    <a:cubicBezTo>
                      <a:pt x="370" y="1215"/>
                      <a:pt x="489" y="1096"/>
                      <a:pt x="644" y="1096"/>
                    </a:cubicBezTo>
                    <a:lnTo>
                      <a:pt x="1060" y="1096"/>
                    </a:lnTo>
                    <a:lnTo>
                      <a:pt x="1060" y="1275"/>
                    </a:lnTo>
                    <a:cubicBezTo>
                      <a:pt x="1060" y="1596"/>
                      <a:pt x="1322" y="1882"/>
                      <a:pt x="1668" y="1882"/>
                    </a:cubicBezTo>
                    <a:cubicBezTo>
                      <a:pt x="1989" y="1882"/>
                      <a:pt x="2275" y="1620"/>
                      <a:pt x="2275" y="1275"/>
                    </a:cubicBezTo>
                    <a:lnTo>
                      <a:pt x="2275" y="1096"/>
                    </a:lnTo>
                    <a:lnTo>
                      <a:pt x="3335" y="1096"/>
                    </a:lnTo>
                    <a:lnTo>
                      <a:pt x="3335" y="1275"/>
                    </a:lnTo>
                    <a:cubicBezTo>
                      <a:pt x="3335" y="1596"/>
                      <a:pt x="3597" y="1882"/>
                      <a:pt x="3942" y="1882"/>
                    </a:cubicBezTo>
                    <a:cubicBezTo>
                      <a:pt x="4287" y="1882"/>
                      <a:pt x="4549" y="1620"/>
                      <a:pt x="4549" y="1275"/>
                    </a:cubicBezTo>
                    <a:lnTo>
                      <a:pt x="4549" y="1096"/>
                    </a:lnTo>
                    <a:lnTo>
                      <a:pt x="5609" y="1096"/>
                    </a:lnTo>
                    <a:lnTo>
                      <a:pt x="5609" y="1275"/>
                    </a:lnTo>
                    <a:cubicBezTo>
                      <a:pt x="5609" y="1596"/>
                      <a:pt x="5883" y="1882"/>
                      <a:pt x="6216" y="1882"/>
                    </a:cubicBezTo>
                    <a:cubicBezTo>
                      <a:pt x="6561" y="1882"/>
                      <a:pt x="6835" y="1620"/>
                      <a:pt x="6835" y="1275"/>
                    </a:cubicBezTo>
                    <a:lnTo>
                      <a:pt x="6835" y="1096"/>
                    </a:lnTo>
                    <a:lnTo>
                      <a:pt x="7883" y="1096"/>
                    </a:lnTo>
                    <a:lnTo>
                      <a:pt x="7883" y="1275"/>
                    </a:lnTo>
                    <a:cubicBezTo>
                      <a:pt x="7883" y="1596"/>
                      <a:pt x="8157" y="1882"/>
                      <a:pt x="8502" y="1882"/>
                    </a:cubicBezTo>
                    <a:cubicBezTo>
                      <a:pt x="8823" y="1882"/>
                      <a:pt x="9109" y="1620"/>
                      <a:pt x="9109" y="1275"/>
                    </a:cubicBezTo>
                    <a:lnTo>
                      <a:pt x="9109" y="1096"/>
                    </a:lnTo>
                    <a:close/>
                    <a:moveTo>
                      <a:pt x="1608" y="1"/>
                    </a:moveTo>
                    <a:cubicBezTo>
                      <a:pt x="1275" y="1"/>
                      <a:pt x="989" y="262"/>
                      <a:pt x="989" y="608"/>
                    </a:cubicBezTo>
                    <a:lnTo>
                      <a:pt x="989" y="786"/>
                    </a:lnTo>
                    <a:lnTo>
                      <a:pt x="572" y="786"/>
                    </a:lnTo>
                    <a:cubicBezTo>
                      <a:pt x="251" y="786"/>
                      <a:pt x="1" y="1048"/>
                      <a:pt x="1" y="1370"/>
                    </a:cubicBezTo>
                    <a:lnTo>
                      <a:pt x="1" y="3584"/>
                    </a:lnTo>
                    <a:cubicBezTo>
                      <a:pt x="1" y="3668"/>
                      <a:pt x="72" y="3751"/>
                      <a:pt x="156" y="3751"/>
                    </a:cubicBezTo>
                    <a:cubicBezTo>
                      <a:pt x="251" y="3751"/>
                      <a:pt x="322" y="3668"/>
                      <a:pt x="322" y="3584"/>
                    </a:cubicBezTo>
                    <a:lnTo>
                      <a:pt x="322" y="2834"/>
                    </a:lnTo>
                    <a:lnTo>
                      <a:pt x="9681" y="2834"/>
                    </a:lnTo>
                    <a:lnTo>
                      <a:pt x="9681" y="8906"/>
                    </a:lnTo>
                    <a:cubicBezTo>
                      <a:pt x="9681" y="9002"/>
                      <a:pt x="9764" y="9073"/>
                      <a:pt x="9847" y="9073"/>
                    </a:cubicBezTo>
                    <a:cubicBezTo>
                      <a:pt x="9943" y="9073"/>
                      <a:pt x="10014" y="9002"/>
                      <a:pt x="10014" y="8906"/>
                    </a:cubicBezTo>
                    <a:lnTo>
                      <a:pt x="10014" y="1346"/>
                    </a:lnTo>
                    <a:cubicBezTo>
                      <a:pt x="10050" y="1036"/>
                      <a:pt x="9776" y="786"/>
                      <a:pt x="9466" y="786"/>
                    </a:cubicBezTo>
                    <a:lnTo>
                      <a:pt x="9050" y="786"/>
                    </a:lnTo>
                    <a:lnTo>
                      <a:pt x="9050" y="608"/>
                    </a:lnTo>
                    <a:cubicBezTo>
                      <a:pt x="9050" y="274"/>
                      <a:pt x="8776" y="1"/>
                      <a:pt x="8430" y="1"/>
                    </a:cubicBezTo>
                    <a:cubicBezTo>
                      <a:pt x="8109" y="1"/>
                      <a:pt x="7823" y="262"/>
                      <a:pt x="7823" y="608"/>
                    </a:cubicBezTo>
                    <a:lnTo>
                      <a:pt x="7823" y="786"/>
                    </a:lnTo>
                    <a:lnTo>
                      <a:pt x="6764" y="786"/>
                    </a:lnTo>
                    <a:lnTo>
                      <a:pt x="6764" y="608"/>
                    </a:lnTo>
                    <a:cubicBezTo>
                      <a:pt x="6764" y="274"/>
                      <a:pt x="6502" y="1"/>
                      <a:pt x="6156" y="1"/>
                    </a:cubicBezTo>
                    <a:cubicBezTo>
                      <a:pt x="5811" y="1"/>
                      <a:pt x="5549" y="262"/>
                      <a:pt x="5549" y="608"/>
                    </a:cubicBezTo>
                    <a:lnTo>
                      <a:pt x="5549" y="786"/>
                    </a:lnTo>
                    <a:lnTo>
                      <a:pt x="4489" y="786"/>
                    </a:lnTo>
                    <a:lnTo>
                      <a:pt x="4489" y="608"/>
                    </a:lnTo>
                    <a:cubicBezTo>
                      <a:pt x="4489" y="274"/>
                      <a:pt x="4228" y="1"/>
                      <a:pt x="3882" y="1"/>
                    </a:cubicBezTo>
                    <a:cubicBezTo>
                      <a:pt x="3549" y="1"/>
                      <a:pt x="3275" y="262"/>
                      <a:pt x="3275" y="608"/>
                    </a:cubicBezTo>
                    <a:lnTo>
                      <a:pt x="3275" y="786"/>
                    </a:lnTo>
                    <a:lnTo>
                      <a:pt x="2215" y="786"/>
                    </a:lnTo>
                    <a:lnTo>
                      <a:pt x="2215" y="608"/>
                    </a:lnTo>
                    <a:cubicBezTo>
                      <a:pt x="2215" y="274"/>
                      <a:pt x="1942" y="1"/>
                      <a:pt x="160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Google Shape;907;p32">
                <a:extLst>
                  <a:ext uri="{FF2B5EF4-FFF2-40B4-BE49-F238E27FC236}">
                    <a16:creationId xmlns:a16="http://schemas.microsoft.com/office/drawing/2014/main" id="{CA4535E3-165C-F498-949F-73AA14EE85E2}"/>
                  </a:ext>
                </a:extLst>
              </p:cNvPr>
              <p:cNvSpPr/>
              <p:nvPr/>
            </p:nvSpPr>
            <p:spPr>
              <a:xfrm>
                <a:off x="1751652" y="2558467"/>
                <a:ext cx="319378" cy="210530"/>
              </a:xfrm>
              <a:custGeom>
                <a:avLst/>
                <a:gdLst/>
                <a:ahLst/>
                <a:cxnLst/>
                <a:rect l="l" t="t" r="r" b="b"/>
                <a:pathLst>
                  <a:path w="10026" h="6609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6025"/>
                    </a:lnTo>
                    <a:cubicBezTo>
                      <a:pt x="1" y="6347"/>
                      <a:pt x="274" y="6609"/>
                      <a:pt x="584" y="6609"/>
                    </a:cubicBezTo>
                    <a:lnTo>
                      <a:pt x="9407" y="6609"/>
                    </a:lnTo>
                    <a:cubicBezTo>
                      <a:pt x="9740" y="6609"/>
                      <a:pt x="9990" y="6335"/>
                      <a:pt x="9990" y="6025"/>
                    </a:cubicBezTo>
                    <a:lnTo>
                      <a:pt x="9990" y="5501"/>
                    </a:lnTo>
                    <a:cubicBezTo>
                      <a:pt x="10026" y="5418"/>
                      <a:pt x="9942" y="5335"/>
                      <a:pt x="9859" y="5335"/>
                    </a:cubicBezTo>
                    <a:cubicBezTo>
                      <a:pt x="9764" y="5335"/>
                      <a:pt x="9692" y="5418"/>
                      <a:pt x="9692" y="5501"/>
                    </a:cubicBezTo>
                    <a:lnTo>
                      <a:pt x="9692" y="6025"/>
                    </a:lnTo>
                    <a:cubicBezTo>
                      <a:pt x="9692" y="6168"/>
                      <a:pt x="9573" y="6287"/>
                      <a:pt x="9430" y="6287"/>
                    </a:cubicBezTo>
                    <a:lnTo>
                      <a:pt x="596" y="6287"/>
                    </a:lnTo>
                    <a:cubicBezTo>
                      <a:pt x="453" y="6287"/>
                      <a:pt x="334" y="6168"/>
                      <a:pt x="334" y="6025"/>
                    </a:cubicBezTo>
                    <a:lnTo>
                      <a:pt x="334" y="156"/>
                    </a:lnTo>
                    <a:cubicBezTo>
                      <a:pt x="334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87F0017E-0C23-A3A1-541C-EA0B0D61ADF5}"/>
                </a:ext>
              </a:extLst>
            </p:cNvPr>
            <p:cNvSpPr txBox="1"/>
            <p:nvPr/>
          </p:nvSpPr>
          <p:spPr>
            <a:xfrm>
              <a:off x="3287688" y="3962889"/>
              <a:ext cx="69847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MX" sz="2000" dirty="0">
                  <a:latin typeface="Agency FB" panose="020B0503020202020204" pitchFamily="34" charset="0"/>
                </a:rPr>
                <a:t>Los ingresos de Compras Nacionales deben se podrán solicitar de Lunes a Viernes hasta las 12:00 pm a excepción de las fechas establecidas por el calendario de cierre de mes.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78DDE85-312C-9DF4-1B78-A0BF2A5D373D}"/>
              </a:ext>
            </a:extLst>
          </p:cNvPr>
          <p:cNvGrpSpPr/>
          <p:nvPr/>
        </p:nvGrpSpPr>
        <p:grpSpPr>
          <a:xfrm>
            <a:off x="811939" y="5291031"/>
            <a:ext cx="9316509" cy="1015663"/>
            <a:chOff x="811939" y="3001088"/>
            <a:chExt cx="7732333" cy="1015663"/>
          </a:xfrm>
        </p:grpSpPr>
        <p:grpSp>
          <p:nvGrpSpPr>
            <p:cNvPr id="20" name="Google Shape;905;p32">
              <a:extLst>
                <a:ext uri="{FF2B5EF4-FFF2-40B4-BE49-F238E27FC236}">
                  <a16:creationId xmlns:a16="http://schemas.microsoft.com/office/drawing/2014/main" id="{71EA16EF-1722-75C2-305B-A9C9647C9D7D}"/>
                </a:ext>
              </a:extLst>
            </p:cNvPr>
            <p:cNvGrpSpPr/>
            <p:nvPr/>
          </p:nvGrpSpPr>
          <p:grpSpPr>
            <a:xfrm>
              <a:off x="811939" y="3065905"/>
              <a:ext cx="360039" cy="360040"/>
              <a:chOff x="1750887" y="2425727"/>
              <a:chExt cx="320143" cy="343269"/>
            </a:xfrm>
            <a:solidFill>
              <a:srgbClr val="FF0000"/>
            </a:solidFill>
          </p:grpSpPr>
          <p:sp>
            <p:nvSpPr>
              <p:cNvPr id="22" name="Google Shape;906;p32">
                <a:extLst>
                  <a:ext uri="{FF2B5EF4-FFF2-40B4-BE49-F238E27FC236}">
                    <a16:creationId xmlns:a16="http://schemas.microsoft.com/office/drawing/2014/main" id="{68B22243-5D92-FE9C-A59B-756E17C7E4D2}"/>
                  </a:ext>
                </a:extLst>
              </p:cNvPr>
              <p:cNvSpPr/>
              <p:nvPr/>
            </p:nvSpPr>
            <p:spPr>
              <a:xfrm>
                <a:off x="1750887" y="2425727"/>
                <a:ext cx="320143" cy="289052"/>
              </a:xfrm>
              <a:custGeom>
                <a:avLst/>
                <a:gdLst/>
                <a:ahLst/>
                <a:cxnLst/>
                <a:rect l="l" t="t" r="r" b="b"/>
                <a:pathLst>
                  <a:path w="10050" h="9074" extrusionOk="0">
                    <a:moveTo>
                      <a:pt x="1668" y="322"/>
                    </a:moveTo>
                    <a:cubicBezTo>
                      <a:pt x="1834" y="322"/>
                      <a:pt x="1953" y="453"/>
                      <a:pt x="1953" y="608"/>
                    </a:cubicBezTo>
                    <a:lnTo>
                      <a:pt x="1953" y="1275"/>
                    </a:lnTo>
                    <a:cubicBezTo>
                      <a:pt x="1953" y="1441"/>
                      <a:pt x="1811" y="1560"/>
                      <a:pt x="1668" y="1560"/>
                    </a:cubicBezTo>
                    <a:cubicBezTo>
                      <a:pt x="1513" y="1560"/>
                      <a:pt x="1382" y="1429"/>
                      <a:pt x="1382" y="1275"/>
                    </a:cubicBezTo>
                    <a:lnTo>
                      <a:pt x="1382" y="929"/>
                    </a:lnTo>
                    <a:lnTo>
                      <a:pt x="1382" y="608"/>
                    </a:lnTo>
                    <a:cubicBezTo>
                      <a:pt x="1370" y="453"/>
                      <a:pt x="1501" y="322"/>
                      <a:pt x="1668" y="322"/>
                    </a:cubicBezTo>
                    <a:close/>
                    <a:moveTo>
                      <a:pt x="3918" y="322"/>
                    </a:moveTo>
                    <a:cubicBezTo>
                      <a:pt x="4061" y="322"/>
                      <a:pt x="4192" y="453"/>
                      <a:pt x="4192" y="608"/>
                    </a:cubicBezTo>
                    <a:lnTo>
                      <a:pt x="4192" y="1275"/>
                    </a:lnTo>
                    <a:cubicBezTo>
                      <a:pt x="4192" y="1441"/>
                      <a:pt x="4061" y="1560"/>
                      <a:pt x="3918" y="1560"/>
                    </a:cubicBezTo>
                    <a:cubicBezTo>
                      <a:pt x="3763" y="1560"/>
                      <a:pt x="3632" y="1429"/>
                      <a:pt x="3632" y="1275"/>
                    </a:cubicBezTo>
                    <a:lnTo>
                      <a:pt x="3632" y="608"/>
                    </a:lnTo>
                    <a:cubicBezTo>
                      <a:pt x="3632" y="441"/>
                      <a:pt x="3763" y="322"/>
                      <a:pt x="3918" y="322"/>
                    </a:cubicBezTo>
                    <a:close/>
                    <a:moveTo>
                      <a:pt x="6180" y="322"/>
                    </a:moveTo>
                    <a:cubicBezTo>
                      <a:pt x="6323" y="322"/>
                      <a:pt x="6454" y="453"/>
                      <a:pt x="6454" y="608"/>
                    </a:cubicBezTo>
                    <a:lnTo>
                      <a:pt x="6454" y="1275"/>
                    </a:lnTo>
                    <a:cubicBezTo>
                      <a:pt x="6454" y="1441"/>
                      <a:pt x="6323" y="1560"/>
                      <a:pt x="6180" y="1560"/>
                    </a:cubicBezTo>
                    <a:cubicBezTo>
                      <a:pt x="6025" y="1560"/>
                      <a:pt x="5894" y="1429"/>
                      <a:pt x="5894" y="1275"/>
                    </a:cubicBezTo>
                    <a:lnTo>
                      <a:pt x="5894" y="608"/>
                    </a:lnTo>
                    <a:cubicBezTo>
                      <a:pt x="5894" y="441"/>
                      <a:pt x="6025" y="322"/>
                      <a:pt x="6180" y="322"/>
                    </a:cubicBezTo>
                    <a:close/>
                    <a:moveTo>
                      <a:pt x="8419" y="322"/>
                    </a:moveTo>
                    <a:cubicBezTo>
                      <a:pt x="8573" y="322"/>
                      <a:pt x="8704" y="453"/>
                      <a:pt x="8704" y="608"/>
                    </a:cubicBezTo>
                    <a:lnTo>
                      <a:pt x="8704" y="929"/>
                    </a:lnTo>
                    <a:lnTo>
                      <a:pt x="8704" y="1275"/>
                    </a:lnTo>
                    <a:cubicBezTo>
                      <a:pt x="8704" y="1441"/>
                      <a:pt x="8573" y="1560"/>
                      <a:pt x="8419" y="1560"/>
                    </a:cubicBezTo>
                    <a:cubicBezTo>
                      <a:pt x="8276" y="1560"/>
                      <a:pt x="8145" y="1429"/>
                      <a:pt x="8145" y="1275"/>
                    </a:cubicBezTo>
                    <a:lnTo>
                      <a:pt x="8145" y="608"/>
                    </a:lnTo>
                    <a:cubicBezTo>
                      <a:pt x="8145" y="441"/>
                      <a:pt x="8276" y="322"/>
                      <a:pt x="8419" y="322"/>
                    </a:cubicBezTo>
                    <a:close/>
                    <a:moveTo>
                      <a:pt x="9526" y="1096"/>
                    </a:moveTo>
                    <a:cubicBezTo>
                      <a:pt x="9669" y="1096"/>
                      <a:pt x="9788" y="1215"/>
                      <a:pt x="9788" y="1370"/>
                    </a:cubicBezTo>
                    <a:lnTo>
                      <a:pt x="9788" y="2525"/>
                    </a:lnTo>
                    <a:lnTo>
                      <a:pt x="370" y="2525"/>
                    </a:lnTo>
                    <a:lnTo>
                      <a:pt x="370" y="1370"/>
                    </a:lnTo>
                    <a:cubicBezTo>
                      <a:pt x="370" y="1215"/>
                      <a:pt x="489" y="1096"/>
                      <a:pt x="644" y="1096"/>
                    </a:cubicBezTo>
                    <a:lnTo>
                      <a:pt x="1060" y="1096"/>
                    </a:lnTo>
                    <a:lnTo>
                      <a:pt x="1060" y="1275"/>
                    </a:lnTo>
                    <a:cubicBezTo>
                      <a:pt x="1060" y="1596"/>
                      <a:pt x="1322" y="1882"/>
                      <a:pt x="1668" y="1882"/>
                    </a:cubicBezTo>
                    <a:cubicBezTo>
                      <a:pt x="1989" y="1882"/>
                      <a:pt x="2275" y="1620"/>
                      <a:pt x="2275" y="1275"/>
                    </a:cubicBezTo>
                    <a:lnTo>
                      <a:pt x="2275" y="1096"/>
                    </a:lnTo>
                    <a:lnTo>
                      <a:pt x="3335" y="1096"/>
                    </a:lnTo>
                    <a:lnTo>
                      <a:pt x="3335" y="1275"/>
                    </a:lnTo>
                    <a:cubicBezTo>
                      <a:pt x="3335" y="1596"/>
                      <a:pt x="3597" y="1882"/>
                      <a:pt x="3942" y="1882"/>
                    </a:cubicBezTo>
                    <a:cubicBezTo>
                      <a:pt x="4287" y="1882"/>
                      <a:pt x="4549" y="1620"/>
                      <a:pt x="4549" y="1275"/>
                    </a:cubicBezTo>
                    <a:lnTo>
                      <a:pt x="4549" y="1096"/>
                    </a:lnTo>
                    <a:lnTo>
                      <a:pt x="5609" y="1096"/>
                    </a:lnTo>
                    <a:lnTo>
                      <a:pt x="5609" y="1275"/>
                    </a:lnTo>
                    <a:cubicBezTo>
                      <a:pt x="5609" y="1596"/>
                      <a:pt x="5883" y="1882"/>
                      <a:pt x="6216" y="1882"/>
                    </a:cubicBezTo>
                    <a:cubicBezTo>
                      <a:pt x="6561" y="1882"/>
                      <a:pt x="6835" y="1620"/>
                      <a:pt x="6835" y="1275"/>
                    </a:cubicBezTo>
                    <a:lnTo>
                      <a:pt x="6835" y="1096"/>
                    </a:lnTo>
                    <a:lnTo>
                      <a:pt x="7883" y="1096"/>
                    </a:lnTo>
                    <a:lnTo>
                      <a:pt x="7883" y="1275"/>
                    </a:lnTo>
                    <a:cubicBezTo>
                      <a:pt x="7883" y="1596"/>
                      <a:pt x="8157" y="1882"/>
                      <a:pt x="8502" y="1882"/>
                    </a:cubicBezTo>
                    <a:cubicBezTo>
                      <a:pt x="8823" y="1882"/>
                      <a:pt x="9109" y="1620"/>
                      <a:pt x="9109" y="1275"/>
                    </a:cubicBezTo>
                    <a:lnTo>
                      <a:pt x="9109" y="1096"/>
                    </a:lnTo>
                    <a:close/>
                    <a:moveTo>
                      <a:pt x="1608" y="1"/>
                    </a:moveTo>
                    <a:cubicBezTo>
                      <a:pt x="1275" y="1"/>
                      <a:pt x="989" y="262"/>
                      <a:pt x="989" y="608"/>
                    </a:cubicBezTo>
                    <a:lnTo>
                      <a:pt x="989" y="786"/>
                    </a:lnTo>
                    <a:lnTo>
                      <a:pt x="572" y="786"/>
                    </a:lnTo>
                    <a:cubicBezTo>
                      <a:pt x="251" y="786"/>
                      <a:pt x="1" y="1048"/>
                      <a:pt x="1" y="1370"/>
                    </a:cubicBezTo>
                    <a:lnTo>
                      <a:pt x="1" y="3584"/>
                    </a:lnTo>
                    <a:cubicBezTo>
                      <a:pt x="1" y="3668"/>
                      <a:pt x="72" y="3751"/>
                      <a:pt x="156" y="3751"/>
                    </a:cubicBezTo>
                    <a:cubicBezTo>
                      <a:pt x="251" y="3751"/>
                      <a:pt x="322" y="3668"/>
                      <a:pt x="322" y="3584"/>
                    </a:cubicBezTo>
                    <a:lnTo>
                      <a:pt x="322" y="2834"/>
                    </a:lnTo>
                    <a:lnTo>
                      <a:pt x="9681" y="2834"/>
                    </a:lnTo>
                    <a:lnTo>
                      <a:pt x="9681" y="8906"/>
                    </a:lnTo>
                    <a:cubicBezTo>
                      <a:pt x="9681" y="9002"/>
                      <a:pt x="9764" y="9073"/>
                      <a:pt x="9847" y="9073"/>
                    </a:cubicBezTo>
                    <a:cubicBezTo>
                      <a:pt x="9943" y="9073"/>
                      <a:pt x="10014" y="9002"/>
                      <a:pt x="10014" y="8906"/>
                    </a:cubicBezTo>
                    <a:lnTo>
                      <a:pt x="10014" y="1346"/>
                    </a:lnTo>
                    <a:cubicBezTo>
                      <a:pt x="10050" y="1036"/>
                      <a:pt x="9776" y="786"/>
                      <a:pt x="9466" y="786"/>
                    </a:cubicBezTo>
                    <a:lnTo>
                      <a:pt x="9050" y="786"/>
                    </a:lnTo>
                    <a:lnTo>
                      <a:pt x="9050" y="608"/>
                    </a:lnTo>
                    <a:cubicBezTo>
                      <a:pt x="9050" y="274"/>
                      <a:pt x="8776" y="1"/>
                      <a:pt x="8430" y="1"/>
                    </a:cubicBezTo>
                    <a:cubicBezTo>
                      <a:pt x="8109" y="1"/>
                      <a:pt x="7823" y="262"/>
                      <a:pt x="7823" y="608"/>
                    </a:cubicBezTo>
                    <a:lnTo>
                      <a:pt x="7823" y="786"/>
                    </a:lnTo>
                    <a:lnTo>
                      <a:pt x="6764" y="786"/>
                    </a:lnTo>
                    <a:lnTo>
                      <a:pt x="6764" y="608"/>
                    </a:lnTo>
                    <a:cubicBezTo>
                      <a:pt x="6764" y="274"/>
                      <a:pt x="6502" y="1"/>
                      <a:pt x="6156" y="1"/>
                    </a:cubicBezTo>
                    <a:cubicBezTo>
                      <a:pt x="5811" y="1"/>
                      <a:pt x="5549" y="262"/>
                      <a:pt x="5549" y="608"/>
                    </a:cubicBezTo>
                    <a:lnTo>
                      <a:pt x="5549" y="786"/>
                    </a:lnTo>
                    <a:lnTo>
                      <a:pt x="4489" y="786"/>
                    </a:lnTo>
                    <a:lnTo>
                      <a:pt x="4489" y="608"/>
                    </a:lnTo>
                    <a:cubicBezTo>
                      <a:pt x="4489" y="274"/>
                      <a:pt x="4228" y="1"/>
                      <a:pt x="3882" y="1"/>
                    </a:cubicBezTo>
                    <a:cubicBezTo>
                      <a:pt x="3549" y="1"/>
                      <a:pt x="3275" y="262"/>
                      <a:pt x="3275" y="608"/>
                    </a:cubicBezTo>
                    <a:lnTo>
                      <a:pt x="3275" y="786"/>
                    </a:lnTo>
                    <a:lnTo>
                      <a:pt x="2215" y="786"/>
                    </a:lnTo>
                    <a:lnTo>
                      <a:pt x="2215" y="608"/>
                    </a:lnTo>
                    <a:cubicBezTo>
                      <a:pt x="2215" y="274"/>
                      <a:pt x="1942" y="1"/>
                      <a:pt x="160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Google Shape;907;p32">
                <a:extLst>
                  <a:ext uri="{FF2B5EF4-FFF2-40B4-BE49-F238E27FC236}">
                    <a16:creationId xmlns:a16="http://schemas.microsoft.com/office/drawing/2014/main" id="{DC70F1C7-6457-9EC5-FE39-699A983D3920}"/>
                  </a:ext>
                </a:extLst>
              </p:cNvPr>
              <p:cNvSpPr/>
              <p:nvPr/>
            </p:nvSpPr>
            <p:spPr>
              <a:xfrm>
                <a:off x="1751652" y="2558467"/>
                <a:ext cx="319378" cy="210530"/>
              </a:xfrm>
              <a:custGeom>
                <a:avLst/>
                <a:gdLst/>
                <a:ahLst/>
                <a:cxnLst/>
                <a:rect l="l" t="t" r="r" b="b"/>
                <a:pathLst>
                  <a:path w="10026" h="6609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6025"/>
                    </a:lnTo>
                    <a:cubicBezTo>
                      <a:pt x="1" y="6347"/>
                      <a:pt x="274" y="6609"/>
                      <a:pt x="584" y="6609"/>
                    </a:cubicBezTo>
                    <a:lnTo>
                      <a:pt x="9407" y="6609"/>
                    </a:lnTo>
                    <a:cubicBezTo>
                      <a:pt x="9740" y="6609"/>
                      <a:pt x="9990" y="6335"/>
                      <a:pt x="9990" y="6025"/>
                    </a:cubicBezTo>
                    <a:lnTo>
                      <a:pt x="9990" y="5501"/>
                    </a:lnTo>
                    <a:cubicBezTo>
                      <a:pt x="10026" y="5418"/>
                      <a:pt x="9942" y="5335"/>
                      <a:pt x="9859" y="5335"/>
                    </a:cubicBezTo>
                    <a:cubicBezTo>
                      <a:pt x="9764" y="5335"/>
                      <a:pt x="9692" y="5418"/>
                      <a:pt x="9692" y="5501"/>
                    </a:cubicBezTo>
                    <a:lnTo>
                      <a:pt x="9692" y="6025"/>
                    </a:lnTo>
                    <a:cubicBezTo>
                      <a:pt x="9692" y="6168"/>
                      <a:pt x="9573" y="6287"/>
                      <a:pt x="9430" y="6287"/>
                    </a:cubicBezTo>
                    <a:lnTo>
                      <a:pt x="596" y="6287"/>
                    </a:lnTo>
                    <a:cubicBezTo>
                      <a:pt x="453" y="6287"/>
                      <a:pt x="334" y="6168"/>
                      <a:pt x="334" y="6025"/>
                    </a:cubicBezTo>
                    <a:lnTo>
                      <a:pt x="334" y="156"/>
                    </a:lnTo>
                    <a:cubicBezTo>
                      <a:pt x="334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231B70FB-27C0-E74C-994C-BF1BD1E99602}"/>
                </a:ext>
              </a:extLst>
            </p:cNvPr>
            <p:cNvSpPr txBox="1"/>
            <p:nvPr/>
          </p:nvSpPr>
          <p:spPr>
            <a:xfrm>
              <a:off x="1559496" y="3001088"/>
              <a:ext cx="69847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2000" dirty="0">
                  <a:latin typeface="Agency FB" panose="020B0503020202020204" pitchFamily="34" charset="0"/>
                </a:rPr>
                <a:t>Los cortes de sistema se realizan a las 7:00 am. y 2:30 pm. </a:t>
              </a:r>
            </a:p>
            <a:p>
              <a:pPr algn="just"/>
              <a:r>
                <a:rPr lang="es-MX" sz="2000" dirty="0">
                  <a:latin typeface="Agency FB" panose="020B0503020202020204" pitchFamily="34" charset="0"/>
                </a:rPr>
                <a:t>Esto se debe considerar, así como los tiempos de procesamiento del S21 para la programación del pago.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303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conector fuera de página 3">
            <a:extLst>
              <a:ext uri="{FF2B5EF4-FFF2-40B4-BE49-F238E27FC236}">
                <a16:creationId xmlns:a16="http://schemas.microsoft.com/office/drawing/2014/main" id="{4ECEF051-EEDF-7AED-FB87-CF32D675A290}"/>
              </a:ext>
            </a:extLst>
          </p:cNvPr>
          <p:cNvSpPr/>
          <p:nvPr/>
        </p:nvSpPr>
        <p:spPr>
          <a:xfrm rot="16200000">
            <a:off x="2326191" y="-938095"/>
            <a:ext cx="1418938" cy="5256584"/>
          </a:xfrm>
          <a:prstGeom prst="flowChartOffpageConnec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DD564C0-5563-7695-78A9-6C8552901820}"/>
              </a:ext>
            </a:extLst>
          </p:cNvPr>
          <p:cNvGrpSpPr/>
          <p:nvPr/>
        </p:nvGrpSpPr>
        <p:grpSpPr>
          <a:xfrm>
            <a:off x="623392" y="1472890"/>
            <a:ext cx="4104455" cy="477054"/>
            <a:chOff x="839416" y="1472891"/>
            <a:chExt cx="4104455" cy="477054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8650F1B-7D48-9E30-592B-A34523ECD9BE}"/>
                </a:ext>
              </a:extLst>
            </p:cNvPr>
            <p:cNvSpPr txBox="1"/>
            <p:nvPr/>
          </p:nvSpPr>
          <p:spPr>
            <a:xfrm>
              <a:off x="1277840" y="1505531"/>
              <a:ext cx="36660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>
                  <a:latin typeface="Agency FB" panose="020B0503020202020204" pitchFamily="34" charset="0"/>
                </a:rPr>
                <a:t>ADICIONALES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D4988C7-CCED-BAFB-2179-74813998E833}"/>
                </a:ext>
              </a:extLst>
            </p:cNvPr>
            <p:cNvSpPr txBox="1"/>
            <p:nvPr/>
          </p:nvSpPr>
          <p:spPr>
            <a:xfrm>
              <a:off x="839416" y="1472891"/>
              <a:ext cx="43842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500" b="1" dirty="0">
                  <a:latin typeface="Agency FB" panose="020B0503020202020204" pitchFamily="34" charset="0"/>
                </a:rPr>
                <a:t>3.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7928512-BE96-A52C-F371-EC9798D47166}"/>
              </a:ext>
            </a:extLst>
          </p:cNvPr>
          <p:cNvGrpSpPr/>
          <p:nvPr/>
        </p:nvGrpSpPr>
        <p:grpSpPr>
          <a:xfrm>
            <a:off x="3287688" y="2936848"/>
            <a:ext cx="7704855" cy="1015663"/>
            <a:chOff x="3287688" y="3962889"/>
            <a:chExt cx="7704855" cy="1015663"/>
          </a:xfrm>
        </p:grpSpPr>
        <p:grpSp>
          <p:nvGrpSpPr>
            <p:cNvPr id="14" name="Google Shape;905;p32">
              <a:extLst>
                <a:ext uri="{FF2B5EF4-FFF2-40B4-BE49-F238E27FC236}">
                  <a16:creationId xmlns:a16="http://schemas.microsoft.com/office/drawing/2014/main" id="{EC8A8522-EF4E-BA81-E049-8A0887FDEE68}"/>
                </a:ext>
              </a:extLst>
            </p:cNvPr>
            <p:cNvGrpSpPr/>
            <p:nvPr/>
          </p:nvGrpSpPr>
          <p:grpSpPr>
            <a:xfrm>
              <a:off x="10632504" y="4290700"/>
              <a:ext cx="360039" cy="360040"/>
              <a:chOff x="1750887" y="2425727"/>
              <a:chExt cx="320143" cy="343269"/>
            </a:xfrm>
            <a:solidFill>
              <a:srgbClr val="FF0000"/>
            </a:solidFill>
          </p:grpSpPr>
          <p:sp>
            <p:nvSpPr>
              <p:cNvPr id="16" name="Google Shape;906;p32">
                <a:extLst>
                  <a:ext uri="{FF2B5EF4-FFF2-40B4-BE49-F238E27FC236}">
                    <a16:creationId xmlns:a16="http://schemas.microsoft.com/office/drawing/2014/main" id="{98787070-642F-AB95-2A7F-4654478D54C0}"/>
                  </a:ext>
                </a:extLst>
              </p:cNvPr>
              <p:cNvSpPr/>
              <p:nvPr/>
            </p:nvSpPr>
            <p:spPr>
              <a:xfrm>
                <a:off x="1750887" y="2425727"/>
                <a:ext cx="320143" cy="289052"/>
              </a:xfrm>
              <a:custGeom>
                <a:avLst/>
                <a:gdLst/>
                <a:ahLst/>
                <a:cxnLst/>
                <a:rect l="l" t="t" r="r" b="b"/>
                <a:pathLst>
                  <a:path w="10050" h="9074" extrusionOk="0">
                    <a:moveTo>
                      <a:pt x="1668" y="322"/>
                    </a:moveTo>
                    <a:cubicBezTo>
                      <a:pt x="1834" y="322"/>
                      <a:pt x="1953" y="453"/>
                      <a:pt x="1953" y="608"/>
                    </a:cubicBezTo>
                    <a:lnTo>
                      <a:pt x="1953" y="1275"/>
                    </a:lnTo>
                    <a:cubicBezTo>
                      <a:pt x="1953" y="1441"/>
                      <a:pt x="1811" y="1560"/>
                      <a:pt x="1668" y="1560"/>
                    </a:cubicBezTo>
                    <a:cubicBezTo>
                      <a:pt x="1513" y="1560"/>
                      <a:pt x="1382" y="1429"/>
                      <a:pt x="1382" y="1275"/>
                    </a:cubicBezTo>
                    <a:lnTo>
                      <a:pt x="1382" y="929"/>
                    </a:lnTo>
                    <a:lnTo>
                      <a:pt x="1382" y="608"/>
                    </a:lnTo>
                    <a:cubicBezTo>
                      <a:pt x="1370" y="453"/>
                      <a:pt x="1501" y="322"/>
                      <a:pt x="1668" y="322"/>
                    </a:cubicBezTo>
                    <a:close/>
                    <a:moveTo>
                      <a:pt x="3918" y="322"/>
                    </a:moveTo>
                    <a:cubicBezTo>
                      <a:pt x="4061" y="322"/>
                      <a:pt x="4192" y="453"/>
                      <a:pt x="4192" y="608"/>
                    </a:cubicBezTo>
                    <a:lnTo>
                      <a:pt x="4192" y="1275"/>
                    </a:lnTo>
                    <a:cubicBezTo>
                      <a:pt x="4192" y="1441"/>
                      <a:pt x="4061" y="1560"/>
                      <a:pt x="3918" y="1560"/>
                    </a:cubicBezTo>
                    <a:cubicBezTo>
                      <a:pt x="3763" y="1560"/>
                      <a:pt x="3632" y="1429"/>
                      <a:pt x="3632" y="1275"/>
                    </a:cubicBezTo>
                    <a:lnTo>
                      <a:pt x="3632" y="608"/>
                    </a:lnTo>
                    <a:cubicBezTo>
                      <a:pt x="3632" y="441"/>
                      <a:pt x="3763" y="322"/>
                      <a:pt x="3918" y="322"/>
                    </a:cubicBezTo>
                    <a:close/>
                    <a:moveTo>
                      <a:pt x="6180" y="322"/>
                    </a:moveTo>
                    <a:cubicBezTo>
                      <a:pt x="6323" y="322"/>
                      <a:pt x="6454" y="453"/>
                      <a:pt x="6454" y="608"/>
                    </a:cubicBezTo>
                    <a:lnTo>
                      <a:pt x="6454" y="1275"/>
                    </a:lnTo>
                    <a:cubicBezTo>
                      <a:pt x="6454" y="1441"/>
                      <a:pt x="6323" y="1560"/>
                      <a:pt x="6180" y="1560"/>
                    </a:cubicBezTo>
                    <a:cubicBezTo>
                      <a:pt x="6025" y="1560"/>
                      <a:pt x="5894" y="1429"/>
                      <a:pt x="5894" y="1275"/>
                    </a:cubicBezTo>
                    <a:lnTo>
                      <a:pt x="5894" y="608"/>
                    </a:lnTo>
                    <a:cubicBezTo>
                      <a:pt x="5894" y="441"/>
                      <a:pt x="6025" y="322"/>
                      <a:pt x="6180" y="322"/>
                    </a:cubicBezTo>
                    <a:close/>
                    <a:moveTo>
                      <a:pt x="8419" y="322"/>
                    </a:moveTo>
                    <a:cubicBezTo>
                      <a:pt x="8573" y="322"/>
                      <a:pt x="8704" y="453"/>
                      <a:pt x="8704" y="608"/>
                    </a:cubicBezTo>
                    <a:lnTo>
                      <a:pt x="8704" y="929"/>
                    </a:lnTo>
                    <a:lnTo>
                      <a:pt x="8704" y="1275"/>
                    </a:lnTo>
                    <a:cubicBezTo>
                      <a:pt x="8704" y="1441"/>
                      <a:pt x="8573" y="1560"/>
                      <a:pt x="8419" y="1560"/>
                    </a:cubicBezTo>
                    <a:cubicBezTo>
                      <a:pt x="8276" y="1560"/>
                      <a:pt x="8145" y="1429"/>
                      <a:pt x="8145" y="1275"/>
                    </a:cubicBezTo>
                    <a:lnTo>
                      <a:pt x="8145" y="608"/>
                    </a:lnTo>
                    <a:cubicBezTo>
                      <a:pt x="8145" y="441"/>
                      <a:pt x="8276" y="322"/>
                      <a:pt x="8419" y="322"/>
                    </a:cubicBezTo>
                    <a:close/>
                    <a:moveTo>
                      <a:pt x="9526" y="1096"/>
                    </a:moveTo>
                    <a:cubicBezTo>
                      <a:pt x="9669" y="1096"/>
                      <a:pt x="9788" y="1215"/>
                      <a:pt x="9788" y="1370"/>
                    </a:cubicBezTo>
                    <a:lnTo>
                      <a:pt x="9788" y="2525"/>
                    </a:lnTo>
                    <a:lnTo>
                      <a:pt x="370" y="2525"/>
                    </a:lnTo>
                    <a:lnTo>
                      <a:pt x="370" y="1370"/>
                    </a:lnTo>
                    <a:cubicBezTo>
                      <a:pt x="370" y="1215"/>
                      <a:pt x="489" y="1096"/>
                      <a:pt x="644" y="1096"/>
                    </a:cubicBezTo>
                    <a:lnTo>
                      <a:pt x="1060" y="1096"/>
                    </a:lnTo>
                    <a:lnTo>
                      <a:pt x="1060" y="1275"/>
                    </a:lnTo>
                    <a:cubicBezTo>
                      <a:pt x="1060" y="1596"/>
                      <a:pt x="1322" y="1882"/>
                      <a:pt x="1668" y="1882"/>
                    </a:cubicBezTo>
                    <a:cubicBezTo>
                      <a:pt x="1989" y="1882"/>
                      <a:pt x="2275" y="1620"/>
                      <a:pt x="2275" y="1275"/>
                    </a:cubicBezTo>
                    <a:lnTo>
                      <a:pt x="2275" y="1096"/>
                    </a:lnTo>
                    <a:lnTo>
                      <a:pt x="3335" y="1096"/>
                    </a:lnTo>
                    <a:lnTo>
                      <a:pt x="3335" y="1275"/>
                    </a:lnTo>
                    <a:cubicBezTo>
                      <a:pt x="3335" y="1596"/>
                      <a:pt x="3597" y="1882"/>
                      <a:pt x="3942" y="1882"/>
                    </a:cubicBezTo>
                    <a:cubicBezTo>
                      <a:pt x="4287" y="1882"/>
                      <a:pt x="4549" y="1620"/>
                      <a:pt x="4549" y="1275"/>
                    </a:cubicBezTo>
                    <a:lnTo>
                      <a:pt x="4549" y="1096"/>
                    </a:lnTo>
                    <a:lnTo>
                      <a:pt x="5609" y="1096"/>
                    </a:lnTo>
                    <a:lnTo>
                      <a:pt x="5609" y="1275"/>
                    </a:lnTo>
                    <a:cubicBezTo>
                      <a:pt x="5609" y="1596"/>
                      <a:pt x="5883" y="1882"/>
                      <a:pt x="6216" y="1882"/>
                    </a:cubicBezTo>
                    <a:cubicBezTo>
                      <a:pt x="6561" y="1882"/>
                      <a:pt x="6835" y="1620"/>
                      <a:pt x="6835" y="1275"/>
                    </a:cubicBezTo>
                    <a:lnTo>
                      <a:pt x="6835" y="1096"/>
                    </a:lnTo>
                    <a:lnTo>
                      <a:pt x="7883" y="1096"/>
                    </a:lnTo>
                    <a:lnTo>
                      <a:pt x="7883" y="1275"/>
                    </a:lnTo>
                    <a:cubicBezTo>
                      <a:pt x="7883" y="1596"/>
                      <a:pt x="8157" y="1882"/>
                      <a:pt x="8502" y="1882"/>
                    </a:cubicBezTo>
                    <a:cubicBezTo>
                      <a:pt x="8823" y="1882"/>
                      <a:pt x="9109" y="1620"/>
                      <a:pt x="9109" y="1275"/>
                    </a:cubicBezTo>
                    <a:lnTo>
                      <a:pt x="9109" y="1096"/>
                    </a:lnTo>
                    <a:close/>
                    <a:moveTo>
                      <a:pt x="1608" y="1"/>
                    </a:moveTo>
                    <a:cubicBezTo>
                      <a:pt x="1275" y="1"/>
                      <a:pt x="989" y="262"/>
                      <a:pt x="989" y="608"/>
                    </a:cubicBezTo>
                    <a:lnTo>
                      <a:pt x="989" y="786"/>
                    </a:lnTo>
                    <a:lnTo>
                      <a:pt x="572" y="786"/>
                    </a:lnTo>
                    <a:cubicBezTo>
                      <a:pt x="251" y="786"/>
                      <a:pt x="1" y="1048"/>
                      <a:pt x="1" y="1370"/>
                    </a:cubicBezTo>
                    <a:lnTo>
                      <a:pt x="1" y="3584"/>
                    </a:lnTo>
                    <a:cubicBezTo>
                      <a:pt x="1" y="3668"/>
                      <a:pt x="72" y="3751"/>
                      <a:pt x="156" y="3751"/>
                    </a:cubicBezTo>
                    <a:cubicBezTo>
                      <a:pt x="251" y="3751"/>
                      <a:pt x="322" y="3668"/>
                      <a:pt x="322" y="3584"/>
                    </a:cubicBezTo>
                    <a:lnTo>
                      <a:pt x="322" y="2834"/>
                    </a:lnTo>
                    <a:lnTo>
                      <a:pt x="9681" y="2834"/>
                    </a:lnTo>
                    <a:lnTo>
                      <a:pt x="9681" y="8906"/>
                    </a:lnTo>
                    <a:cubicBezTo>
                      <a:pt x="9681" y="9002"/>
                      <a:pt x="9764" y="9073"/>
                      <a:pt x="9847" y="9073"/>
                    </a:cubicBezTo>
                    <a:cubicBezTo>
                      <a:pt x="9943" y="9073"/>
                      <a:pt x="10014" y="9002"/>
                      <a:pt x="10014" y="8906"/>
                    </a:cubicBezTo>
                    <a:lnTo>
                      <a:pt x="10014" y="1346"/>
                    </a:lnTo>
                    <a:cubicBezTo>
                      <a:pt x="10050" y="1036"/>
                      <a:pt x="9776" y="786"/>
                      <a:pt x="9466" y="786"/>
                    </a:cubicBezTo>
                    <a:lnTo>
                      <a:pt x="9050" y="786"/>
                    </a:lnTo>
                    <a:lnTo>
                      <a:pt x="9050" y="608"/>
                    </a:lnTo>
                    <a:cubicBezTo>
                      <a:pt x="9050" y="274"/>
                      <a:pt x="8776" y="1"/>
                      <a:pt x="8430" y="1"/>
                    </a:cubicBezTo>
                    <a:cubicBezTo>
                      <a:pt x="8109" y="1"/>
                      <a:pt x="7823" y="262"/>
                      <a:pt x="7823" y="608"/>
                    </a:cubicBezTo>
                    <a:lnTo>
                      <a:pt x="7823" y="786"/>
                    </a:lnTo>
                    <a:lnTo>
                      <a:pt x="6764" y="786"/>
                    </a:lnTo>
                    <a:lnTo>
                      <a:pt x="6764" y="608"/>
                    </a:lnTo>
                    <a:cubicBezTo>
                      <a:pt x="6764" y="274"/>
                      <a:pt x="6502" y="1"/>
                      <a:pt x="6156" y="1"/>
                    </a:cubicBezTo>
                    <a:cubicBezTo>
                      <a:pt x="5811" y="1"/>
                      <a:pt x="5549" y="262"/>
                      <a:pt x="5549" y="608"/>
                    </a:cubicBezTo>
                    <a:lnTo>
                      <a:pt x="5549" y="786"/>
                    </a:lnTo>
                    <a:lnTo>
                      <a:pt x="4489" y="786"/>
                    </a:lnTo>
                    <a:lnTo>
                      <a:pt x="4489" y="608"/>
                    </a:lnTo>
                    <a:cubicBezTo>
                      <a:pt x="4489" y="274"/>
                      <a:pt x="4228" y="1"/>
                      <a:pt x="3882" y="1"/>
                    </a:cubicBezTo>
                    <a:cubicBezTo>
                      <a:pt x="3549" y="1"/>
                      <a:pt x="3275" y="262"/>
                      <a:pt x="3275" y="608"/>
                    </a:cubicBezTo>
                    <a:lnTo>
                      <a:pt x="3275" y="786"/>
                    </a:lnTo>
                    <a:lnTo>
                      <a:pt x="2215" y="786"/>
                    </a:lnTo>
                    <a:lnTo>
                      <a:pt x="2215" y="608"/>
                    </a:lnTo>
                    <a:cubicBezTo>
                      <a:pt x="2215" y="274"/>
                      <a:pt x="1942" y="1"/>
                      <a:pt x="160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  <p:sp>
            <p:nvSpPr>
              <p:cNvPr id="17" name="Google Shape;907;p32">
                <a:extLst>
                  <a:ext uri="{FF2B5EF4-FFF2-40B4-BE49-F238E27FC236}">
                    <a16:creationId xmlns:a16="http://schemas.microsoft.com/office/drawing/2014/main" id="{3354DAEB-71B2-D70C-66D4-35C9C416B876}"/>
                  </a:ext>
                </a:extLst>
              </p:cNvPr>
              <p:cNvSpPr/>
              <p:nvPr/>
            </p:nvSpPr>
            <p:spPr>
              <a:xfrm>
                <a:off x="1751652" y="2558467"/>
                <a:ext cx="319378" cy="210530"/>
              </a:xfrm>
              <a:custGeom>
                <a:avLst/>
                <a:gdLst/>
                <a:ahLst/>
                <a:cxnLst/>
                <a:rect l="l" t="t" r="r" b="b"/>
                <a:pathLst>
                  <a:path w="10026" h="6609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6025"/>
                    </a:lnTo>
                    <a:cubicBezTo>
                      <a:pt x="1" y="6347"/>
                      <a:pt x="274" y="6609"/>
                      <a:pt x="584" y="6609"/>
                    </a:cubicBezTo>
                    <a:lnTo>
                      <a:pt x="9407" y="6609"/>
                    </a:lnTo>
                    <a:cubicBezTo>
                      <a:pt x="9740" y="6609"/>
                      <a:pt x="9990" y="6335"/>
                      <a:pt x="9990" y="6025"/>
                    </a:cubicBezTo>
                    <a:lnTo>
                      <a:pt x="9990" y="5501"/>
                    </a:lnTo>
                    <a:cubicBezTo>
                      <a:pt x="10026" y="5418"/>
                      <a:pt x="9942" y="5335"/>
                      <a:pt x="9859" y="5335"/>
                    </a:cubicBezTo>
                    <a:cubicBezTo>
                      <a:pt x="9764" y="5335"/>
                      <a:pt x="9692" y="5418"/>
                      <a:pt x="9692" y="5501"/>
                    </a:cubicBezTo>
                    <a:lnTo>
                      <a:pt x="9692" y="6025"/>
                    </a:lnTo>
                    <a:cubicBezTo>
                      <a:pt x="9692" y="6168"/>
                      <a:pt x="9573" y="6287"/>
                      <a:pt x="9430" y="6287"/>
                    </a:cubicBezTo>
                    <a:lnTo>
                      <a:pt x="596" y="6287"/>
                    </a:lnTo>
                    <a:cubicBezTo>
                      <a:pt x="453" y="6287"/>
                      <a:pt x="334" y="6168"/>
                      <a:pt x="334" y="6025"/>
                    </a:cubicBezTo>
                    <a:lnTo>
                      <a:pt x="334" y="156"/>
                    </a:lnTo>
                    <a:cubicBezTo>
                      <a:pt x="334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8FB542B1-DCFD-6757-C6D4-532D190D2B13}"/>
                </a:ext>
              </a:extLst>
            </p:cNvPr>
            <p:cNvSpPr txBox="1"/>
            <p:nvPr/>
          </p:nvSpPr>
          <p:spPr>
            <a:xfrm>
              <a:off x="3287688" y="3962889"/>
              <a:ext cx="69847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MX" sz="2000" dirty="0">
                  <a:latin typeface="Agency FB" panose="020B0503020202020204" pitchFamily="34" charset="0"/>
                </a:rPr>
                <a:t>Las Compras Nacionales que NO tengan la información correcta como se comentó con anterioridad o que omitan algún documento, serán devueltas al área solicitante hasta que la misma este corregida o completada..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9025572-8F55-0444-28F4-CE92D79D3B82}"/>
              </a:ext>
            </a:extLst>
          </p:cNvPr>
          <p:cNvGrpSpPr/>
          <p:nvPr/>
        </p:nvGrpSpPr>
        <p:grpSpPr>
          <a:xfrm>
            <a:off x="1042065" y="4369447"/>
            <a:ext cx="7732333" cy="1015663"/>
            <a:chOff x="811939" y="3001088"/>
            <a:chExt cx="7732333" cy="1015663"/>
          </a:xfrm>
        </p:grpSpPr>
        <p:grpSp>
          <p:nvGrpSpPr>
            <p:cNvPr id="19" name="Google Shape;905;p32">
              <a:extLst>
                <a:ext uri="{FF2B5EF4-FFF2-40B4-BE49-F238E27FC236}">
                  <a16:creationId xmlns:a16="http://schemas.microsoft.com/office/drawing/2014/main" id="{CA358CE9-807F-CBF1-3C78-D15BAC84CFB9}"/>
                </a:ext>
              </a:extLst>
            </p:cNvPr>
            <p:cNvGrpSpPr/>
            <p:nvPr/>
          </p:nvGrpSpPr>
          <p:grpSpPr>
            <a:xfrm>
              <a:off x="811939" y="3065905"/>
              <a:ext cx="360039" cy="360040"/>
              <a:chOff x="1750887" y="2425727"/>
              <a:chExt cx="320143" cy="343269"/>
            </a:xfrm>
            <a:solidFill>
              <a:srgbClr val="FF0000"/>
            </a:solidFill>
          </p:grpSpPr>
          <p:sp>
            <p:nvSpPr>
              <p:cNvPr id="21" name="Google Shape;906;p32">
                <a:extLst>
                  <a:ext uri="{FF2B5EF4-FFF2-40B4-BE49-F238E27FC236}">
                    <a16:creationId xmlns:a16="http://schemas.microsoft.com/office/drawing/2014/main" id="{94D49797-BD6E-85BA-D1DD-4665D3166AF1}"/>
                  </a:ext>
                </a:extLst>
              </p:cNvPr>
              <p:cNvSpPr/>
              <p:nvPr/>
            </p:nvSpPr>
            <p:spPr>
              <a:xfrm>
                <a:off x="1750887" y="2425727"/>
                <a:ext cx="320143" cy="289052"/>
              </a:xfrm>
              <a:custGeom>
                <a:avLst/>
                <a:gdLst/>
                <a:ahLst/>
                <a:cxnLst/>
                <a:rect l="l" t="t" r="r" b="b"/>
                <a:pathLst>
                  <a:path w="10050" h="9074" extrusionOk="0">
                    <a:moveTo>
                      <a:pt x="1668" y="322"/>
                    </a:moveTo>
                    <a:cubicBezTo>
                      <a:pt x="1834" y="322"/>
                      <a:pt x="1953" y="453"/>
                      <a:pt x="1953" y="608"/>
                    </a:cubicBezTo>
                    <a:lnTo>
                      <a:pt x="1953" y="1275"/>
                    </a:lnTo>
                    <a:cubicBezTo>
                      <a:pt x="1953" y="1441"/>
                      <a:pt x="1811" y="1560"/>
                      <a:pt x="1668" y="1560"/>
                    </a:cubicBezTo>
                    <a:cubicBezTo>
                      <a:pt x="1513" y="1560"/>
                      <a:pt x="1382" y="1429"/>
                      <a:pt x="1382" y="1275"/>
                    </a:cubicBezTo>
                    <a:lnTo>
                      <a:pt x="1382" y="929"/>
                    </a:lnTo>
                    <a:lnTo>
                      <a:pt x="1382" y="608"/>
                    </a:lnTo>
                    <a:cubicBezTo>
                      <a:pt x="1370" y="453"/>
                      <a:pt x="1501" y="322"/>
                      <a:pt x="1668" y="322"/>
                    </a:cubicBezTo>
                    <a:close/>
                    <a:moveTo>
                      <a:pt x="3918" y="322"/>
                    </a:moveTo>
                    <a:cubicBezTo>
                      <a:pt x="4061" y="322"/>
                      <a:pt x="4192" y="453"/>
                      <a:pt x="4192" y="608"/>
                    </a:cubicBezTo>
                    <a:lnTo>
                      <a:pt x="4192" y="1275"/>
                    </a:lnTo>
                    <a:cubicBezTo>
                      <a:pt x="4192" y="1441"/>
                      <a:pt x="4061" y="1560"/>
                      <a:pt x="3918" y="1560"/>
                    </a:cubicBezTo>
                    <a:cubicBezTo>
                      <a:pt x="3763" y="1560"/>
                      <a:pt x="3632" y="1429"/>
                      <a:pt x="3632" y="1275"/>
                    </a:cubicBezTo>
                    <a:lnTo>
                      <a:pt x="3632" y="608"/>
                    </a:lnTo>
                    <a:cubicBezTo>
                      <a:pt x="3632" y="441"/>
                      <a:pt x="3763" y="322"/>
                      <a:pt x="3918" y="322"/>
                    </a:cubicBezTo>
                    <a:close/>
                    <a:moveTo>
                      <a:pt x="6180" y="322"/>
                    </a:moveTo>
                    <a:cubicBezTo>
                      <a:pt x="6323" y="322"/>
                      <a:pt x="6454" y="453"/>
                      <a:pt x="6454" y="608"/>
                    </a:cubicBezTo>
                    <a:lnTo>
                      <a:pt x="6454" y="1275"/>
                    </a:lnTo>
                    <a:cubicBezTo>
                      <a:pt x="6454" y="1441"/>
                      <a:pt x="6323" y="1560"/>
                      <a:pt x="6180" y="1560"/>
                    </a:cubicBezTo>
                    <a:cubicBezTo>
                      <a:pt x="6025" y="1560"/>
                      <a:pt x="5894" y="1429"/>
                      <a:pt x="5894" y="1275"/>
                    </a:cubicBezTo>
                    <a:lnTo>
                      <a:pt x="5894" y="608"/>
                    </a:lnTo>
                    <a:cubicBezTo>
                      <a:pt x="5894" y="441"/>
                      <a:pt x="6025" y="322"/>
                      <a:pt x="6180" y="322"/>
                    </a:cubicBezTo>
                    <a:close/>
                    <a:moveTo>
                      <a:pt x="8419" y="322"/>
                    </a:moveTo>
                    <a:cubicBezTo>
                      <a:pt x="8573" y="322"/>
                      <a:pt x="8704" y="453"/>
                      <a:pt x="8704" y="608"/>
                    </a:cubicBezTo>
                    <a:lnTo>
                      <a:pt x="8704" y="929"/>
                    </a:lnTo>
                    <a:lnTo>
                      <a:pt x="8704" y="1275"/>
                    </a:lnTo>
                    <a:cubicBezTo>
                      <a:pt x="8704" y="1441"/>
                      <a:pt x="8573" y="1560"/>
                      <a:pt x="8419" y="1560"/>
                    </a:cubicBezTo>
                    <a:cubicBezTo>
                      <a:pt x="8276" y="1560"/>
                      <a:pt x="8145" y="1429"/>
                      <a:pt x="8145" y="1275"/>
                    </a:cubicBezTo>
                    <a:lnTo>
                      <a:pt x="8145" y="608"/>
                    </a:lnTo>
                    <a:cubicBezTo>
                      <a:pt x="8145" y="441"/>
                      <a:pt x="8276" y="322"/>
                      <a:pt x="8419" y="322"/>
                    </a:cubicBezTo>
                    <a:close/>
                    <a:moveTo>
                      <a:pt x="9526" y="1096"/>
                    </a:moveTo>
                    <a:cubicBezTo>
                      <a:pt x="9669" y="1096"/>
                      <a:pt x="9788" y="1215"/>
                      <a:pt x="9788" y="1370"/>
                    </a:cubicBezTo>
                    <a:lnTo>
                      <a:pt x="9788" y="2525"/>
                    </a:lnTo>
                    <a:lnTo>
                      <a:pt x="370" y="2525"/>
                    </a:lnTo>
                    <a:lnTo>
                      <a:pt x="370" y="1370"/>
                    </a:lnTo>
                    <a:cubicBezTo>
                      <a:pt x="370" y="1215"/>
                      <a:pt x="489" y="1096"/>
                      <a:pt x="644" y="1096"/>
                    </a:cubicBezTo>
                    <a:lnTo>
                      <a:pt x="1060" y="1096"/>
                    </a:lnTo>
                    <a:lnTo>
                      <a:pt x="1060" y="1275"/>
                    </a:lnTo>
                    <a:cubicBezTo>
                      <a:pt x="1060" y="1596"/>
                      <a:pt x="1322" y="1882"/>
                      <a:pt x="1668" y="1882"/>
                    </a:cubicBezTo>
                    <a:cubicBezTo>
                      <a:pt x="1989" y="1882"/>
                      <a:pt x="2275" y="1620"/>
                      <a:pt x="2275" y="1275"/>
                    </a:cubicBezTo>
                    <a:lnTo>
                      <a:pt x="2275" y="1096"/>
                    </a:lnTo>
                    <a:lnTo>
                      <a:pt x="3335" y="1096"/>
                    </a:lnTo>
                    <a:lnTo>
                      <a:pt x="3335" y="1275"/>
                    </a:lnTo>
                    <a:cubicBezTo>
                      <a:pt x="3335" y="1596"/>
                      <a:pt x="3597" y="1882"/>
                      <a:pt x="3942" y="1882"/>
                    </a:cubicBezTo>
                    <a:cubicBezTo>
                      <a:pt x="4287" y="1882"/>
                      <a:pt x="4549" y="1620"/>
                      <a:pt x="4549" y="1275"/>
                    </a:cubicBezTo>
                    <a:lnTo>
                      <a:pt x="4549" y="1096"/>
                    </a:lnTo>
                    <a:lnTo>
                      <a:pt x="5609" y="1096"/>
                    </a:lnTo>
                    <a:lnTo>
                      <a:pt x="5609" y="1275"/>
                    </a:lnTo>
                    <a:cubicBezTo>
                      <a:pt x="5609" y="1596"/>
                      <a:pt x="5883" y="1882"/>
                      <a:pt x="6216" y="1882"/>
                    </a:cubicBezTo>
                    <a:cubicBezTo>
                      <a:pt x="6561" y="1882"/>
                      <a:pt x="6835" y="1620"/>
                      <a:pt x="6835" y="1275"/>
                    </a:cubicBezTo>
                    <a:lnTo>
                      <a:pt x="6835" y="1096"/>
                    </a:lnTo>
                    <a:lnTo>
                      <a:pt x="7883" y="1096"/>
                    </a:lnTo>
                    <a:lnTo>
                      <a:pt x="7883" y="1275"/>
                    </a:lnTo>
                    <a:cubicBezTo>
                      <a:pt x="7883" y="1596"/>
                      <a:pt x="8157" y="1882"/>
                      <a:pt x="8502" y="1882"/>
                    </a:cubicBezTo>
                    <a:cubicBezTo>
                      <a:pt x="8823" y="1882"/>
                      <a:pt x="9109" y="1620"/>
                      <a:pt x="9109" y="1275"/>
                    </a:cubicBezTo>
                    <a:lnTo>
                      <a:pt x="9109" y="1096"/>
                    </a:lnTo>
                    <a:close/>
                    <a:moveTo>
                      <a:pt x="1608" y="1"/>
                    </a:moveTo>
                    <a:cubicBezTo>
                      <a:pt x="1275" y="1"/>
                      <a:pt x="989" y="262"/>
                      <a:pt x="989" y="608"/>
                    </a:cubicBezTo>
                    <a:lnTo>
                      <a:pt x="989" y="786"/>
                    </a:lnTo>
                    <a:lnTo>
                      <a:pt x="572" y="786"/>
                    </a:lnTo>
                    <a:cubicBezTo>
                      <a:pt x="251" y="786"/>
                      <a:pt x="1" y="1048"/>
                      <a:pt x="1" y="1370"/>
                    </a:cubicBezTo>
                    <a:lnTo>
                      <a:pt x="1" y="3584"/>
                    </a:lnTo>
                    <a:cubicBezTo>
                      <a:pt x="1" y="3668"/>
                      <a:pt x="72" y="3751"/>
                      <a:pt x="156" y="3751"/>
                    </a:cubicBezTo>
                    <a:cubicBezTo>
                      <a:pt x="251" y="3751"/>
                      <a:pt x="322" y="3668"/>
                      <a:pt x="322" y="3584"/>
                    </a:cubicBezTo>
                    <a:lnTo>
                      <a:pt x="322" y="2834"/>
                    </a:lnTo>
                    <a:lnTo>
                      <a:pt x="9681" y="2834"/>
                    </a:lnTo>
                    <a:lnTo>
                      <a:pt x="9681" y="8906"/>
                    </a:lnTo>
                    <a:cubicBezTo>
                      <a:pt x="9681" y="9002"/>
                      <a:pt x="9764" y="9073"/>
                      <a:pt x="9847" y="9073"/>
                    </a:cubicBezTo>
                    <a:cubicBezTo>
                      <a:pt x="9943" y="9073"/>
                      <a:pt x="10014" y="9002"/>
                      <a:pt x="10014" y="8906"/>
                    </a:cubicBezTo>
                    <a:lnTo>
                      <a:pt x="10014" y="1346"/>
                    </a:lnTo>
                    <a:cubicBezTo>
                      <a:pt x="10050" y="1036"/>
                      <a:pt x="9776" y="786"/>
                      <a:pt x="9466" y="786"/>
                    </a:cubicBezTo>
                    <a:lnTo>
                      <a:pt x="9050" y="786"/>
                    </a:lnTo>
                    <a:lnTo>
                      <a:pt x="9050" y="608"/>
                    </a:lnTo>
                    <a:cubicBezTo>
                      <a:pt x="9050" y="274"/>
                      <a:pt x="8776" y="1"/>
                      <a:pt x="8430" y="1"/>
                    </a:cubicBezTo>
                    <a:cubicBezTo>
                      <a:pt x="8109" y="1"/>
                      <a:pt x="7823" y="262"/>
                      <a:pt x="7823" y="608"/>
                    </a:cubicBezTo>
                    <a:lnTo>
                      <a:pt x="7823" y="786"/>
                    </a:lnTo>
                    <a:lnTo>
                      <a:pt x="6764" y="786"/>
                    </a:lnTo>
                    <a:lnTo>
                      <a:pt x="6764" y="608"/>
                    </a:lnTo>
                    <a:cubicBezTo>
                      <a:pt x="6764" y="274"/>
                      <a:pt x="6502" y="1"/>
                      <a:pt x="6156" y="1"/>
                    </a:cubicBezTo>
                    <a:cubicBezTo>
                      <a:pt x="5811" y="1"/>
                      <a:pt x="5549" y="262"/>
                      <a:pt x="5549" y="608"/>
                    </a:cubicBezTo>
                    <a:lnTo>
                      <a:pt x="5549" y="786"/>
                    </a:lnTo>
                    <a:lnTo>
                      <a:pt x="4489" y="786"/>
                    </a:lnTo>
                    <a:lnTo>
                      <a:pt x="4489" y="608"/>
                    </a:lnTo>
                    <a:cubicBezTo>
                      <a:pt x="4489" y="274"/>
                      <a:pt x="4228" y="1"/>
                      <a:pt x="3882" y="1"/>
                    </a:cubicBezTo>
                    <a:cubicBezTo>
                      <a:pt x="3549" y="1"/>
                      <a:pt x="3275" y="262"/>
                      <a:pt x="3275" y="608"/>
                    </a:cubicBezTo>
                    <a:lnTo>
                      <a:pt x="3275" y="786"/>
                    </a:lnTo>
                    <a:lnTo>
                      <a:pt x="2215" y="786"/>
                    </a:lnTo>
                    <a:lnTo>
                      <a:pt x="2215" y="608"/>
                    </a:lnTo>
                    <a:cubicBezTo>
                      <a:pt x="2215" y="274"/>
                      <a:pt x="1942" y="1"/>
                      <a:pt x="160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Google Shape;907;p32">
                <a:extLst>
                  <a:ext uri="{FF2B5EF4-FFF2-40B4-BE49-F238E27FC236}">
                    <a16:creationId xmlns:a16="http://schemas.microsoft.com/office/drawing/2014/main" id="{CCDE89A2-1EED-CBBD-95DA-2CFFB546D92A}"/>
                  </a:ext>
                </a:extLst>
              </p:cNvPr>
              <p:cNvSpPr/>
              <p:nvPr/>
            </p:nvSpPr>
            <p:spPr>
              <a:xfrm>
                <a:off x="1751652" y="2558467"/>
                <a:ext cx="319378" cy="210530"/>
              </a:xfrm>
              <a:custGeom>
                <a:avLst/>
                <a:gdLst/>
                <a:ahLst/>
                <a:cxnLst/>
                <a:rect l="l" t="t" r="r" b="b"/>
                <a:pathLst>
                  <a:path w="10026" h="6609" extrusionOk="0">
                    <a:moveTo>
                      <a:pt x="167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6025"/>
                    </a:lnTo>
                    <a:cubicBezTo>
                      <a:pt x="1" y="6347"/>
                      <a:pt x="274" y="6609"/>
                      <a:pt x="584" y="6609"/>
                    </a:cubicBezTo>
                    <a:lnTo>
                      <a:pt x="9407" y="6609"/>
                    </a:lnTo>
                    <a:cubicBezTo>
                      <a:pt x="9740" y="6609"/>
                      <a:pt x="9990" y="6335"/>
                      <a:pt x="9990" y="6025"/>
                    </a:cubicBezTo>
                    <a:lnTo>
                      <a:pt x="9990" y="5501"/>
                    </a:lnTo>
                    <a:cubicBezTo>
                      <a:pt x="10026" y="5418"/>
                      <a:pt x="9942" y="5335"/>
                      <a:pt x="9859" y="5335"/>
                    </a:cubicBezTo>
                    <a:cubicBezTo>
                      <a:pt x="9764" y="5335"/>
                      <a:pt x="9692" y="5418"/>
                      <a:pt x="9692" y="5501"/>
                    </a:cubicBezTo>
                    <a:lnTo>
                      <a:pt x="9692" y="6025"/>
                    </a:lnTo>
                    <a:cubicBezTo>
                      <a:pt x="9692" y="6168"/>
                      <a:pt x="9573" y="6287"/>
                      <a:pt x="9430" y="6287"/>
                    </a:cubicBezTo>
                    <a:lnTo>
                      <a:pt x="596" y="6287"/>
                    </a:lnTo>
                    <a:cubicBezTo>
                      <a:pt x="453" y="6287"/>
                      <a:pt x="334" y="6168"/>
                      <a:pt x="334" y="6025"/>
                    </a:cubicBezTo>
                    <a:lnTo>
                      <a:pt x="334" y="156"/>
                    </a:lnTo>
                    <a:cubicBezTo>
                      <a:pt x="334" y="72"/>
                      <a:pt x="251" y="1"/>
                      <a:pt x="1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DF8DF90-41F3-A949-6975-EC2867F70901}"/>
                </a:ext>
              </a:extLst>
            </p:cNvPr>
            <p:cNvSpPr txBox="1"/>
            <p:nvPr/>
          </p:nvSpPr>
          <p:spPr>
            <a:xfrm>
              <a:off x="1559496" y="3001088"/>
              <a:ext cx="69847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MX" sz="2000" dirty="0">
                  <a:latin typeface="Agency FB" panose="020B0503020202020204" pitchFamily="34" charset="0"/>
                </a:rPr>
                <a:t>Las facturas cuya fecha de emisión sean mayor a 30 días desde su fecha de facturación; deben solicitarse a refacturación con su proveedor correspondiente para su ingreso y programación de pago.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6620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POWER POINT2 2018_V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TEMPLATE_POWER POINT2 2018_V1</Template>
  <TotalTime>14485</TotalTime>
  <Words>682</Words>
  <Application>Microsoft Office PowerPoint</Application>
  <PresentationFormat>Panorámica</PresentationFormat>
  <Paragraphs>51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Agency FB</vt:lpstr>
      <vt:lpstr>Aharoni</vt:lpstr>
      <vt:lpstr>Arial</vt:lpstr>
      <vt:lpstr>Calibri</vt:lpstr>
      <vt:lpstr>TEMPLATE_POWER POINT2 2018_V1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recepcionshowroom</dc:creator>
  <cp:lastModifiedBy>Yolanda Burkhardt</cp:lastModifiedBy>
  <cp:revision>1432</cp:revision>
  <dcterms:created xsi:type="dcterms:W3CDTF">2016-12-13T22:26:56Z</dcterms:created>
  <dcterms:modified xsi:type="dcterms:W3CDTF">2024-02-26T14:00:43Z</dcterms:modified>
</cp:coreProperties>
</file>